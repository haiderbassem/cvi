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ake-up call" id="{4694ff06-876b-8bf2-6839-ebea62bd639e}">
          <p14:sldIdLst>
            <p14:sldId id="256"/>
            <p14:sldId id="257"/>
          </p14:sldIdLst>
        </p14:section>
        <p14:section name="What makes you hireable" id="{0cf86202-c821-5e30-12be-5be9fc4537dd}">
          <p14:sldIdLst>
            <p14:sldId id="258"/>
            <p14:sldId id="259"/>
          </p14:sldIdLst>
        </p14:section>
        <p14:section name="Work with AI" id="{fb3fc8f1-8b66-0245-a0ff-e5901bba20f4}">
          <p14:sldIdLst>
            <p14:sldId id="260"/>
            <p14:sldId id="261"/>
          </p14:sldIdLst>
        </p14:section>
        <p14:section name="Build" id="{51c15a0e-d284-65e3-4bca-f9288706c695}">
          <p14:sldIdLst>
            <p14:sldId id="262"/>
            <p14:sldId id="263"/>
          </p14:sldIdLst>
        </p14:section>
        <p14:section name="Think like an engineer" id="{9fc70385-2855-24ba-8179-31de6a71aecd}">
          <p14:sldIdLst>
            <p14:sldId id="264"/>
          </p14:sldIdLst>
        </p14:section>
        <p14:section name="Get hired" id="{116d988e-893e-d374-7d51-cbf181c711aa}">
          <p14:sldIdLst>
            <p14:sldId id="265"/>
            <p14:sldId id="266"/>
          </p14:sldIdLst>
        </p14:section>
        <p14:section name="Close" id="{95261528-5657-1fba-4186-6fe7920abb8b}">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YOUR DEGREE IS NOT ENOUGH
DURATION: 5 min (0:00 - 0:05)
SCRIPT:
(Let the slide sit in silence for 3 seconds.)
"Congratulations. You're about to finish, or you already finished, years of hard work. Your degree is real and it matters. But here is the uncomfortable question every graduate faces on day one: So you graduated. Now what?
Today is not a motivational talk. In the next two hours we will look at what employers actually check, learn how engineers really use AI, build a small working product together, live, and leave with a 30-day plan you can start tomorrow."
KEY TEACHING POINTS:
- A degree is the foundation, not the finish line.
- Employers hire for evidence of ability, not just for qualifications.
- This workshop is hands-on: you will build, not just listen.
AUDIENCE INTERACTION:
- Quick poll: "Raise your hand if you have ever been asked in an interview to show something you built." Then: "Keep it up if you had something to show." Use the gap between the two numbers as your hook.
ANIMATION SEQUENCE (automatic on entry):
1. Eyebrow fades in. 2. Headline fades in. 3. Graduation cap and floor glow fade in. 4. The question "So you graduated. Now what?" appears. 5. Logo and handle.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REALITY CHECK
DURATION: 9 min (0:05 - 0:14)
SCRIPT:
"University is designed to test what you know. A job is designed to see what you can do with it. Look at the left column: one correct answer, memorizing for exams, individual grades. Now the right: problems with no answer key, learning fast, shipping as a team.
Neither column is wrong. University gives you the theory that makes you a real engineer instead of someone copying tutorials. But the market pays for the right column. Your job for the next two hours is to see how to cross from left to right."
Go row by row; each row appears with its own animation.
KEY TEACHING POINTS:
- The gap is normal. It is not your fault, but it is your responsibility.
- Every row on the right can be practiced while you are still a student.
- Row 4 matters most: a graduation project that lives in a drawer is invisible to employers. The same project on GitHub, with a README and a demo, is evidence.
AUDIENCE INTERACTION:
- Ask the room (on the slide): "Hands up: who has built something that no course required?"
- Ask 2 people who raised their hands: "What did you build and why?" Celebrate it; it is exactly the behavior this workshop is about.
- Follow-up for the rest: "What stopped you?" Typical answers: no time, no idea, don't know where to start. Promise that slides 8 and 11 answer all three.
ANIMATION SEQUENCE (automatic):
Eyebrow, title and subtitle first; then rows 1 to 5 appear one after another (left card, arrow, right card); finally the "Ask the room"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SKILLS THAT ACTUALLY GET YOU HIRED
DURATION: 9 min (0:14 - 0:23)
SCRIPT:
"When a company hires a junior engineer, they are betting on six things. Notice that only one of them is 'technical skills'.
Problem-solving: can you break a messy problem into steps you can test?
Communication: can you explain your work to a teammate, a client, a manager?
Practical experience: projects, internships, freelance work. Anything real.
Technical skills: one stack, deep enough to build something end to end. Depth beats a long list of logos on a CV.
Adaptability: tools change every year. Can you learn a new one in a week?
AI literacy: this is new. Companies now expect you to use AI to move faster, and to know when not to trust it."
KEY TEACHING POINTS:
- Employers evaluate skills through evidence: projects, conversations, and how you explain decisions.
- Soft skills are not soft. Communication is often the deciding factor between two similar candidates.
- AI literacy is now a baseline skill, not a bonus.
AUDIENCE INTERACTION / MINI-CHALLENGE (3 min):
- Ask everyone to rate themselves 1 to 5 on each skill, on paper or on their phone.
- "Circle your lowest score. That is your next project." Example: lowest in communication? Your project includes a 2-minute demo video. Lowest in technical skills? Your project goes one layer deeper: tests, authentication, deployment.
- Ask 2 or 3 volunteers to share their lowest skill and one idea to improve it.
ANIMATION SEQUENCE (automatic):
Title, then the 3D brain in the center; then the skills appear in pairs (left and right) with their connector lines; mini-challenge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STOP COLLECTING CERTIFICATES. START BUILDING PROOF.
DURATION: 10 min (0:23 - 0:33)
SCRIPT:
"Certificates are not useless. They show you were curious enough to start. But put yourself in the hiring manager's chair: 40 CVs, each with ten online certificates. How do you choose? You can't. A certificate says you attended.
Now look at the right. One public repository. A real local problem: neighborhood generator subscriptions, where the owner tracks who paid this month, often on paper. A clear description, a real stack, steady commit activity, a README with screenshots, a live demo, tests, and a short explanation of the decisions. In 30 seconds a recruiter knows you can build."
KEY TEACHING POINTS:
- Qualification = permission to be considered. Proof = reason to be hired.
- A portfolio project has five parts: a real problem, working code, a README, a live demo, and your decisions explained.
- The best projects come from problems around you: the generator subscription tracker, a clinic queue system, a used-book marketplace for your campus.
- Note: the repository on the slide is an illustrative mockup, not a real account.
AUDIENCE INTERACTION:
- "In 60 seconds, write down one annoying problem you saw this week: at university, at home, in your neighborhood." Collect 3 to 4 answers aloud and turn one into a project title on the spot.
DEMO (optional, 2 min):
- Open a strong real README on GitHub (yours, or a well-known open-source project) and point at: description, screenshots, setup steps, tech stack, and a link to a live demo.
ANIMATION SEQUENCE (automatic):
Title; certificates render; VS badge; repository card; contribution graph; checklist items; captions for certificate and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YOUR NEW SUPERPOWER: AI
DURATION: 9 min (0:33 - 0:42)
SCRIPT:
"Treat AI like a brilliant intern: fast, tireless, and sometimes confidently wrong. Good engineers don't ask AI to do the work. They run a loop.
One: YOU frame the problem. Context, constraints, and an example of what good looks like.
Two: AI drafts. Code, schemas, test cases, explanations, alternative approaches.
Three: YOU verify. Run it. Test it. Read every line you are going to ship.
Four: YOU decide. Accept it, edit it, or throw it away. You own the result, not the AI.
Three of the four steps are yours. That is the point."
KEY TEACHING POINTS:
- AI is a collaborator, not an oracle.
- Better context in, better output out. Vague prompts get generic answers.
- Never paste code you can't explain. Never paste secrets (API keys, passwords) into a prompt.
- Use AI to learn faster: ask it to explain, compare, and quiz you, not only to write code.
LIVE DEMO (4 min):
1. Show a short buggy function (for example an average function that crashes on an empty list).
2. Prompt: "Explain why this fails. Don't fix it yet."
3. Prompt: "Now fix it and write a test that would have caught the bug."
4. Run the test. Point out that you verified the fix instead of trusting it.
AUDIENCE INTERACTION:
- "What is the worst AI answer you've ever received?" Take 2 stories. Laugh, then extract the lesson: it sounded confident and it was wrong.
ANIMATION SEQUENCE (automatic):
Title and subtitle; the orb fades in; steps 1 to 4 appear one by one; the demo bar; the four floating capability chips around the orb.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FROM IDEA TO REAL PRODUCT
DURATION: 10 min (0:42 - 0:52)
SCRIPT:
"This is how real software gets built: Idea, Research, Database, Backend, API, UI and UX, and finally a working product. Look at the two rows. The top row is where AI accelerates you: brainstorming, summarizing research, drafting a schema, writing boilerplate and tests, generating API docs, sketching wireframes, preparing deploy scripts.
The bottom row is where human judgment is essential: is this problem worth solving? Which sources are true? What are the keys, relations and constraints? What are the business rules and the security model? What is the API contract? What do users actually need? And the final question only you can answer: is it correct, and is it ready to ship?"
KEY TEACHING POINTS:
- AI drafts. Engineers decide.
- The cost of a wrong decision grows from left to right: a bad database design is cheap to fix on day one and expensive after launch.
- Each step produces an artifact you can show: a problem statement, a schema diagram, an API spec, a wireframe, a deployed URL.
AUDIENCE INTERACTION:
- Ask (on slide): "Which step would you never fully hand to AI? Why?" Take 3 answers. Good answers usually mention database design and security.
DEMO (optional, 3 min):
- Ask an AI assistant to draft a schema for the generator subscription tracker. Point out one decision to question (for example: should payments be a separate table with a month column?).
ANIMATION SEQUENCE (automatic):
Path line wipes in; each stage appears left to right with its "AI assists" chip; then the "You decide" row appears; take-away and question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THE MODERN ENGINEER'S TOOLKIT
DURATION: 6 min (0:52 - 0:58), then a 5-minute BREAK (0:58 - 1:03)
SCRIPT:
"You don't need fifty tools. You need one per layer, used well.
Figma to design screens before you code. Claude or ChatGPT to think, plan, explain and review. Cursor, an AI code editor that understands your whole repository. GitHub for version control, collaboration and your public portfolio. FastAPI to build fast, typed Python APIs with automatic documentation. PostgreSQL, the relational database behind countless real products. Supabase, which gives you Postgres with authentication and storage in minutes. Postman to send requests and test your API. Docker to package your app so it runs the same everywhere. And Vercel or Render to put it online with a public link."
KEY TEACHING POINTS:
- Learn the role of each tool, not just its name. In interviews, being able to explain why you chose a tool is worth more than listing it.
- Most of these have free tiers or student plans, so cost is rarely the blocker. Check current terms before relying on them.
- Tools change every year; fundamentals (data modeling, HTTP, testing, Git) don't.
AUDIENCE INTERACTION:
- "Which of these have you used? Hands up per tool." Quickly note the least-used ones; you will use several of them in the live challenge.
BEFORE THE BREAK:
- Announce: "After the break we build something live. Think about which of the three ideas you'd vote for."
- During the break, prepare your machine: editor open, Supabase project ready, Postman open, an AI assistant ready.
ANIMATION SEQUENCE (automatic):
Title; tool tiles appear column by column (top and bottom together); rule of thumb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LIVE CHALLENGE: LET'S BUILD SOMETHING
DURATION: 25 min (1:03 - 1:28)
SETUP (prepare before the session):
- A Supabase project (or a local PostgreSQL), a Python environment with FastAPI and Uvicorn, Postman, an AI assistant (Claude, ChatGPT or Cursor), and a blank repository.
- Have a fallback branch with a working version in case the network fails.
STEP 0 — VOTE (1 min): Read the three ideas. Show of hands. Use the winning idea; the slide highlights option A as the example.
Pick 3 volunteers: Driver (types and runs the code), Navigator (writes the prompts), Reviewer (checks every AI output and must say "approved" before anything runs).
STEP 1 — DEFINE (3 min): One user, one problem, three must-have features. Example for A: the generator owner; "I don't know who paid this month"; features: add subscriber, record payment, list unpaid subscribers.
STEP 2 — MODEL (4 min): Ask AI for a schema. Expected: subscribers(id, name, phone, amps, created_at) and payments(id, subscriber_id, month, amount, paid_at). Have the Reviewer check the foreign key and that one subscriber cannot pay the same month twice (unique constraint on subscriber_id + month).
STEP 3 — GENERATE (6 min): Ask AI for FastAPI endpoints: POST /subscribers, GET /subscribers, POST /payments, GET /subscribers/unpaid?month=2026-10. Read the code aloud before running it.
STEP 4 — VERIFY (5 min): Test with Postman or the automatic /docs page. Deliberately try a duplicate payment or a missing subscriber. Find and fix at least one real bug. This is the most important step: celebrate the bug.
STEP 5 — INTERFACE (4 min): Ask AI for one simple HTML page (or a v0 / Cursor-generated component) that lists subscribers and marks them as paid.
STEP 6 — DEMO (3 min): Run it end to end. Ask the room: "What would you add next?" (SMS reminders, monthly report, login for the owner.)
EXPECTED OUTPUT:
2 database tables, 4 API endpoints, 1 working web page, 1 README with a screenshot, built and verified in 25 minutes.
KEY TEACHING POINTS:
- Speed comes from AI; correctness comes from the process.
- The Reviewer role is the job of an engineer.
- Small and working beats big and broken.
ANIMATION SEQUENCE (automatic):
Live badge; vote cards; volunteer roles; steps 1 to 6 appear one by one; expected output panel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THINK LIKE AN ENGINEER, NOT A PROMPT WRITER
DURATION: 10 min (1:28 - 1:38)
SCRIPT:
"This code was generated in four seconds. It runs. It even returns the right user. Would you ship it?
60-second challenge: find the bugs before I reveal them." (Click to reveal the findings and markers.)
"One: SQL injection. The user's input is pasted straight into the SQL string; someone can send a crafted id and read or delete your data. Use parameterized queries or an ORM.
Two: no authentication. Anyone who guesses an id can read any user.
Three: it returns the whole row, including the password hash and private fields. Return only what the client needs.
Four: when the user doesn't exist, it returns null instead of a clear 404 error.
A prompt writer says 'it runs, ship it'. An engineer says 'it runs; now prove it's right'."
KEY TEACHING POINTS (the engineer's review):
- Architecture: does it fit the structure of the project, or is it a one-off hack?
- Logic: what happens with empty, missing or weird input?
- Security: can a user see or change data that isn't theirs?
- Usability: will a real user understand what went wrong?
- Correctness: which test proves it works, and did you run it?
AUDIENCE INTERACTION:
- The 60-second bug hunt. Students call out bugs; award applause for each one found before the reveal.
- Then ask: "How would you ask the AI to fix all four in one prompt?" Write the prompt together, including the request for tests.
ANIMATION SEQUENCE:
Code window and checklist appear automatically. The bug markers and the Review Findings list appear ON CLICK, after the 60-second challenge. Verdict line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HOW TO ACTUALLY GET YOUR FIRST TECHNICAL JOB
DURATION: 10 min (1:38 - 1:48)
SCRIPT:
"Here is the path from student to hired, in eight steps. The top row is what you build, the bottom row is how you get seen.
1 GitHub: a clean profile, with 3 pinned repositories that have real READMEs.
2 Portfolio: 2 or 3 projects that solve real problems. Quality over quantity.
3 CV: one page. Projects first. Every link works. Describe impact, not duties.
4 LinkedIn: a clear headline, like 'Backend developer, Python and PostgreSQL'. Share what you build, weekly.
5 Networking: meetups, hackathons, online communities. Help others first; people remember who helped them.
6 Internships: apply early. Small startups count, and often teach you more.
7 Interviews: practice explaining your own project's decisions out loud. Why this database? What would you change?
8 Applications: tailor each one, track them in a simple sheet, and follow up after a week."
KEY TEACHING POINTS:
- Remote and international roles exist, but competition is global. Strong English communication and visible work are what make you competitive. Nothing is guaranteed; consistency wins.
- Rejection is data, not a verdict. Track why you were rejected and improve one thing each time.
AUDIENCE INTERACTION:
- "Which step are you on right now?" Ask people to hold up fingers 1 to 8. Most rooms cluster at 1 or 2; that is fine. Tell them the 30-day plan on the next slide moves them to step 4.
- Mini role-play (2 min): one volunteer explains a project in 30 seconds as if in an interview; the room gives one piece of feedback.
ANIMATION SEQUENCE (automatic):
The path draws in, then milestones 1 to 8 appear in order along the path; the final milestone (Applications) glows coral.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YOUR NEXT 30 DAYS
DURATION: 6 min (1:48 - 1:54)
SCRIPT:
"Take out your phone. Screenshot this slide. This is your plan for the next 30 days.
Week 1, PICK: choose one real problem around you and one stack. Create the repository and write the README plan before you write code.
Week 2, BUILD: design the database, build three or four API endpoints, and commit every day you code.
Week 3, SHIP: add a simple interface, test the core logic, deploy it with a public link.
Week 4, SHOW: polish the README with screenshots, post a short demo video, and apply to five roles or internships with this project.
Daily minimum: one focused hour. Not five hours on Friday. One hour, every day."
KEY TEACHING POINTS:
- Consistency beats intensity.
- Scope small. A finished small project is worth more than an unfinished big one.
- Building in public creates accountability and visibility at the same time.
AUDIENCE INTERACTION:
- Pair up (2 min): tell your neighbor your Week 1 problem and agree to check on each other in 7 days.
- Invite them to share progress and tag @skillture.iq so the community can follow and support.
ANIMATION SEQUENCE (automatic):
"Screenshot this" badge; weeks 1 to 4 appear left to right; daily minimum line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YOUR FUTURE IS WHAT YOU BUILD
DURATION: 6 min including Q&amp;A (1:54 - 2:00)
SCRIPT:
(Slow down. Lower your voice.)
"Your degree is what you earned." (Pause 2 seconds.)
"Your future is what you build."
"Three actions. Tonight: create your GitHub repository; it takes five minutes. This week: pick your real problem. In 30 days: ship it, and share it. I would love to see what you build.
Thank you. Let's take your questions."
KEY TEACHING POINTS:
- Close on action, not inspiration: three concrete next steps with deadlines.
- Make it easy to stay connected: @skillture.iq.
Q&amp;A TIPS:
- Repeat each question so the whole room hears it.
- If a question is very personal (a specific CV or project), invite the person to talk after the session.
- Have 2 backup questions ready in case the room is quiet: "Which tool should I learn first?" and "Can I get a remote job as a fresh graduate?"
ANIMATION SEQUENCE (automatic):
First line fades in; pause; "Your future is what you build." appears; the 3D building blocks appear; the three action cards; logo and Q&amp;A line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SK_DARK-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K_LIGHT-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SK_TURQ-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K_HERO-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K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swibit-skillture/f1e62dc3-dfc1-4d04-897a-70d066cdcef5/scratchpad/deck/img/logo_white.png">    </p:cNvPr>
          <p:cNvPicPr>
            <a:picLocks noChangeAspect="1"/>
          </p:cNvPicPr>
          <p:nvPr/>
        </p:nvPicPr>
        <p:blipFill>
          <a:blip r:embed="rId1"/>
          <a:stretch>
            <a:fillRect/>
          </a:stretch>
        </p:blipFill>
        <p:spPr>
          <a:xfrm>
            <a:off x="685800" y="6355080"/>
            <a:ext cx="246888" cy="237744"/>
          </a:xfrm>
          <a:prstGeom prst="rect">
            <a:avLst/>
          </a:prstGeom>
        </p:spPr>
      </p:pic>
      <p:sp>
        <p:nvSpPr>
          <p:cNvPr id="3" name="Text 0"/>
          <p:cNvSpPr/>
          <p:nvPr/>
        </p:nvSpPr>
        <p:spPr>
          <a:xfrm>
            <a:off x="1024128" y="6355080"/>
            <a:ext cx="4572000" cy="237744"/>
          </a:xfrm>
          <a:prstGeom prst="rect">
            <a:avLst/>
          </a:prstGeom>
          <a:noFill/>
          <a:ln/>
        </p:spPr>
        <p:txBody>
          <a:bodyPr wrap="square" lIns="0" tIns="0" rIns="0" bIns="0" rtlCol="0" anchor="ctr"/>
          <a:lstStyle/>
          <a:p>
            <a:pPr indent="0" marL="0">
              <a:buNone/>
            </a:pPr>
            <a:r>
              <a:rPr lang="en-US" sz="900" spc="200" kern="0" dirty="0">
                <a:solidFill>
                  <a:srgbClr val="6E8282"/>
                </a:solidFill>
                <a:latin typeface="Poppins SemiBold" pitchFamily="34" charset="0"/>
                <a:ea typeface="Poppins SemiBold" pitchFamily="34" charset="-122"/>
                <a:cs typeface="Poppins SemiBold" pitchFamily="34" charset="-120"/>
              </a:rPr>
              <a:t>YOUR DEGREE IS NOT ENOUGH  ·  SKILLTURE</a:t>
            </a:r>
            <a:endParaRPr lang="en-US" sz="900" dirty="0"/>
          </a:p>
        </p:txBody>
      </p:sp>
      <p:sp>
        <p:nvSpPr>
          <p:cNvPr id="4" name="Text 1"/>
          <p:cNvSpPr/>
          <p:nvPr>
            <p:ph idx="102" type="title" hasCustomPrompt="1"/>
          </p:nvPr>
        </p:nvSpPr>
        <p:spPr>
          <a:xfrm>
            <a:off x="685800" y="749808"/>
            <a:ext cx="10820095" cy="685800"/>
          </a:xfrm>
          <a:prstGeom prst="rect">
            <a:avLst/>
          </a:prstGeom>
          <a:noFill/>
          <a:ln/>
        </p:spPr>
        <p:txBody>
          <a:bodyPr wrap="square" rtlCol="0"/>
          <a:lstStyle>
            <a:lvl1pPr algn="l" indent="0" marL="0">
              <a:buNone/>
              <a:defRPr lang="en-US" sz="3600" dirty="0">
                <a:solidFill>
                  <a:srgbClr val="FFFFFF"/>
                </a:solidFill>
                <a:latin typeface="Poppins ExtraBold" pitchFamily="34" charset="0"/>
                <a:ea typeface="Poppins ExtraBold" pitchFamily="34" charset="-122"/>
                <a:cs typeface="Poppins ExtraBold"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8282"/>
                </a:solidFill>
                <a:latin typeface="Poppins SemiBold"/>
                <a:ea typeface="Poppins SemiBold"/>
                <a:cs typeface="Poppins SemiBold"/>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K_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swibit-skillture/f1e62dc3-dfc1-4d04-897a-70d066cdcef5/scratchpad/deck/img/logo_black.png">    </p:cNvPr>
          <p:cNvPicPr>
            <a:picLocks noChangeAspect="1"/>
          </p:cNvPicPr>
          <p:nvPr/>
        </p:nvPicPr>
        <p:blipFill>
          <a:blip r:embed="rId1"/>
          <a:stretch>
            <a:fillRect/>
          </a:stretch>
        </p:blipFill>
        <p:spPr>
          <a:xfrm>
            <a:off x="685800" y="6355080"/>
            <a:ext cx="246888" cy="237744"/>
          </a:xfrm>
          <a:prstGeom prst="rect">
            <a:avLst/>
          </a:prstGeom>
        </p:spPr>
      </p:pic>
      <p:sp>
        <p:nvSpPr>
          <p:cNvPr id="3" name="Text 0"/>
          <p:cNvSpPr/>
          <p:nvPr/>
        </p:nvSpPr>
        <p:spPr>
          <a:xfrm>
            <a:off x="1024128" y="6355080"/>
            <a:ext cx="4572000" cy="237744"/>
          </a:xfrm>
          <a:prstGeom prst="rect">
            <a:avLst/>
          </a:prstGeom>
          <a:noFill/>
          <a:ln/>
        </p:spPr>
        <p:txBody>
          <a:bodyPr wrap="square" lIns="0" tIns="0" rIns="0" bIns="0" rtlCol="0" anchor="ctr"/>
          <a:lstStyle/>
          <a:p>
            <a:pPr indent="0" marL="0">
              <a:buNone/>
            </a:pPr>
            <a:r>
              <a:rPr lang="en-US" sz="900" spc="200" kern="0" dirty="0">
                <a:solidFill>
                  <a:srgbClr val="5E7070"/>
                </a:solidFill>
                <a:latin typeface="Poppins SemiBold" pitchFamily="34" charset="0"/>
                <a:ea typeface="Poppins SemiBold" pitchFamily="34" charset="-122"/>
                <a:cs typeface="Poppins SemiBold" pitchFamily="34" charset="-120"/>
              </a:rPr>
              <a:t>YOUR DEGREE IS NOT ENOUGH  ·  SKILLTURE</a:t>
            </a:r>
            <a:endParaRPr lang="en-US" sz="900" dirty="0"/>
          </a:p>
        </p:txBody>
      </p:sp>
      <p:sp>
        <p:nvSpPr>
          <p:cNvPr id="4" name="Text 1"/>
          <p:cNvSpPr/>
          <p:nvPr>
            <p:ph idx="102" type="title" hasCustomPrompt="1"/>
          </p:nvPr>
        </p:nvSpPr>
        <p:spPr>
          <a:xfrm>
            <a:off x="685800" y="749808"/>
            <a:ext cx="10820095" cy="685800"/>
          </a:xfrm>
          <a:prstGeom prst="rect">
            <a:avLst/>
          </a:prstGeom>
          <a:noFill/>
          <a:ln/>
        </p:spPr>
        <p:txBody>
          <a:bodyPr wrap="square" rtlCol="0"/>
          <a:lstStyle>
            <a:lvl1pPr algn="l" indent="0" marL="0">
              <a:buNone/>
              <a:defRPr lang="en-US" sz="3600" dirty="0">
                <a:solidFill>
                  <a:srgbClr val="0B1414"/>
                </a:solidFill>
                <a:latin typeface="Poppins ExtraBold" pitchFamily="34" charset="0"/>
                <a:ea typeface="Poppins ExtraBold" pitchFamily="34" charset="-122"/>
                <a:cs typeface="Poppins ExtraBold"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7070"/>
                </a:solidFill>
                <a:latin typeface="Poppins SemiBold"/>
                <a:ea typeface="Poppins SemiBold"/>
                <a:cs typeface="Poppins SemiBold"/>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K_TURQ">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swibit-skillture/f1e62dc3-dfc1-4d04-897a-70d066cdcef5/scratchpad/deck/img/logo_black.png">    </p:cNvPr>
          <p:cNvPicPr>
            <a:picLocks noChangeAspect="1"/>
          </p:cNvPicPr>
          <p:nvPr/>
        </p:nvPicPr>
        <p:blipFill>
          <a:blip r:embed="rId1"/>
          <a:stretch>
            <a:fillRect/>
          </a:stretch>
        </p:blipFill>
        <p:spPr>
          <a:xfrm>
            <a:off x="685800" y="6355080"/>
            <a:ext cx="246888" cy="237744"/>
          </a:xfrm>
          <a:prstGeom prst="rect">
            <a:avLst/>
          </a:prstGeom>
        </p:spPr>
      </p:pic>
      <p:sp>
        <p:nvSpPr>
          <p:cNvPr id="3" name="Text 0"/>
          <p:cNvSpPr/>
          <p:nvPr/>
        </p:nvSpPr>
        <p:spPr>
          <a:xfrm>
            <a:off x="1024128" y="6355080"/>
            <a:ext cx="4572000" cy="237744"/>
          </a:xfrm>
          <a:prstGeom prst="rect">
            <a:avLst/>
          </a:prstGeom>
          <a:noFill/>
          <a:ln/>
        </p:spPr>
        <p:txBody>
          <a:bodyPr wrap="square" lIns="0" tIns="0" rIns="0" bIns="0" rtlCol="0" anchor="ctr"/>
          <a:lstStyle/>
          <a:p>
            <a:pPr indent="0" marL="0">
              <a:buNone/>
            </a:pPr>
            <a:r>
              <a:rPr lang="en-US" sz="900" spc="200" kern="0" dirty="0">
                <a:solidFill>
                  <a:srgbClr val="5E7070"/>
                </a:solidFill>
                <a:latin typeface="Poppins SemiBold" pitchFamily="34" charset="0"/>
                <a:ea typeface="Poppins SemiBold" pitchFamily="34" charset="-122"/>
                <a:cs typeface="Poppins SemiBold" pitchFamily="34" charset="-120"/>
              </a:rPr>
              <a:t>YOUR DEGREE IS NOT ENOUGH  ·  SKILLTURE</a:t>
            </a:r>
            <a:endParaRPr lang="en-US" sz="900" dirty="0"/>
          </a:p>
        </p:txBody>
      </p:sp>
      <p:sp>
        <p:nvSpPr>
          <p:cNvPr id="4" name="Text 1"/>
          <p:cNvSpPr/>
          <p:nvPr>
            <p:ph idx="102" type="title" hasCustomPrompt="1"/>
          </p:nvPr>
        </p:nvSpPr>
        <p:spPr>
          <a:xfrm>
            <a:off x="685800" y="749808"/>
            <a:ext cx="10820095" cy="685800"/>
          </a:xfrm>
          <a:prstGeom prst="rect">
            <a:avLst/>
          </a:prstGeom>
          <a:noFill/>
          <a:ln/>
        </p:spPr>
        <p:txBody>
          <a:bodyPr wrap="square" rtlCol="0"/>
          <a:lstStyle>
            <a:lvl1pPr algn="l" indent="0" marL="0">
              <a:buNone/>
              <a:defRPr lang="en-US" sz="3600" dirty="0">
                <a:solidFill>
                  <a:srgbClr val="000000"/>
                </a:solidFill>
                <a:latin typeface="Poppins ExtraBold" pitchFamily="34" charset="0"/>
                <a:ea typeface="Poppins ExtraBold" pitchFamily="34" charset="-122"/>
                <a:cs typeface="Poppins ExtraBold"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00000"/>
                </a:solidFill>
                <a:latin typeface="Poppins SemiBold"/>
                <a:ea typeface="Poppins SemiBold"/>
                <a:cs typeface="Poppins SemiBold"/>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K_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8282"/>
                </a:solidFill>
                <a:latin typeface="Poppins SemiBold"/>
                <a:ea typeface="Poppins SemiBold"/>
                <a:cs typeface="Poppins SemiBol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5.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slideLayout" Target="../slideLayouts/slideLayout3.xml"/><Relationship Id="rId2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image" Target="../media/image-6-19.png"/><Relationship Id="rId20" Type="http://schemas.openxmlformats.org/officeDocument/2006/relationships/image" Target="../media/image-6-20.png"/><Relationship Id="rId21" Type="http://schemas.openxmlformats.org/officeDocument/2006/relationships/image" Target="../media/image-6-21.png"/><Relationship Id="rId22" Type="http://schemas.openxmlformats.org/officeDocument/2006/relationships/image" Target="../media/image-6-22.png"/><Relationship Id="rId23" Type="http://schemas.openxmlformats.org/officeDocument/2006/relationships/slideLayout" Target="../slideLayouts/slideLayout2.xml"/><Relationship Id="rId2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3.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slideLayout" Target="../slideLayouts/slideLayout4.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5.xml"/><Relationship Id="rId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ivate/tmp/claude-501/-Users-swibit-skillture/f1e62dc3-dfc1-4d04-897a-70d066cdcef5/scratchpad/deck/img/pat_right.png">    </p:cNvPr>
          <p:cNvPicPr>
            <a:picLocks noChangeAspect="1"/>
          </p:cNvPicPr>
          <p:nvPr/>
        </p:nvPicPr>
        <p:blipFill>
          <a:blip r:embed="rId1"/>
          <a:stretch>
            <a:fillRect/>
          </a:stretch>
        </p:blipFill>
        <p:spPr>
          <a:xfrm>
            <a:off x="0" y="0"/>
            <a:ext cx="12191695" cy="6858000"/>
          </a:xfrm>
          <a:prstGeom prst="rect">
            <a:avLst/>
          </a:prstGeom>
        </p:spPr>
      </p:pic>
      <p:pic>
        <p:nvPicPr>
          <p:cNvPr id="4" name="Image 1" descr="/private/tmp/claude-501/-Users-swibit-skillture/f1e62dc3-dfc1-4d04-897a-70d066cdcef5/scratchpad/deck/img/glow_turq.png">    </p:cNvPr>
          <p:cNvPicPr>
            <a:picLocks noChangeAspect="1"/>
          </p:cNvPicPr>
          <p:nvPr/>
        </p:nvPicPr>
        <p:blipFill>
          <a:blip r:embed="rId2">
            <a:alphaModFix amt="55000"/>
          </a:blip>
          <a:stretch>
            <a:fillRect/>
          </a:stretch>
        </p:blipFill>
        <p:spPr>
          <a:xfrm>
            <a:off x="6035040" y="182880"/>
            <a:ext cx="6035040" cy="6035040"/>
          </a:xfrm>
          <a:prstGeom prst="rect">
            <a:avLst/>
          </a:prstGeom>
        </p:spPr>
      </p:pic>
      <p:pic>
        <p:nvPicPr>
          <p:cNvPr id="5" name="A3-floor" descr="/private/tmp/claude-501/-Users-swibit-skillture/f1e62dc3-dfc1-4d04-897a-70d066cdcef5/scratchpad/deck/img/floor_glow.png">    </p:cNvPr>
          <p:cNvPicPr>
            <a:picLocks noChangeAspect="1"/>
          </p:cNvPicPr>
          <p:nvPr/>
        </p:nvPicPr>
        <p:blipFill>
          <a:blip r:embed="rId3">
            <a:alphaModFix amt="75000"/>
          </a:blip>
          <a:stretch>
            <a:fillRect/>
          </a:stretch>
        </p:blipFill>
        <p:spPr>
          <a:xfrm>
            <a:off x="6766560" y="4343400"/>
            <a:ext cx="4937760" cy="868680"/>
          </a:xfrm>
          <a:prstGeom prst="rect">
            <a:avLst/>
          </a:prstGeom>
        </p:spPr>
      </p:pic>
      <p:pic>
        <p:nvPicPr>
          <p:cNvPr id="6" name="A3-cap" descr="3D graduation cap">    </p:cNvPr>
          <p:cNvPicPr>
            <a:picLocks noChangeAspect="1"/>
          </p:cNvPicPr>
          <p:nvPr/>
        </p:nvPicPr>
        <p:blipFill>
          <a:blip r:embed="rId4"/>
          <a:stretch>
            <a:fillRect/>
          </a:stretch>
        </p:blipFill>
        <p:spPr>
          <a:xfrm>
            <a:off x="6446520" y="2463999"/>
            <a:ext cx="5394960" cy="2112881"/>
          </a:xfrm>
          <a:prstGeom prst="rect">
            <a:avLst/>
          </a:prstGeom>
        </p:spPr>
      </p:pic>
      <p:sp>
        <p:nvSpPr>
          <p:cNvPr id="7" name="A1-eyebrow"/>
          <p:cNvSpPr txBox="1"/>
          <p:nvPr/>
        </p:nvSpPr>
        <p:spPr>
          <a:xfrm>
            <a:off x="685800" y="868680"/>
            <a:ext cx="6400800" cy="274320"/>
          </a:xfrm>
          <a:prstGeom prst="rect">
            <a:avLst/>
          </a:prstGeom>
          <a:noFill/>
          <a:ln/>
        </p:spPr>
        <p:txBody>
          <a:bodyPr wrap="square" lIns="0" tIns="0" rIns="0" bIns="0" rtlCol="0" anchor="t"/>
          <a:lstStyle/>
          <a:p>
            <a:pPr indent="0" marL="0">
              <a:buNone/>
            </a:pPr>
            <a:r>
              <a:rPr lang="en-US" sz="1200" spc="400" kern="0" dirty="0">
                <a:solidFill>
                  <a:srgbClr val="0CCCCC"/>
                </a:solidFill>
                <a:latin typeface="Poppins SemiBold" pitchFamily="34" charset="0"/>
                <a:ea typeface="Poppins SemiBold" pitchFamily="34" charset="-122"/>
                <a:cs typeface="Poppins SemiBold" pitchFamily="34" charset="-120"/>
              </a:rPr>
              <a:t>A SKILLTURE WORKSHOP   ·   2 HOURS   ·   HANDS-ON</a:t>
            </a:r>
            <a:endParaRPr lang="en-US" sz="1200" dirty="0"/>
          </a:p>
        </p:txBody>
      </p:sp>
      <p:sp>
        <p:nvSpPr>
          <p:cNvPr id="8" name="A2-headline"/>
          <p:cNvSpPr txBox="1"/>
          <p:nvPr/>
        </p:nvSpPr>
        <p:spPr>
          <a:xfrm>
            <a:off x="649224" y="1280160"/>
            <a:ext cx="6766560" cy="3154680"/>
          </a:xfrm>
          <a:prstGeom prst="rect">
            <a:avLst/>
          </a:prstGeom>
          <a:noFill/>
          <a:ln/>
        </p:spPr>
        <p:txBody>
          <a:bodyPr wrap="square" lIns="0" tIns="0" rIns="0" bIns="0" rtlCol="0" anchor="t"/>
          <a:lstStyle/>
          <a:p>
            <a:pPr indent="0" marL="0">
              <a:lnSpc>
                <a:spcPct val="86000"/>
              </a:lnSpc>
              <a:buNone/>
            </a:pPr>
            <a:r>
              <a:rPr lang="en-US" sz="6600" dirty="0">
                <a:solidFill>
                  <a:srgbClr val="FFFFFF"/>
                </a:solidFill>
                <a:latin typeface="Poppins ExtraBold" pitchFamily="34" charset="0"/>
                <a:ea typeface="Poppins ExtraBold" pitchFamily="34" charset="-122"/>
                <a:cs typeface="Poppins ExtraBold" pitchFamily="34" charset="-120"/>
              </a:rPr>
              <a:t>YOUR</a:t>
            </a:r>
            <a:endParaRPr lang="en-US" sz="6600" dirty="0"/>
          </a:p>
          <a:p>
            <a:pPr indent="0" marL="0">
              <a:lnSpc>
                <a:spcPct val="86000"/>
              </a:lnSpc>
              <a:buNone/>
            </a:pPr>
            <a:r>
              <a:rPr lang="en-US" sz="6600" dirty="0">
                <a:solidFill>
                  <a:srgbClr val="FFFFFF"/>
                </a:solidFill>
                <a:latin typeface="Poppins ExtraBold" pitchFamily="34" charset="0"/>
                <a:ea typeface="Poppins ExtraBold" pitchFamily="34" charset="-122"/>
                <a:cs typeface="Poppins ExtraBold" pitchFamily="34" charset="-120"/>
              </a:rPr>
              <a:t>DEGREE IS</a:t>
            </a:r>
            <a:endParaRPr lang="en-US" sz="6600" dirty="0"/>
          </a:p>
          <a:p>
            <a:pPr indent="0" marL="0">
              <a:lnSpc>
                <a:spcPct val="86000"/>
              </a:lnSpc>
              <a:buNone/>
            </a:pPr>
            <a:r>
              <a:rPr lang="en-US" sz="6600" dirty="0">
                <a:solidFill>
                  <a:srgbClr val="0CCCCC"/>
                </a:solidFill>
                <a:latin typeface="Poppins ExtraBold" pitchFamily="34" charset="0"/>
                <a:ea typeface="Poppins ExtraBold" pitchFamily="34" charset="-122"/>
                <a:cs typeface="Poppins ExtraBold" pitchFamily="34" charset="-120"/>
              </a:rPr>
              <a:t>NOT ENOUGH.</a:t>
            </a:r>
            <a:endParaRPr lang="en-US" sz="6600" dirty="0"/>
          </a:p>
        </p:txBody>
      </p:sp>
      <p:sp>
        <p:nvSpPr>
          <p:cNvPr id="9" name="A4-question"/>
          <p:cNvSpPr txBox="1"/>
          <p:nvPr/>
        </p:nvSpPr>
        <p:spPr>
          <a:xfrm>
            <a:off x="685800" y="4645152"/>
            <a:ext cx="6400800" cy="457200"/>
          </a:xfrm>
          <a:prstGeom prst="rect">
            <a:avLst/>
          </a:prstGeom>
          <a:noFill/>
          <a:ln/>
        </p:spPr>
        <p:txBody>
          <a:bodyPr wrap="square" lIns="0" tIns="0" rIns="0" bIns="0" rtlCol="0" anchor="t"/>
          <a:lstStyle/>
          <a:p>
            <a:pPr indent="0" marL="0">
              <a:buNone/>
            </a:pPr>
            <a:r>
              <a:rPr lang="en-US" sz="2600" dirty="0">
                <a:solidFill>
                  <a:srgbClr val="FFFFFF"/>
                </a:solidFill>
                <a:latin typeface="Poppins SemiBold" pitchFamily="34" charset="0"/>
                <a:ea typeface="Poppins SemiBold" pitchFamily="34" charset="-122"/>
                <a:cs typeface="Poppins SemiBold" pitchFamily="34" charset="-120"/>
              </a:rPr>
              <a:t>So you graduated. </a:t>
            </a:r>
            <a:pPr indent="0" marL="0">
              <a:buNone/>
            </a:pPr>
            <a:r>
              <a:rPr lang="en-US" sz="2600" dirty="0">
                <a:solidFill>
                  <a:srgbClr val="0CCCCC"/>
                </a:solidFill>
                <a:latin typeface="Poppins SemiBold" pitchFamily="34" charset="0"/>
                <a:ea typeface="Poppins SemiBold" pitchFamily="34" charset="-122"/>
                <a:cs typeface="Poppins SemiBold" pitchFamily="34" charset="-120"/>
              </a:rPr>
              <a:t>Now what?</a:t>
            </a:r>
            <a:endParaRPr lang="en-US" sz="2600" dirty="0"/>
          </a:p>
        </p:txBody>
      </p:sp>
      <p:sp>
        <p:nvSpPr>
          <p:cNvPr id="10" name="A4-sub"/>
          <p:cNvSpPr txBox="1"/>
          <p:nvPr/>
        </p:nvSpPr>
        <p:spPr>
          <a:xfrm>
            <a:off x="685800" y="5157216"/>
            <a:ext cx="6766560" cy="365760"/>
          </a:xfrm>
          <a:prstGeom prst="rect">
            <a:avLst/>
          </a:prstGeom>
          <a:noFill/>
          <a:ln/>
        </p:spPr>
        <p:txBody>
          <a:bodyPr wrap="square" lIns="0" tIns="0" rIns="0" bIns="0" rtlCol="0" anchor="t"/>
          <a:lstStyle/>
          <a:p>
            <a:pPr indent="0" marL="0">
              <a:buNone/>
            </a:pPr>
            <a:r>
              <a:rPr lang="en-US" sz="1600" dirty="0">
                <a:solidFill>
                  <a:srgbClr val="9FB0B0"/>
                </a:solidFill>
                <a:latin typeface="Poppins" pitchFamily="34" charset="0"/>
                <a:ea typeface="Poppins" pitchFamily="34" charset="-122"/>
                <a:cs typeface="Poppins" pitchFamily="34" charset="-120"/>
              </a:rPr>
              <a:t>From classroom to career: build skills, create value, get hired.</a:t>
            </a:r>
            <a:endParaRPr lang="en-US" sz="1600" dirty="0"/>
          </a:p>
        </p:txBody>
      </p:sp>
      <p:pic>
        <p:nvPicPr>
          <p:cNvPr id="11" name="A5-logo" descr="/private/tmp/claude-501/-Users-swibit-skillture/f1e62dc3-dfc1-4d04-897a-70d066cdcef5/scratchpad/deck/img/logo_white.png">    </p:cNvPr>
          <p:cNvPicPr>
            <a:picLocks noChangeAspect="1"/>
          </p:cNvPicPr>
          <p:nvPr/>
        </p:nvPicPr>
        <p:blipFill>
          <a:blip r:embed="rId5"/>
          <a:stretch>
            <a:fillRect/>
          </a:stretch>
        </p:blipFill>
        <p:spPr>
          <a:xfrm>
            <a:off x="685800" y="5870448"/>
            <a:ext cx="482029" cy="457200"/>
          </a:xfrm>
          <a:prstGeom prst="rect">
            <a:avLst/>
          </a:prstGeom>
        </p:spPr>
      </p:pic>
      <p:pic>
        <p:nvPicPr>
          <p:cNvPr id="12" name="A5-word" descr="/private/tmp/claude-501/-Users-swibit-skillture/f1e62dc3-dfc1-4d04-897a-70d066cdcef5/scratchpad/deck/img/wordmark_white.png">    </p:cNvPr>
          <p:cNvPicPr>
            <a:picLocks noChangeAspect="1"/>
          </p:cNvPicPr>
          <p:nvPr/>
        </p:nvPicPr>
        <p:blipFill>
          <a:blip r:embed="rId6"/>
          <a:stretch>
            <a:fillRect/>
          </a:stretch>
        </p:blipFill>
        <p:spPr>
          <a:xfrm>
            <a:off x="1252728" y="5897880"/>
            <a:ext cx="1561525" cy="402336"/>
          </a:xfrm>
          <a:prstGeom prst="rect">
            <a:avLst/>
          </a:prstGeom>
        </p:spPr>
      </p:pic>
      <p:sp>
        <p:nvSpPr>
          <p:cNvPr id="13" name="A5-handle"/>
          <p:cNvSpPr txBox="1"/>
          <p:nvPr/>
        </p:nvSpPr>
        <p:spPr>
          <a:xfrm>
            <a:off x="8762695" y="5989320"/>
            <a:ext cx="2743200" cy="274320"/>
          </a:xfrm>
          <a:prstGeom prst="rect">
            <a:avLst/>
          </a:prstGeom>
          <a:noFill/>
          <a:ln/>
        </p:spPr>
        <p:txBody>
          <a:bodyPr wrap="square" lIns="0" tIns="0" rIns="0" bIns="0" rtlCol="0" anchor="t"/>
          <a:lstStyle/>
          <a:p>
            <a:pPr algn="r" indent="0" marL="0">
              <a:buNone/>
            </a:pPr>
            <a:r>
              <a:rPr lang="en-US" sz="1200" dirty="0">
                <a:solidFill>
                  <a:srgbClr val="6E8282"/>
                </a:solidFill>
                <a:latin typeface="Poppins" pitchFamily="34" charset="0"/>
                <a:ea typeface="Poppins" pitchFamily="34" charset="-122"/>
                <a:cs typeface="Poppins" pitchFamily="34" charset="-120"/>
              </a:rPr>
              <a:t>@skillture.iq</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80"/>
                                        <p:tgtEl>
                                          <p:spTgt spid="7"/>
                                        </p:tgtEl>
                                      </p:cBhvr>
                                    </p:animEffect>
                                  </p:childTnLst>
                                </p:cTn>
                              </p:par>
                              <p:par>
                                <p:cTn id="8" presetID="10" presetClass="entr" presetSubtype="0" fill="hold" grpId="0" nodeType="withEffect">
                                  <p:stCondLst>
                                    <p:cond delay="32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80"/>
                                        <p:tgtEl>
                                          <p:spTgt spid="8"/>
                                        </p:tgtEl>
                                      </p:cBhvr>
                                    </p:animEffect>
                                  </p:childTnLst>
                                </p:cTn>
                              </p:par>
                              <p:par>
                                <p:cTn id="11" presetID="10" presetClass="entr" presetSubtype="0" fill="hold" grpId="0" nodeType="withEffect">
                                  <p:stCondLst>
                                    <p:cond delay="64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80"/>
                                        <p:tgtEl>
                                          <p:spTgt spid="5"/>
                                        </p:tgtEl>
                                      </p:cBhvr>
                                    </p:animEffect>
                                  </p:childTnLst>
                                </p:cTn>
                              </p:par>
                              <p:par>
                                <p:cTn id="14" presetID="10" presetClass="entr" presetSubtype="0" fill="hold" grpId="0" nodeType="withEffect">
                                  <p:stCondLst>
                                    <p:cond delay="64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80"/>
                                        <p:tgtEl>
                                          <p:spTgt spid="6"/>
                                        </p:tgtEl>
                                      </p:cBhvr>
                                    </p:animEffect>
                                  </p:childTnLst>
                                </p:cTn>
                              </p:par>
                              <p:par>
                                <p:cTn id="17" presetID="10" presetClass="entr" presetSubtype="0" fill="hold" grpId="0" nodeType="withEffect">
                                  <p:stCondLst>
                                    <p:cond delay="96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80"/>
                                        <p:tgtEl>
                                          <p:spTgt spid="9"/>
                                        </p:tgtEl>
                                      </p:cBhvr>
                                    </p:animEffect>
                                  </p:childTnLst>
                                </p:cTn>
                              </p:par>
                              <p:par>
                                <p:cTn id="20" presetID="10" presetClass="entr" presetSubtype="0" fill="hold" grpId="0" nodeType="withEffect">
                                  <p:stCondLst>
                                    <p:cond delay="96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80"/>
                                        <p:tgtEl>
                                          <p:spTgt spid="10"/>
                                        </p:tgtEl>
                                      </p:cBhvr>
                                    </p:animEffect>
                                  </p:childTnLst>
                                </p:cTn>
                              </p:par>
                              <p:par>
                                <p:cTn id="23" presetID="10" presetClass="entr" presetSubtype="0" fill="hold" grpId="0" nodeType="withEffect">
                                  <p:stCondLst>
                                    <p:cond delay="12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80"/>
                                        <p:tgtEl>
                                          <p:spTgt spid="11"/>
                                        </p:tgtEl>
                                      </p:cBhvr>
                                    </p:animEffect>
                                  </p:childTnLst>
                                </p:cTn>
                              </p:par>
                              <p:par>
                                <p:cTn id="26" presetID="10" presetClass="entr" presetSubtype="0" fill="hold" grpId="0" nodeType="withEffect">
                                  <p:stCondLst>
                                    <p:cond delay="12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80"/>
                                        <p:tgtEl>
                                          <p:spTgt spid="12"/>
                                        </p:tgtEl>
                                      </p:cBhvr>
                                    </p:animEffect>
                                  </p:childTnLst>
                                </p:cTn>
                              </p:par>
                              <p:par>
                                <p:cTn id="29" presetID="10" presetClass="entr" presetSubtype="0" fill="hold" grpId="0" nodeType="withEffect">
                                  <p:stCondLst>
                                    <p:cond delay="12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8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A0-eyebrow"/>
          <p:cNvSpPr txBox="1"/>
          <p:nvPr/>
        </p:nvSpPr>
        <p:spPr>
          <a:xfrm>
            <a:off x="685800" y="457200"/>
            <a:ext cx="8229600" cy="274320"/>
          </a:xfrm>
          <a:prstGeom prst="rect">
            <a:avLst/>
          </a:prstGeom>
          <a:noFill/>
          <a:ln/>
        </p:spPr>
        <p:txBody>
          <a:bodyPr wrap="square" lIns="0" tIns="0" rIns="0" bIns="0" rtlCol="0" anchor="t"/>
          <a:lstStyle/>
          <a:p>
            <a:pPr indent="0" marL="0">
              <a:buNone/>
            </a:pPr>
            <a:r>
              <a:rPr lang="en-US" sz="1200" spc="300" kern="0" dirty="0">
                <a:solidFill>
                  <a:srgbClr val="017A7A"/>
                </a:solidFill>
                <a:latin typeface="Poppins SemiBold" pitchFamily="34" charset="0"/>
                <a:ea typeface="Poppins SemiBold" pitchFamily="34" charset="-122"/>
                <a:cs typeface="Poppins SemiBold" pitchFamily="34" charset="-120"/>
              </a:rPr>
              <a:t>01  ·  THE REALITY CHECK</a:t>
            </a:r>
            <a:endParaRPr lang="en-US" sz="1200" dirty="0"/>
          </a:p>
        </p:txBody>
      </p:sp>
      <p:sp>
        <p:nvSpPr>
          <p:cNvPr id="4" name="Text 1"/>
          <p:cNvSpPr/>
          <p:nvPr>
            <p:ph idx="102" type="title" hasCustomPrompt="1"/>
          </p:nvPr>
        </p:nvSpPr>
        <p:spPr>
          <a:xfrm>
            <a:off x="685800" y="749808"/>
            <a:ext cx="10820095" cy="685800"/>
          </a:xfrm>
          <a:prstGeom prst="rect">
            <a:avLst/>
          </a:prstGeom>
          <a:noFill/>
          <a:ln/>
        </p:spPr>
        <p:txBody>
          <a:bodyPr wrap="square" lIns="0" tIns="0" rIns="0" bIns="0" rtlCol="0" anchor="t"/>
          <a:lstStyle/>
          <a:p>
            <a:pPr algn="l" indent="0" marL="0">
              <a:buNone/>
            </a:pPr>
            <a:r>
              <a:rPr lang="en-US" sz="3600" dirty="0">
                <a:solidFill>
                  <a:srgbClr val="0B1414"/>
                </a:solidFill>
                <a:latin typeface="Poppins ExtraBold" pitchFamily="34" charset="0"/>
                <a:ea typeface="Poppins ExtraBold" pitchFamily="34" charset="-122"/>
                <a:cs typeface="Poppins ExtraBold" pitchFamily="34" charset="-120"/>
              </a:rPr>
              <a:t>The Reality Check</a:t>
            </a:r>
            <a:endParaRPr lang="en-US" sz="3600" dirty="0"/>
          </a:p>
        </p:txBody>
      </p:sp>
      <p:sp>
        <p:nvSpPr>
          <p:cNvPr id="5" name="A0-sub"/>
          <p:cNvSpPr txBox="1"/>
          <p:nvPr/>
        </p:nvSpPr>
        <p:spPr>
          <a:xfrm>
            <a:off x="685800" y="1463040"/>
            <a:ext cx="8229600" cy="320040"/>
          </a:xfrm>
          <a:prstGeom prst="rect">
            <a:avLst/>
          </a:prstGeom>
          <a:noFill/>
          <a:ln/>
        </p:spPr>
        <p:txBody>
          <a:bodyPr wrap="square" lIns="0" tIns="0" rIns="0" bIns="0" rtlCol="0" anchor="t"/>
          <a:lstStyle/>
          <a:p>
            <a:pPr indent="0" marL="0">
              <a:buNone/>
            </a:pPr>
            <a:r>
              <a:rPr lang="en-US" sz="1600" dirty="0">
                <a:solidFill>
                  <a:srgbClr val="3A4B4B"/>
                </a:solidFill>
                <a:latin typeface="Poppins" pitchFamily="34" charset="0"/>
                <a:ea typeface="Poppins" pitchFamily="34" charset="-122"/>
                <a:cs typeface="Poppins" pitchFamily="34" charset="-120"/>
              </a:rPr>
              <a:t>What university rewards vs. what the job market pays for.</a:t>
            </a:r>
            <a:endParaRPr lang="en-US" sz="1600" dirty="0"/>
          </a:p>
        </p:txBody>
      </p:sp>
      <p:pic>
        <p:nvPicPr>
          <p:cNvPr id="6" name="Image 0" descr="preencoded.png">    </p:cNvPr>
          <p:cNvPicPr>
            <a:picLocks noChangeAspect="1"/>
          </p:cNvPicPr>
          <p:nvPr/>
        </p:nvPicPr>
        <p:blipFill>
          <a:blip r:embed="rId1"/>
          <a:stretch>
            <a:fillRect/>
          </a:stretch>
        </p:blipFill>
        <p:spPr>
          <a:xfrm>
            <a:off x="685800" y="1938528"/>
            <a:ext cx="292608" cy="292608"/>
          </a:xfrm>
          <a:prstGeom prst="rect">
            <a:avLst/>
          </a:prstGeom>
        </p:spPr>
      </p:pic>
      <p:sp>
        <p:nvSpPr>
          <p:cNvPr id="7" name="Text 3"/>
          <p:cNvSpPr txBox="1"/>
          <p:nvPr/>
        </p:nvSpPr>
        <p:spPr>
          <a:xfrm>
            <a:off x="1097280" y="1956816"/>
            <a:ext cx="3657600" cy="274320"/>
          </a:xfrm>
          <a:prstGeom prst="rect">
            <a:avLst/>
          </a:prstGeom>
          <a:noFill/>
          <a:ln/>
        </p:spPr>
        <p:txBody>
          <a:bodyPr wrap="square" lIns="0" tIns="0" rIns="0" bIns="0" rtlCol="0" anchor="t"/>
          <a:lstStyle/>
          <a:p>
            <a:pPr indent="0" marL="0">
              <a:buNone/>
            </a:pPr>
            <a:r>
              <a:rPr lang="en-US" sz="1200" spc="300" kern="0" dirty="0">
                <a:solidFill>
                  <a:srgbClr val="5E7070"/>
                </a:solidFill>
                <a:latin typeface="Poppins SemiBold" pitchFamily="34" charset="0"/>
                <a:ea typeface="Poppins SemiBold" pitchFamily="34" charset="-122"/>
                <a:cs typeface="Poppins SemiBold" pitchFamily="34" charset="-120"/>
              </a:rPr>
              <a:t>UNIVERSITY REWARDS</a:t>
            </a:r>
            <a:endParaRPr lang="en-US" sz="1200" dirty="0"/>
          </a:p>
        </p:txBody>
      </p:sp>
      <p:pic>
        <p:nvPicPr>
          <p:cNvPr id="8" name="Image 1" descr="preencoded.png">    </p:cNvPr>
          <p:cNvPicPr>
            <a:picLocks noChangeAspect="1"/>
          </p:cNvPicPr>
          <p:nvPr/>
        </p:nvPicPr>
        <p:blipFill>
          <a:blip r:embed="rId2"/>
          <a:stretch>
            <a:fillRect/>
          </a:stretch>
        </p:blipFill>
        <p:spPr>
          <a:xfrm>
            <a:off x="6702552" y="1938528"/>
            <a:ext cx="292608" cy="292608"/>
          </a:xfrm>
          <a:prstGeom prst="rect">
            <a:avLst/>
          </a:prstGeom>
        </p:spPr>
      </p:pic>
      <p:sp>
        <p:nvSpPr>
          <p:cNvPr id="9" name="Text 4"/>
          <p:cNvSpPr txBox="1"/>
          <p:nvPr/>
        </p:nvSpPr>
        <p:spPr>
          <a:xfrm>
            <a:off x="7114032" y="1956816"/>
            <a:ext cx="3657600" cy="274320"/>
          </a:xfrm>
          <a:prstGeom prst="rect">
            <a:avLst/>
          </a:prstGeom>
          <a:noFill/>
          <a:ln/>
        </p:spPr>
        <p:txBody>
          <a:bodyPr wrap="square" lIns="0" tIns="0" rIns="0" bIns="0" rtlCol="0" anchor="t"/>
          <a:lstStyle/>
          <a:p>
            <a:pPr indent="0" marL="0">
              <a:buNone/>
            </a:pPr>
            <a:r>
              <a:rPr lang="en-US" sz="1200" spc="300" kern="0" dirty="0">
                <a:solidFill>
                  <a:srgbClr val="017A7A"/>
                </a:solidFill>
                <a:latin typeface="Poppins SemiBold" pitchFamily="34" charset="0"/>
                <a:ea typeface="Poppins SemiBold" pitchFamily="34" charset="-122"/>
                <a:cs typeface="Poppins SemiBold" pitchFamily="34" charset="-120"/>
              </a:rPr>
              <a:t>THE JOB EXPECTS</a:t>
            </a:r>
            <a:endParaRPr lang="en-US" sz="1200" dirty="0"/>
          </a:p>
        </p:txBody>
      </p:sp>
      <p:sp>
        <p:nvSpPr>
          <p:cNvPr id="10" name="A1-l"/>
          <p:cNvSpPr/>
          <p:nvPr/>
        </p:nvSpPr>
        <p:spPr>
          <a:xfrm>
            <a:off x="685800" y="2359152"/>
            <a:ext cx="4800600" cy="548640"/>
          </a:xfrm>
          <a:prstGeom prst="roundRect">
            <a:avLst>
              <a:gd name="adj" fmla="val 20000"/>
            </a:avLst>
          </a:prstGeom>
          <a:solidFill>
            <a:srgbClr val="E9F0F0"/>
          </a:solidFill>
          <a:ln/>
        </p:spPr>
      </p:sp>
      <p:pic>
        <p:nvPicPr>
          <p:cNvPr id="11" name="A1-li" descr="preencoded.png">    </p:cNvPr>
          <p:cNvPicPr>
            <a:picLocks noChangeAspect="1"/>
          </p:cNvPicPr>
          <p:nvPr/>
        </p:nvPicPr>
        <p:blipFill>
          <a:blip r:embed="rId3"/>
          <a:stretch>
            <a:fillRect/>
          </a:stretch>
        </p:blipFill>
        <p:spPr>
          <a:xfrm>
            <a:off x="886968" y="2523744"/>
            <a:ext cx="219456" cy="219456"/>
          </a:xfrm>
          <a:prstGeom prst="rect">
            <a:avLst/>
          </a:prstGeom>
        </p:spPr>
      </p:pic>
      <p:sp>
        <p:nvSpPr>
          <p:cNvPr id="12" name="A1-lt"/>
          <p:cNvSpPr txBox="1"/>
          <p:nvPr/>
        </p:nvSpPr>
        <p:spPr>
          <a:xfrm>
            <a:off x="1252728" y="2359152"/>
            <a:ext cx="4069080" cy="548640"/>
          </a:xfrm>
          <a:prstGeom prst="rect">
            <a:avLst/>
          </a:prstGeom>
          <a:noFill/>
          <a:ln/>
        </p:spPr>
        <p:txBody>
          <a:bodyPr wrap="square" lIns="0" tIns="0" rIns="0" bIns="0" rtlCol="0" anchor="ctr"/>
          <a:lstStyle/>
          <a:p>
            <a:pPr indent="0" marL="0">
              <a:buNone/>
            </a:pPr>
            <a:r>
              <a:rPr lang="en-US" sz="1600" dirty="0">
                <a:solidFill>
                  <a:srgbClr val="4A5C5C"/>
                </a:solidFill>
                <a:latin typeface="Poppins" pitchFamily="34" charset="0"/>
                <a:ea typeface="Poppins" pitchFamily="34" charset="-122"/>
                <a:cs typeface="Poppins" pitchFamily="34" charset="-120"/>
              </a:rPr>
              <a:t>One correct answer</a:t>
            </a:r>
            <a:endParaRPr lang="en-US" sz="1600" dirty="0"/>
          </a:p>
        </p:txBody>
      </p:sp>
      <p:sp>
        <p:nvSpPr>
          <p:cNvPr id="13" name="A1-c"/>
          <p:cNvSpPr/>
          <p:nvPr/>
        </p:nvSpPr>
        <p:spPr>
          <a:xfrm>
            <a:off x="5903824" y="2441448"/>
            <a:ext cx="384048" cy="384048"/>
          </a:xfrm>
          <a:prstGeom prst="ellipse">
            <a:avLst/>
          </a:prstGeom>
          <a:solidFill>
            <a:srgbClr val="0CCCCC"/>
          </a:solidFill>
          <a:ln/>
        </p:spPr>
      </p:sp>
      <p:pic>
        <p:nvPicPr>
          <p:cNvPr id="14" name="A1-ci" descr="preencoded.png">    </p:cNvPr>
          <p:cNvPicPr>
            <a:picLocks noChangeAspect="1"/>
          </p:cNvPicPr>
          <p:nvPr/>
        </p:nvPicPr>
        <p:blipFill>
          <a:blip r:embed="rId4"/>
          <a:stretch>
            <a:fillRect/>
          </a:stretch>
        </p:blipFill>
        <p:spPr>
          <a:xfrm>
            <a:off x="5986120" y="2523744"/>
            <a:ext cx="219456" cy="219456"/>
          </a:xfrm>
          <a:prstGeom prst="rect">
            <a:avLst/>
          </a:prstGeom>
        </p:spPr>
      </p:pic>
      <p:sp>
        <p:nvSpPr>
          <p:cNvPr id="15" name="A1-r"/>
          <p:cNvSpPr/>
          <p:nvPr/>
        </p:nvSpPr>
        <p:spPr>
          <a:xfrm>
            <a:off x="6702552" y="2359152"/>
            <a:ext cx="4800600" cy="548640"/>
          </a:xfrm>
          <a:prstGeom prst="roundRect">
            <a:avLst>
              <a:gd name="adj" fmla="val 20000"/>
            </a:avLst>
          </a:prstGeom>
          <a:solidFill>
            <a:srgbClr val="0B1414"/>
          </a:solidFill>
          <a:ln/>
          <a:effectLst>
            <a:outerShdw sx="100000" sy="100000" kx="0" ky="0" algn="bl" rotWithShape="0" blurRad="127000" dist="38100" dir="5400000">
              <a:srgbClr val="000000">
                <a:alpha val="18000"/>
              </a:srgbClr>
            </a:outerShdw>
          </a:effectLst>
        </p:spPr>
      </p:sp>
      <p:pic>
        <p:nvPicPr>
          <p:cNvPr id="16" name="A1-ri" descr="preencoded.png">    </p:cNvPr>
          <p:cNvPicPr>
            <a:picLocks noChangeAspect="1"/>
          </p:cNvPicPr>
          <p:nvPr/>
        </p:nvPicPr>
        <p:blipFill>
          <a:blip r:embed="rId5"/>
          <a:stretch>
            <a:fillRect/>
          </a:stretch>
        </p:blipFill>
        <p:spPr>
          <a:xfrm>
            <a:off x="6903720" y="2514600"/>
            <a:ext cx="237744" cy="237744"/>
          </a:xfrm>
          <a:prstGeom prst="rect">
            <a:avLst/>
          </a:prstGeom>
        </p:spPr>
      </p:pic>
      <p:sp>
        <p:nvSpPr>
          <p:cNvPr id="17" name="A1-rt"/>
          <p:cNvSpPr txBox="1"/>
          <p:nvPr/>
        </p:nvSpPr>
        <p:spPr>
          <a:xfrm>
            <a:off x="7269480" y="2359152"/>
            <a:ext cx="4069080" cy="548640"/>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Problems with no answer key</a:t>
            </a:r>
            <a:endParaRPr lang="en-US" sz="1600" dirty="0"/>
          </a:p>
        </p:txBody>
      </p:sp>
      <p:sp>
        <p:nvSpPr>
          <p:cNvPr id="18" name="A2-l"/>
          <p:cNvSpPr/>
          <p:nvPr/>
        </p:nvSpPr>
        <p:spPr>
          <a:xfrm>
            <a:off x="685800" y="3035808"/>
            <a:ext cx="4800600" cy="548640"/>
          </a:xfrm>
          <a:prstGeom prst="roundRect">
            <a:avLst>
              <a:gd name="adj" fmla="val 20000"/>
            </a:avLst>
          </a:prstGeom>
          <a:solidFill>
            <a:srgbClr val="E9F0F0"/>
          </a:solidFill>
          <a:ln/>
        </p:spPr>
      </p:sp>
      <p:pic>
        <p:nvPicPr>
          <p:cNvPr id="19" name="A2-li" descr="preencoded.png">    </p:cNvPr>
          <p:cNvPicPr>
            <a:picLocks noChangeAspect="1"/>
          </p:cNvPicPr>
          <p:nvPr/>
        </p:nvPicPr>
        <p:blipFill>
          <a:blip r:embed="rId6"/>
          <a:stretch>
            <a:fillRect/>
          </a:stretch>
        </p:blipFill>
        <p:spPr>
          <a:xfrm>
            <a:off x="886968" y="3200400"/>
            <a:ext cx="219456" cy="219456"/>
          </a:xfrm>
          <a:prstGeom prst="rect">
            <a:avLst/>
          </a:prstGeom>
        </p:spPr>
      </p:pic>
      <p:sp>
        <p:nvSpPr>
          <p:cNvPr id="20" name="A2-lt"/>
          <p:cNvSpPr txBox="1"/>
          <p:nvPr/>
        </p:nvSpPr>
        <p:spPr>
          <a:xfrm>
            <a:off x="1252728" y="3035808"/>
            <a:ext cx="4069080" cy="548640"/>
          </a:xfrm>
          <a:prstGeom prst="rect">
            <a:avLst/>
          </a:prstGeom>
          <a:noFill/>
          <a:ln/>
        </p:spPr>
        <p:txBody>
          <a:bodyPr wrap="square" lIns="0" tIns="0" rIns="0" bIns="0" rtlCol="0" anchor="ctr"/>
          <a:lstStyle/>
          <a:p>
            <a:pPr indent="0" marL="0">
              <a:buNone/>
            </a:pPr>
            <a:r>
              <a:rPr lang="en-US" sz="1600" dirty="0">
                <a:solidFill>
                  <a:srgbClr val="4A5C5C"/>
                </a:solidFill>
                <a:latin typeface="Poppins" pitchFamily="34" charset="0"/>
                <a:ea typeface="Poppins" pitchFamily="34" charset="-122"/>
                <a:cs typeface="Poppins" pitchFamily="34" charset="-120"/>
              </a:rPr>
              <a:t>Memorizing for the exam</a:t>
            </a:r>
            <a:endParaRPr lang="en-US" sz="1600" dirty="0"/>
          </a:p>
        </p:txBody>
      </p:sp>
      <p:sp>
        <p:nvSpPr>
          <p:cNvPr id="21" name="A2-c"/>
          <p:cNvSpPr/>
          <p:nvPr/>
        </p:nvSpPr>
        <p:spPr>
          <a:xfrm>
            <a:off x="5903824" y="3118104"/>
            <a:ext cx="384048" cy="384048"/>
          </a:xfrm>
          <a:prstGeom prst="ellipse">
            <a:avLst/>
          </a:prstGeom>
          <a:solidFill>
            <a:srgbClr val="0CCCCC"/>
          </a:solidFill>
          <a:ln/>
        </p:spPr>
      </p:sp>
      <p:pic>
        <p:nvPicPr>
          <p:cNvPr id="22" name="A2-ci" descr="preencoded.png">    </p:cNvPr>
          <p:cNvPicPr>
            <a:picLocks noChangeAspect="1"/>
          </p:cNvPicPr>
          <p:nvPr/>
        </p:nvPicPr>
        <p:blipFill>
          <a:blip r:embed="rId7"/>
          <a:stretch>
            <a:fillRect/>
          </a:stretch>
        </p:blipFill>
        <p:spPr>
          <a:xfrm>
            <a:off x="5986120" y="3200400"/>
            <a:ext cx="219456" cy="219456"/>
          </a:xfrm>
          <a:prstGeom prst="rect">
            <a:avLst/>
          </a:prstGeom>
        </p:spPr>
      </p:pic>
      <p:sp>
        <p:nvSpPr>
          <p:cNvPr id="23" name="A2-r"/>
          <p:cNvSpPr/>
          <p:nvPr/>
        </p:nvSpPr>
        <p:spPr>
          <a:xfrm>
            <a:off x="6702552" y="3035808"/>
            <a:ext cx="4800600" cy="548640"/>
          </a:xfrm>
          <a:prstGeom prst="roundRect">
            <a:avLst>
              <a:gd name="adj" fmla="val 20000"/>
            </a:avLst>
          </a:prstGeom>
          <a:solidFill>
            <a:srgbClr val="0B1414"/>
          </a:solidFill>
          <a:ln/>
          <a:effectLst>
            <a:outerShdw sx="100000" sy="100000" kx="0" ky="0" algn="bl" rotWithShape="0" blurRad="127000" dist="38100" dir="5400000">
              <a:srgbClr val="000000">
                <a:alpha val="18000"/>
              </a:srgbClr>
            </a:outerShdw>
          </a:effectLst>
        </p:spPr>
      </p:sp>
      <p:pic>
        <p:nvPicPr>
          <p:cNvPr id="24" name="A2-ri" descr="preencoded.png">    </p:cNvPr>
          <p:cNvPicPr>
            <a:picLocks noChangeAspect="1"/>
          </p:cNvPicPr>
          <p:nvPr/>
        </p:nvPicPr>
        <p:blipFill>
          <a:blip r:embed="rId8"/>
          <a:stretch>
            <a:fillRect/>
          </a:stretch>
        </p:blipFill>
        <p:spPr>
          <a:xfrm>
            <a:off x="6903720" y="3191256"/>
            <a:ext cx="237744" cy="237744"/>
          </a:xfrm>
          <a:prstGeom prst="rect">
            <a:avLst/>
          </a:prstGeom>
        </p:spPr>
      </p:pic>
      <p:sp>
        <p:nvSpPr>
          <p:cNvPr id="25" name="A2-rt"/>
          <p:cNvSpPr txBox="1"/>
          <p:nvPr/>
        </p:nvSpPr>
        <p:spPr>
          <a:xfrm>
            <a:off x="7269480" y="3035808"/>
            <a:ext cx="4069080" cy="548640"/>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Finding, learning and applying fast</a:t>
            </a:r>
            <a:endParaRPr lang="en-US" sz="1600" dirty="0"/>
          </a:p>
        </p:txBody>
      </p:sp>
      <p:sp>
        <p:nvSpPr>
          <p:cNvPr id="26" name="A3-l"/>
          <p:cNvSpPr/>
          <p:nvPr/>
        </p:nvSpPr>
        <p:spPr>
          <a:xfrm>
            <a:off x="685800" y="3712464"/>
            <a:ext cx="4800600" cy="548640"/>
          </a:xfrm>
          <a:prstGeom prst="roundRect">
            <a:avLst>
              <a:gd name="adj" fmla="val 20000"/>
            </a:avLst>
          </a:prstGeom>
          <a:solidFill>
            <a:srgbClr val="E9F0F0"/>
          </a:solidFill>
          <a:ln/>
        </p:spPr>
      </p:sp>
      <p:pic>
        <p:nvPicPr>
          <p:cNvPr id="27" name="A3-li" descr="preencoded.png">    </p:cNvPr>
          <p:cNvPicPr>
            <a:picLocks noChangeAspect="1"/>
          </p:cNvPicPr>
          <p:nvPr/>
        </p:nvPicPr>
        <p:blipFill>
          <a:blip r:embed="rId9"/>
          <a:stretch>
            <a:fillRect/>
          </a:stretch>
        </p:blipFill>
        <p:spPr>
          <a:xfrm>
            <a:off x="886968" y="3877056"/>
            <a:ext cx="219456" cy="219456"/>
          </a:xfrm>
          <a:prstGeom prst="rect">
            <a:avLst/>
          </a:prstGeom>
        </p:spPr>
      </p:pic>
      <p:sp>
        <p:nvSpPr>
          <p:cNvPr id="28" name="A3-lt"/>
          <p:cNvSpPr txBox="1"/>
          <p:nvPr/>
        </p:nvSpPr>
        <p:spPr>
          <a:xfrm>
            <a:off x="1252728" y="3712464"/>
            <a:ext cx="4069080" cy="548640"/>
          </a:xfrm>
          <a:prstGeom prst="rect">
            <a:avLst/>
          </a:prstGeom>
          <a:noFill/>
          <a:ln/>
        </p:spPr>
        <p:txBody>
          <a:bodyPr wrap="square" lIns="0" tIns="0" rIns="0" bIns="0" rtlCol="0" anchor="ctr"/>
          <a:lstStyle/>
          <a:p>
            <a:pPr indent="0" marL="0">
              <a:buNone/>
            </a:pPr>
            <a:r>
              <a:rPr lang="en-US" sz="1600" dirty="0">
                <a:solidFill>
                  <a:srgbClr val="4A5C5C"/>
                </a:solidFill>
                <a:latin typeface="Poppins" pitchFamily="34" charset="0"/>
                <a:ea typeface="Poppins" pitchFamily="34" charset="-122"/>
                <a:cs typeface="Poppins" pitchFamily="34" charset="-120"/>
              </a:rPr>
              <a:t>Individual grades</a:t>
            </a:r>
            <a:endParaRPr lang="en-US" sz="1600" dirty="0"/>
          </a:p>
        </p:txBody>
      </p:sp>
      <p:sp>
        <p:nvSpPr>
          <p:cNvPr id="29" name="A3-c"/>
          <p:cNvSpPr/>
          <p:nvPr/>
        </p:nvSpPr>
        <p:spPr>
          <a:xfrm>
            <a:off x="5903824" y="3794760"/>
            <a:ext cx="384048" cy="384048"/>
          </a:xfrm>
          <a:prstGeom prst="ellipse">
            <a:avLst/>
          </a:prstGeom>
          <a:solidFill>
            <a:srgbClr val="0CCCCC"/>
          </a:solidFill>
          <a:ln/>
        </p:spPr>
      </p:sp>
      <p:pic>
        <p:nvPicPr>
          <p:cNvPr id="30" name="A3-ci" descr="preencoded.png">    </p:cNvPr>
          <p:cNvPicPr>
            <a:picLocks noChangeAspect="1"/>
          </p:cNvPicPr>
          <p:nvPr/>
        </p:nvPicPr>
        <p:blipFill>
          <a:blip r:embed="rId10"/>
          <a:stretch>
            <a:fillRect/>
          </a:stretch>
        </p:blipFill>
        <p:spPr>
          <a:xfrm>
            <a:off x="5986120" y="3877056"/>
            <a:ext cx="219456" cy="219456"/>
          </a:xfrm>
          <a:prstGeom prst="rect">
            <a:avLst/>
          </a:prstGeom>
        </p:spPr>
      </p:pic>
      <p:sp>
        <p:nvSpPr>
          <p:cNvPr id="31" name="A3-r"/>
          <p:cNvSpPr/>
          <p:nvPr/>
        </p:nvSpPr>
        <p:spPr>
          <a:xfrm>
            <a:off x="6702552" y="3712464"/>
            <a:ext cx="4800600" cy="548640"/>
          </a:xfrm>
          <a:prstGeom prst="roundRect">
            <a:avLst>
              <a:gd name="adj" fmla="val 20000"/>
            </a:avLst>
          </a:prstGeom>
          <a:solidFill>
            <a:srgbClr val="0B1414"/>
          </a:solidFill>
          <a:ln/>
          <a:effectLst>
            <a:outerShdw sx="100000" sy="100000" kx="0" ky="0" algn="bl" rotWithShape="0" blurRad="127000" dist="38100" dir="5400000">
              <a:srgbClr val="000000">
                <a:alpha val="18000"/>
              </a:srgbClr>
            </a:outerShdw>
          </a:effectLst>
        </p:spPr>
      </p:sp>
      <p:pic>
        <p:nvPicPr>
          <p:cNvPr id="32" name="A3-ri" descr="preencoded.png">    </p:cNvPr>
          <p:cNvPicPr>
            <a:picLocks noChangeAspect="1"/>
          </p:cNvPicPr>
          <p:nvPr/>
        </p:nvPicPr>
        <p:blipFill>
          <a:blip r:embed="rId11"/>
          <a:stretch>
            <a:fillRect/>
          </a:stretch>
        </p:blipFill>
        <p:spPr>
          <a:xfrm>
            <a:off x="6903720" y="3867912"/>
            <a:ext cx="237744" cy="237744"/>
          </a:xfrm>
          <a:prstGeom prst="rect">
            <a:avLst/>
          </a:prstGeom>
        </p:spPr>
      </p:pic>
      <p:sp>
        <p:nvSpPr>
          <p:cNvPr id="33" name="A3-rt"/>
          <p:cNvSpPr txBox="1"/>
          <p:nvPr/>
        </p:nvSpPr>
        <p:spPr>
          <a:xfrm>
            <a:off x="7269480" y="3712464"/>
            <a:ext cx="4069080" cy="548640"/>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Shipping with a team</a:t>
            </a:r>
            <a:endParaRPr lang="en-US" sz="1600" dirty="0"/>
          </a:p>
        </p:txBody>
      </p:sp>
      <p:sp>
        <p:nvSpPr>
          <p:cNvPr id="34" name="A4-l"/>
          <p:cNvSpPr/>
          <p:nvPr/>
        </p:nvSpPr>
        <p:spPr>
          <a:xfrm>
            <a:off x="685800" y="4389120"/>
            <a:ext cx="4800600" cy="548640"/>
          </a:xfrm>
          <a:prstGeom prst="roundRect">
            <a:avLst>
              <a:gd name="adj" fmla="val 20000"/>
            </a:avLst>
          </a:prstGeom>
          <a:solidFill>
            <a:srgbClr val="E9F0F0"/>
          </a:solidFill>
          <a:ln/>
        </p:spPr>
      </p:sp>
      <p:pic>
        <p:nvPicPr>
          <p:cNvPr id="35" name="A4-li" descr="preencoded.png">    </p:cNvPr>
          <p:cNvPicPr>
            <a:picLocks noChangeAspect="1"/>
          </p:cNvPicPr>
          <p:nvPr/>
        </p:nvPicPr>
        <p:blipFill>
          <a:blip r:embed="rId12"/>
          <a:stretch>
            <a:fillRect/>
          </a:stretch>
        </p:blipFill>
        <p:spPr>
          <a:xfrm>
            <a:off x="886968" y="4553712"/>
            <a:ext cx="219456" cy="219456"/>
          </a:xfrm>
          <a:prstGeom prst="rect">
            <a:avLst/>
          </a:prstGeom>
        </p:spPr>
      </p:pic>
      <p:sp>
        <p:nvSpPr>
          <p:cNvPr id="36" name="A4-lt"/>
          <p:cNvSpPr txBox="1"/>
          <p:nvPr/>
        </p:nvSpPr>
        <p:spPr>
          <a:xfrm>
            <a:off x="1252728" y="4389120"/>
            <a:ext cx="4069080" cy="548640"/>
          </a:xfrm>
          <a:prstGeom prst="rect">
            <a:avLst/>
          </a:prstGeom>
          <a:noFill/>
          <a:ln/>
        </p:spPr>
        <p:txBody>
          <a:bodyPr wrap="square" lIns="0" tIns="0" rIns="0" bIns="0" rtlCol="0" anchor="ctr"/>
          <a:lstStyle/>
          <a:p>
            <a:pPr indent="0" marL="0">
              <a:buNone/>
            </a:pPr>
            <a:r>
              <a:rPr lang="en-US" sz="1600" dirty="0">
                <a:solidFill>
                  <a:srgbClr val="4A5C5C"/>
                </a:solidFill>
                <a:latin typeface="Poppins" pitchFamily="34" charset="0"/>
                <a:ea typeface="Poppins" pitchFamily="34" charset="-122"/>
                <a:cs typeface="Poppins" pitchFamily="34" charset="-120"/>
              </a:rPr>
              <a:t>A graduation project in a drawer</a:t>
            </a:r>
            <a:endParaRPr lang="en-US" sz="1600" dirty="0"/>
          </a:p>
        </p:txBody>
      </p:sp>
      <p:sp>
        <p:nvSpPr>
          <p:cNvPr id="37" name="A4-c"/>
          <p:cNvSpPr/>
          <p:nvPr/>
        </p:nvSpPr>
        <p:spPr>
          <a:xfrm>
            <a:off x="5903824" y="4471416"/>
            <a:ext cx="384048" cy="384048"/>
          </a:xfrm>
          <a:prstGeom prst="ellipse">
            <a:avLst/>
          </a:prstGeom>
          <a:solidFill>
            <a:srgbClr val="0CCCCC"/>
          </a:solidFill>
          <a:ln/>
        </p:spPr>
      </p:sp>
      <p:pic>
        <p:nvPicPr>
          <p:cNvPr id="38" name="A4-ci" descr="preencoded.png">    </p:cNvPr>
          <p:cNvPicPr>
            <a:picLocks noChangeAspect="1"/>
          </p:cNvPicPr>
          <p:nvPr/>
        </p:nvPicPr>
        <p:blipFill>
          <a:blip r:embed="rId13"/>
          <a:stretch>
            <a:fillRect/>
          </a:stretch>
        </p:blipFill>
        <p:spPr>
          <a:xfrm>
            <a:off x="5986120" y="4553712"/>
            <a:ext cx="219456" cy="219456"/>
          </a:xfrm>
          <a:prstGeom prst="rect">
            <a:avLst/>
          </a:prstGeom>
        </p:spPr>
      </p:pic>
      <p:sp>
        <p:nvSpPr>
          <p:cNvPr id="39" name="A4-r"/>
          <p:cNvSpPr/>
          <p:nvPr/>
        </p:nvSpPr>
        <p:spPr>
          <a:xfrm>
            <a:off x="6702552" y="4389120"/>
            <a:ext cx="4800600" cy="548640"/>
          </a:xfrm>
          <a:prstGeom prst="roundRect">
            <a:avLst>
              <a:gd name="adj" fmla="val 20000"/>
            </a:avLst>
          </a:prstGeom>
          <a:solidFill>
            <a:srgbClr val="0B1414"/>
          </a:solidFill>
          <a:ln/>
          <a:effectLst>
            <a:outerShdw sx="100000" sy="100000" kx="0" ky="0" algn="bl" rotWithShape="0" blurRad="127000" dist="38100" dir="5400000">
              <a:srgbClr val="000000">
                <a:alpha val="18000"/>
              </a:srgbClr>
            </a:outerShdw>
          </a:effectLst>
        </p:spPr>
      </p:sp>
      <p:pic>
        <p:nvPicPr>
          <p:cNvPr id="40" name="A4-ri" descr="preencoded.png">    </p:cNvPr>
          <p:cNvPicPr>
            <a:picLocks noChangeAspect="1"/>
          </p:cNvPicPr>
          <p:nvPr/>
        </p:nvPicPr>
        <p:blipFill>
          <a:blip r:embed="rId14"/>
          <a:stretch>
            <a:fillRect/>
          </a:stretch>
        </p:blipFill>
        <p:spPr>
          <a:xfrm>
            <a:off x="6903720" y="4544568"/>
            <a:ext cx="237744" cy="237744"/>
          </a:xfrm>
          <a:prstGeom prst="rect">
            <a:avLst/>
          </a:prstGeom>
        </p:spPr>
      </p:pic>
      <p:sp>
        <p:nvSpPr>
          <p:cNvPr id="41" name="A4-rt"/>
          <p:cNvSpPr txBox="1"/>
          <p:nvPr/>
        </p:nvSpPr>
        <p:spPr>
          <a:xfrm>
            <a:off x="7269480" y="4389120"/>
            <a:ext cx="4069080" cy="548640"/>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Projects on GitHub with a live demo</a:t>
            </a:r>
            <a:endParaRPr lang="en-US" sz="1600" dirty="0"/>
          </a:p>
        </p:txBody>
      </p:sp>
      <p:sp>
        <p:nvSpPr>
          <p:cNvPr id="42" name="A5-l"/>
          <p:cNvSpPr/>
          <p:nvPr/>
        </p:nvSpPr>
        <p:spPr>
          <a:xfrm>
            <a:off x="685800" y="5065776"/>
            <a:ext cx="4800600" cy="548640"/>
          </a:xfrm>
          <a:prstGeom prst="roundRect">
            <a:avLst>
              <a:gd name="adj" fmla="val 20000"/>
            </a:avLst>
          </a:prstGeom>
          <a:solidFill>
            <a:srgbClr val="E9F0F0"/>
          </a:solidFill>
          <a:ln/>
        </p:spPr>
      </p:sp>
      <p:pic>
        <p:nvPicPr>
          <p:cNvPr id="43" name="A5-li" descr="preencoded.png">    </p:cNvPr>
          <p:cNvPicPr>
            <a:picLocks noChangeAspect="1"/>
          </p:cNvPicPr>
          <p:nvPr/>
        </p:nvPicPr>
        <p:blipFill>
          <a:blip r:embed="rId15"/>
          <a:stretch>
            <a:fillRect/>
          </a:stretch>
        </p:blipFill>
        <p:spPr>
          <a:xfrm>
            <a:off x="886968" y="5230368"/>
            <a:ext cx="219456" cy="219456"/>
          </a:xfrm>
          <a:prstGeom prst="rect">
            <a:avLst/>
          </a:prstGeom>
        </p:spPr>
      </p:pic>
      <p:sp>
        <p:nvSpPr>
          <p:cNvPr id="44" name="A5-lt"/>
          <p:cNvSpPr txBox="1"/>
          <p:nvPr/>
        </p:nvSpPr>
        <p:spPr>
          <a:xfrm>
            <a:off x="1252728" y="5065776"/>
            <a:ext cx="4069080" cy="548640"/>
          </a:xfrm>
          <a:prstGeom prst="rect">
            <a:avLst/>
          </a:prstGeom>
          <a:noFill/>
          <a:ln/>
        </p:spPr>
        <p:txBody>
          <a:bodyPr wrap="square" lIns="0" tIns="0" rIns="0" bIns="0" rtlCol="0" anchor="ctr"/>
          <a:lstStyle/>
          <a:p>
            <a:pPr indent="0" marL="0">
              <a:buNone/>
            </a:pPr>
            <a:r>
              <a:rPr lang="en-US" sz="1600" dirty="0">
                <a:solidFill>
                  <a:srgbClr val="4A5C5C"/>
                </a:solidFill>
                <a:latin typeface="Poppins" pitchFamily="34" charset="0"/>
                <a:ea typeface="Poppins" pitchFamily="34" charset="-122"/>
                <a:cs typeface="Poppins" pitchFamily="34" charset="-120"/>
              </a:rPr>
              <a:t>Theory and formulas</a:t>
            </a:r>
            <a:endParaRPr lang="en-US" sz="1600" dirty="0"/>
          </a:p>
        </p:txBody>
      </p:sp>
      <p:sp>
        <p:nvSpPr>
          <p:cNvPr id="45" name="A5-c"/>
          <p:cNvSpPr/>
          <p:nvPr/>
        </p:nvSpPr>
        <p:spPr>
          <a:xfrm>
            <a:off x="5903824" y="5148072"/>
            <a:ext cx="384048" cy="384048"/>
          </a:xfrm>
          <a:prstGeom prst="ellipse">
            <a:avLst/>
          </a:prstGeom>
          <a:solidFill>
            <a:srgbClr val="0CCCCC"/>
          </a:solidFill>
          <a:ln/>
        </p:spPr>
      </p:sp>
      <p:pic>
        <p:nvPicPr>
          <p:cNvPr id="46" name="A5-ci" descr="preencoded.png">    </p:cNvPr>
          <p:cNvPicPr>
            <a:picLocks noChangeAspect="1"/>
          </p:cNvPicPr>
          <p:nvPr/>
        </p:nvPicPr>
        <p:blipFill>
          <a:blip r:embed="rId16"/>
          <a:stretch>
            <a:fillRect/>
          </a:stretch>
        </p:blipFill>
        <p:spPr>
          <a:xfrm>
            <a:off x="5986120" y="5230368"/>
            <a:ext cx="219456" cy="219456"/>
          </a:xfrm>
          <a:prstGeom prst="rect">
            <a:avLst/>
          </a:prstGeom>
        </p:spPr>
      </p:pic>
      <p:sp>
        <p:nvSpPr>
          <p:cNvPr id="47" name="A5-r"/>
          <p:cNvSpPr/>
          <p:nvPr/>
        </p:nvSpPr>
        <p:spPr>
          <a:xfrm>
            <a:off x="6702552" y="5065776"/>
            <a:ext cx="4800600" cy="548640"/>
          </a:xfrm>
          <a:prstGeom prst="roundRect">
            <a:avLst>
              <a:gd name="adj" fmla="val 20000"/>
            </a:avLst>
          </a:prstGeom>
          <a:solidFill>
            <a:srgbClr val="0B1414"/>
          </a:solidFill>
          <a:ln/>
          <a:effectLst>
            <a:outerShdw sx="100000" sy="100000" kx="0" ky="0" algn="bl" rotWithShape="0" blurRad="127000" dist="38100" dir="5400000">
              <a:srgbClr val="000000">
                <a:alpha val="18000"/>
              </a:srgbClr>
            </a:outerShdw>
          </a:effectLst>
        </p:spPr>
      </p:sp>
      <p:pic>
        <p:nvPicPr>
          <p:cNvPr id="48" name="A5-ri" descr="preencoded.png">    </p:cNvPr>
          <p:cNvPicPr>
            <a:picLocks noChangeAspect="1"/>
          </p:cNvPicPr>
          <p:nvPr/>
        </p:nvPicPr>
        <p:blipFill>
          <a:blip r:embed="rId17"/>
          <a:stretch>
            <a:fillRect/>
          </a:stretch>
        </p:blipFill>
        <p:spPr>
          <a:xfrm>
            <a:off x="6903720" y="5221224"/>
            <a:ext cx="237744" cy="237744"/>
          </a:xfrm>
          <a:prstGeom prst="rect">
            <a:avLst/>
          </a:prstGeom>
        </p:spPr>
      </p:pic>
      <p:sp>
        <p:nvSpPr>
          <p:cNvPr id="49" name="A5-rt"/>
          <p:cNvSpPr txBox="1"/>
          <p:nvPr/>
        </p:nvSpPr>
        <p:spPr>
          <a:xfrm>
            <a:off x="7269480" y="5065776"/>
            <a:ext cx="4069080" cy="548640"/>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Working systems people actually use</a:t>
            </a:r>
            <a:endParaRPr lang="en-US" sz="1600" dirty="0"/>
          </a:p>
        </p:txBody>
      </p:sp>
      <p:sp>
        <p:nvSpPr>
          <p:cNvPr id="50" name="A6-ask"/>
          <p:cNvSpPr/>
          <p:nvPr/>
        </p:nvSpPr>
        <p:spPr>
          <a:xfrm>
            <a:off x="685800" y="5788152"/>
            <a:ext cx="10820095" cy="420624"/>
          </a:xfrm>
          <a:prstGeom prst="roundRect">
            <a:avLst>
              <a:gd name="adj" fmla="val 50000"/>
            </a:avLst>
          </a:prstGeom>
          <a:solidFill>
            <a:srgbClr val="DDF3F3"/>
          </a:solidFill>
          <a:ln/>
        </p:spPr>
      </p:sp>
      <p:pic>
        <p:nvPicPr>
          <p:cNvPr id="51" name="A6-askI" descr="preencoded.png">    </p:cNvPr>
          <p:cNvPicPr>
            <a:picLocks noChangeAspect="1"/>
          </p:cNvPicPr>
          <p:nvPr/>
        </p:nvPicPr>
        <p:blipFill>
          <a:blip r:embed="rId18"/>
          <a:stretch>
            <a:fillRect/>
          </a:stretch>
        </p:blipFill>
        <p:spPr>
          <a:xfrm>
            <a:off x="868680" y="5861304"/>
            <a:ext cx="274320" cy="274320"/>
          </a:xfrm>
          <a:prstGeom prst="rect">
            <a:avLst/>
          </a:prstGeom>
        </p:spPr>
      </p:pic>
      <p:sp>
        <p:nvSpPr>
          <p:cNvPr id="52" name="A6-askT"/>
          <p:cNvSpPr txBox="1"/>
          <p:nvPr/>
        </p:nvSpPr>
        <p:spPr>
          <a:xfrm>
            <a:off x="1280160" y="5788152"/>
            <a:ext cx="9875520" cy="420624"/>
          </a:xfrm>
          <a:prstGeom prst="rect">
            <a:avLst/>
          </a:prstGeom>
          <a:noFill/>
          <a:ln/>
        </p:spPr>
        <p:txBody>
          <a:bodyPr wrap="square" lIns="0" tIns="0" rIns="0" bIns="0" rtlCol="0" anchor="ctr"/>
          <a:lstStyle/>
          <a:p>
            <a:pPr indent="0" marL="0">
              <a:buNone/>
            </a:pPr>
            <a:r>
              <a:rPr lang="en-US" sz="1400" spc="200" kern="0" dirty="0">
                <a:solidFill>
                  <a:srgbClr val="017A7A"/>
                </a:solidFill>
                <a:latin typeface="Poppins SemiBold" pitchFamily="34" charset="0"/>
                <a:ea typeface="Poppins SemiBold" pitchFamily="34" charset="-122"/>
                <a:cs typeface="Poppins SemiBold" pitchFamily="34" charset="-120"/>
              </a:rPr>
              <a:t>ASK THE ROOM   </a:t>
            </a:r>
            <a:pPr indent="0" marL="0">
              <a:buNone/>
            </a:pPr>
            <a:r>
              <a:rPr lang="en-US" sz="1400" dirty="0">
                <a:solidFill>
                  <a:srgbClr val="0B1414"/>
                </a:solidFill>
                <a:latin typeface="Poppins" pitchFamily="34" charset="0"/>
                <a:ea typeface="Poppins" pitchFamily="34" charset="-122"/>
                <a:cs typeface="Poppins" pitchFamily="34" charset="-120"/>
              </a:rPr>
              <a:t>Hands up: who has built something that no course required?</a:t>
            </a:r>
            <a:endParaRPr lang="en-US" sz="1400" dirty="0"/>
          </a:p>
        </p:txBody>
      </p:sp>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7070"/>
                </a:solidFill>
                <a:latin typeface="Poppins SemiBold"/>
                <a:ea typeface="Poppins SemiBold"/>
                <a:cs typeface="Poppins SemiBold"/>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8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80"/>
                                        <p:tgtEl>
                                          <p:spTgt spid="5"/>
                                        </p:tgtEl>
                                      </p:cBhvr>
                                    </p:animEffect>
                                  </p:childTnLst>
                                </p:cTn>
                              </p:par>
                              <p:par>
                                <p:cTn id="11" presetID="10" presetClass="entr" presetSubtype="0" fill="hold" grpId="0" nodeType="withEffect">
                                  <p:stCondLst>
                                    <p:cond delay="32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80"/>
                                        <p:tgtEl>
                                          <p:spTgt spid="10"/>
                                        </p:tgtEl>
                                      </p:cBhvr>
                                    </p:animEffect>
                                  </p:childTnLst>
                                </p:cTn>
                              </p:par>
                              <p:par>
                                <p:cTn id="14" presetID="10" presetClass="entr" presetSubtype="0" fill="hold" grpId="0" nodeType="withEffect">
                                  <p:stCondLst>
                                    <p:cond delay="32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80"/>
                                        <p:tgtEl>
                                          <p:spTgt spid="11"/>
                                        </p:tgtEl>
                                      </p:cBhvr>
                                    </p:animEffect>
                                  </p:childTnLst>
                                </p:cTn>
                              </p:par>
                              <p:par>
                                <p:cTn id="17" presetID="10" presetClass="entr" presetSubtype="0" fill="hold" grpId="0" nodeType="withEffect">
                                  <p:stCondLst>
                                    <p:cond delay="32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80"/>
                                        <p:tgtEl>
                                          <p:spTgt spid="12"/>
                                        </p:tgtEl>
                                      </p:cBhvr>
                                    </p:animEffect>
                                  </p:childTnLst>
                                </p:cTn>
                              </p:par>
                              <p:par>
                                <p:cTn id="20" presetID="10" presetClass="entr" presetSubtype="0" fill="hold" grpId="0" nodeType="withEffect">
                                  <p:stCondLst>
                                    <p:cond delay="32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80"/>
                                        <p:tgtEl>
                                          <p:spTgt spid="13"/>
                                        </p:tgtEl>
                                      </p:cBhvr>
                                    </p:animEffect>
                                  </p:childTnLst>
                                </p:cTn>
                              </p:par>
                              <p:par>
                                <p:cTn id="23" presetID="10" presetClass="entr" presetSubtype="0" fill="hold" grpId="0" nodeType="withEffect">
                                  <p:stCondLst>
                                    <p:cond delay="32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80"/>
                                        <p:tgtEl>
                                          <p:spTgt spid="14"/>
                                        </p:tgtEl>
                                      </p:cBhvr>
                                    </p:animEffect>
                                  </p:childTnLst>
                                </p:cTn>
                              </p:par>
                              <p:par>
                                <p:cTn id="26" presetID="10" presetClass="entr" presetSubtype="0" fill="hold" grpId="0" nodeType="withEffect">
                                  <p:stCondLst>
                                    <p:cond delay="32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80"/>
                                        <p:tgtEl>
                                          <p:spTgt spid="15"/>
                                        </p:tgtEl>
                                      </p:cBhvr>
                                    </p:animEffect>
                                  </p:childTnLst>
                                </p:cTn>
                              </p:par>
                              <p:par>
                                <p:cTn id="29" presetID="10" presetClass="entr" presetSubtype="0" fill="hold" grpId="0" nodeType="withEffect">
                                  <p:stCondLst>
                                    <p:cond delay="32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80"/>
                                        <p:tgtEl>
                                          <p:spTgt spid="16"/>
                                        </p:tgtEl>
                                      </p:cBhvr>
                                    </p:animEffect>
                                  </p:childTnLst>
                                </p:cTn>
                              </p:par>
                              <p:par>
                                <p:cTn id="32" presetID="10" presetClass="entr" presetSubtype="0" fill="hold" grpId="0" nodeType="withEffect">
                                  <p:stCondLst>
                                    <p:cond delay="32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80"/>
                                        <p:tgtEl>
                                          <p:spTgt spid="17"/>
                                        </p:tgtEl>
                                      </p:cBhvr>
                                    </p:animEffect>
                                  </p:childTnLst>
                                </p:cTn>
                              </p:par>
                              <p:par>
                                <p:cTn id="35" presetID="10" presetClass="entr" presetSubtype="0" fill="hold" grpId="0" nodeType="withEffect">
                                  <p:stCondLst>
                                    <p:cond delay="64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80"/>
                                        <p:tgtEl>
                                          <p:spTgt spid="18"/>
                                        </p:tgtEl>
                                      </p:cBhvr>
                                    </p:animEffect>
                                  </p:childTnLst>
                                </p:cTn>
                              </p:par>
                              <p:par>
                                <p:cTn id="38" presetID="10" presetClass="entr" presetSubtype="0" fill="hold" grpId="0" nodeType="withEffect">
                                  <p:stCondLst>
                                    <p:cond delay="64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80"/>
                                        <p:tgtEl>
                                          <p:spTgt spid="19"/>
                                        </p:tgtEl>
                                      </p:cBhvr>
                                    </p:animEffect>
                                  </p:childTnLst>
                                </p:cTn>
                              </p:par>
                              <p:par>
                                <p:cTn id="41" presetID="10" presetClass="entr" presetSubtype="0" fill="hold" grpId="0" nodeType="withEffect">
                                  <p:stCondLst>
                                    <p:cond delay="64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80"/>
                                        <p:tgtEl>
                                          <p:spTgt spid="20"/>
                                        </p:tgtEl>
                                      </p:cBhvr>
                                    </p:animEffect>
                                  </p:childTnLst>
                                </p:cTn>
                              </p:par>
                              <p:par>
                                <p:cTn id="44" presetID="10" presetClass="entr" presetSubtype="0" fill="hold" grpId="0" nodeType="withEffect">
                                  <p:stCondLst>
                                    <p:cond delay="64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80"/>
                                        <p:tgtEl>
                                          <p:spTgt spid="21"/>
                                        </p:tgtEl>
                                      </p:cBhvr>
                                    </p:animEffect>
                                  </p:childTnLst>
                                </p:cTn>
                              </p:par>
                              <p:par>
                                <p:cTn id="47" presetID="10" presetClass="entr" presetSubtype="0" fill="hold" grpId="0" nodeType="withEffect">
                                  <p:stCondLst>
                                    <p:cond delay="64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80"/>
                                        <p:tgtEl>
                                          <p:spTgt spid="22"/>
                                        </p:tgtEl>
                                      </p:cBhvr>
                                    </p:animEffect>
                                  </p:childTnLst>
                                </p:cTn>
                              </p:par>
                              <p:par>
                                <p:cTn id="50" presetID="10" presetClass="entr" presetSubtype="0" fill="hold" grpId="0" nodeType="withEffect">
                                  <p:stCondLst>
                                    <p:cond delay="64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80"/>
                                        <p:tgtEl>
                                          <p:spTgt spid="23"/>
                                        </p:tgtEl>
                                      </p:cBhvr>
                                    </p:animEffect>
                                  </p:childTnLst>
                                </p:cTn>
                              </p:par>
                              <p:par>
                                <p:cTn id="53" presetID="10" presetClass="entr" presetSubtype="0" fill="hold" grpId="0" nodeType="withEffect">
                                  <p:stCondLst>
                                    <p:cond delay="64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80"/>
                                        <p:tgtEl>
                                          <p:spTgt spid="24"/>
                                        </p:tgtEl>
                                      </p:cBhvr>
                                    </p:animEffect>
                                  </p:childTnLst>
                                </p:cTn>
                              </p:par>
                              <p:par>
                                <p:cTn id="56" presetID="10" presetClass="entr" presetSubtype="0" fill="hold" grpId="0" nodeType="withEffect">
                                  <p:stCondLst>
                                    <p:cond delay="64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80"/>
                                        <p:tgtEl>
                                          <p:spTgt spid="25"/>
                                        </p:tgtEl>
                                      </p:cBhvr>
                                    </p:animEffect>
                                  </p:childTnLst>
                                </p:cTn>
                              </p:par>
                              <p:par>
                                <p:cTn id="59" presetID="10" presetClass="entr" presetSubtype="0" fill="hold" grpId="0" nodeType="withEffect">
                                  <p:stCondLst>
                                    <p:cond delay="96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80"/>
                                        <p:tgtEl>
                                          <p:spTgt spid="26"/>
                                        </p:tgtEl>
                                      </p:cBhvr>
                                    </p:animEffect>
                                  </p:childTnLst>
                                </p:cTn>
                              </p:par>
                              <p:par>
                                <p:cTn id="62" presetID="10" presetClass="entr" presetSubtype="0" fill="hold" grpId="0" nodeType="withEffect">
                                  <p:stCondLst>
                                    <p:cond delay="96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80"/>
                                        <p:tgtEl>
                                          <p:spTgt spid="27"/>
                                        </p:tgtEl>
                                      </p:cBhvr>
                                    </p:animEffect>
                                  </p:childTnLst>
                                </p:cTn>
                              </p:par>
                              <p:par>
                                <p:cTn id="65" presetID="10" presetClass="entr" presetSubtype="0" fill="hold" grpId="0" nodeType="withEffect">
                                  <p:stCondLst>
                                    <p:cond delay="96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80"/>
                                        <p:tgtEl>
                                          <p:spTgt spid="28"/>
                                        </p:tgtEl>
                                      </p:cBhvr>
                                    </p:animEffect>
                                  </p:childTnLst>
                                </p:cTn>
                              </p:par>
                              <p:par>
                                <p:cTn id="68" presetID="10" presetClass="entr" presetSubtype="0" fill="hold" grpId="0" nodeType="withEffect">
                                  <p:stCondLst>
                                    <p:cond delay="96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80"/>
                                        <p:tgtEl>
                                          <p:spTgt spid="29"/>
                                        </p:tgtEl>
                                      </p:cBhvr>
                                    </p:animEffect>
                                  </p:childTnLst>
                                </p:cTn>
                              </p:par>
                              <p:par>
                                <p:cTn id="71" presetID="10" presetClass="entr" presetSubtype="0" fill="hold" grpId="0" nodeType="withEffect">
                                  <p:stCondLst>
                                    <p:cond delay="96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80"/>
                                        <p:tgtEl>
                                          <p:spTgt spid="30"/>
                                        </p:tgtEl>
                                      </p:cBhvr>
                                    </p:animEffect>
                                  </p:childTnLst>
                                </p:cTn>
                              </p:par>
                              <p:par>
                                <p:cTn id="74" presetID="10" presetClass="entr" presetSubtype="0" fill="hold" grpId="0" nodeType="withEffect">
                                  <p:stCondLst>
                                    <p:cond delay="96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80"/>
                                        <p:tgtEl>
                                          <p:spTgt spid="31"/>
                                        </p:tgtEl>
                                      </p:cBhvr>
                                    </p:animEffect>
                                  </p:childTnLst>
                                </p:cTn>
                              </p:par>
                              <p:par>
                                <p:cTn id="77" presetID="10" presetClass="entr" presetSubtype="0" fill="hold" grpId="0" nodeType="withEffect">
                                  <p:stCondLst>
                                    <p:cond delay="96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80"/>
                                        <p:tgtEl>
                                          <p:spTgt spid="32"/>
                                        </p:tgtEl>
                                      </p:cBhvr>
                                    </p:animEffect>
                                  </p:childTnLst>
                                </p:cTn>
                              </p:par>
                              <p:par>
                                <p:cTn id="80" presetID="10" presetClass="entr" presetSubtype="0" fill="hold" grpId="0" nodeType="withEffect">
                                  <p:stCondLst>
                                    <p:cond delay="96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80"/>
                                        <p:tgtEl>
                                          <p:spTgt spid="33"/>
                                        </p:tgtEl>
                                      </p:cBhvr>
                                    </p:animEffect>
                                  </p:childTnLst>
                                </p:cTn>
                              </p:par>
                              <p:par>
                                <p:cTn id="83" presetID="10" presetClass="entr" presetSubtype="0" fill="hold" grpId="0" nodeType="withEffect">
                                  <p:stCondLst>
                                    <p:cond delay="128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80"/>
                                        <p:tgtEl>
                                          <p:spTgt spid="34"/>
                                        </p:tgtEl>
                                      </p:cBhvr>
                                    </p:animEffect>
                                  </p:childTnLst>
                                </p:cTn>
                              </p:par>
                              <p:par>
                                <p:cTn id="86" presetID="10" presetClass="entr" presetSubtype="0" fill="hold" grpId="0" nodeType="withEffect">
                                  <p:stCondLst>
                                    <p:cond delay="128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80"/>
                                        <p:tgtEl>
                                          <p:spTgt spid="35"/>
                                        </p:tgtEl>
                                      </p:cBhvr>
                                    </p:animEffect>
                                  </p:childTnLst>
                                </p:cTn>
                              </p:par>
                              <p:par>
                                <p:cTn id="89" presetID="10" presetClass="entr" presetSubtype="0" fill="hold" grpId="0" nodeType="withEffect">
                                  <p:stCondLst>
                                    <p:cond delay="128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80"/>
                                        <p:tgtEl>
                                          <p:spTgt spid="36"/>
                                        </p:tgtEl>
                                      </p:cBhvr>
                                    </p:animEffect>
                                  </p:childTnLst>
                                </p:cTn>
                              </p:par>
                              <p:par>
                                <p:cTn id="92" presetID="10" presetClass="entr" presetSubtype="0" fill="hold" grpId="0" nodeType="withEffect">
                                  <p:stCondLst>
                                    <p:cond delay="128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80"/>
                                        <p:tgtEl>
                                          <p:spTgt spid="37"/>
                                        </p:tgtEl>
                                      </p:cBhvr>
                                    </p:animEffect>
                                  </p:childTnLst>
                                </p:cTn>
                              </p:par>
                              <p:par>
                                <p:cTn id="95" presetID="10" presetClass="entr" presetSubtype="0" fill="hold" grpId="0" nodeType="withEffect">
                                  <p:stCondLst>
                                    <p:cond delay="128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480"/>
                                        <p:tgtEl>
                                          <p:spTgt spid="38"/>
                                        </p:tgtEl>
                                      </p:cBhvr>
                                    </p:animEffect>
                                  </p:childTnLst>
                                </p:cTn>
                              </p:par>
                              <p:par>
                                <p:cTn id="98" presetID="10" presetClass="entr" presetSubtype="0" fill="hold" grpId="0" nodeType="withEffect">
                                  <p:stCondLst>
                                    <p:cond delay="128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480"/>
                                        <p:tgtEl>
                                          <p:spTgt spid="39"/>
                                        </p:tgtEl>
                                      </p:cBhvr>
                                    </p:animEffect>
                                  </p:childTnLst>
                                </p:cTn>
                              </p:par>
                              <p:par>
                                <p:cTn id="101" presetID="10" presetClass="entr" presetSubtype="0" fill="hold" grpId="0" nodeType="withEffect">
                                  <p:stCondLst>
                                    <p:cond delay="128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480"/>
                                        <p:tgtEl>
                                          <p:spTgt spid="40"/>
                                        </p:tgtEl>
                                      </p:cBhvr>
                                    </p:animEffect>
                                  </p:childTnLst>
                                </p:cTn>
                              </p:par>
                              <p:par>
                                <p:cTn id="104" presetID="10" presetClass="entr" presetSubtype="0" fill="hold" grpId="0" nodeType="withEffect">
                                  <p:stCondLst>
                                    <p:cond delay="1280"/>
                                  </p:stCondLst>
                                  <p:childTnLst>
                                    <p:set>
                                      <p:cBhvr>
                                        <p:cTn id="105" dur="1" fill="hold">
                                          <p:stCondLst>
                                            <p:cond delay="0"/>
                                          </p:stCondLst>
                                        </p:cTn>
                                        <p:tgtEl>
                                          <p:spTgt spid="41"/>
                                        </p:tgtEl>
                                        <p:attrNameLst>
                                          <p:attrName>style.visibility</p:attrName>
                                        </p:attrNameLst>
                                      </p:cBhvr>
                                      <p:to>
                                        <p:strVal val="visible"/>
                                      </p:to>
                                    </p:set>
                                    <p:animEffect transition="in" filter="fade">
                                      <p:cBhvr>
                                        <p:cTn id="106" dur="480"/>
                                        <p:tgtEl>
                                          <p:spTgt spid="41"/>
                                        </p:tgtEl>
                                      </p:cBhvr>
                                    </p:animEffect>
                                  </p:childTnLst>
                                </p:cTn>
                              </p:par>
                              <p:par>
                                <p:cTn id="107" presetID="10" presetClass="entr" presetSubtype="0" fill="hold" grpId="0" nodeType="withEffect">
                                  <p:stCondLst>
                                    <p:cond delay="1600"/>
                                  </p:stCondLst>
                                  <p:childTnLst>
                                    <p:set>
                                      <p:cBhvr>
                                        <p:cTn id="108" dur="1" fill="hold">
                                          <p:stCondLst>
                                            <p:cond delay="0"/>
                                          </p:stCondLst>
                                        </p:cTn>
                                        <p:tgtEl>
                                          <p:spTgt spid="42"/>
                                        </p:tgtEl>
                                        <p:attrNameLst>
                                          <p:attrName>style.visibility</p:attrName>
                                        </p:attrNameLst>
                                      </p:cBhvr>
                                      <p:to>
                                        <p:strVal val="visible"/>
                                      </p:to>
                                    </p:set>
                                    <p:animEffect transition="in" filter="fade">
                                      <p:cBhvr>
                                        <p:cTn id="109" dur="480"/>
                                        <p:tgtEl>
                                          <p:spTgt spid="42"/>
                                        </p:tgtEl>
                                      </p:cBhvr>
                                    </p:animEffect>
                                  </p:childTnLst>
                                </p:cTn>
                              </p:par>
                              <p:par>
                                <p:cTn id="110" presetID="10" presetClass="entr" presetSubtype="0" fill="hold" grpId="0" nodeType="withEffect">
                                  <p:stCondLst>
                                    <p:cond delay="160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2" dur="480"/>
                                        <p:tgtEl>
                                          <p:spTgt spid="43"/>
                                        </p:tgtEl>
                                      </p:cBhvr>
                                    </p:animEffect>
                                  </p:childTnLst>
                                </p:cTn>
                              </p:par>
                              <p:par>
                                <p:cTn id="113" presetID="10" presetClass="entr" presetSubtype="0" fill="hold" grpId="0" nodeType="withEffect">
                                  <p:stCondLst>
                                    <p:cond delay="160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5" dur="480"/>
                                        <p:tgtEl>
                                          <p:spTgt spid="44"/>
                                        </p:tgtEl>
                                      </p:cBhvr>
                                    </p:animEffect>
                                  </p:childTnLst>
                                </p:cTn>
                              </p:par>
                              <p:par>
                                <p:cTn id="116" presetID="10" presetClass="entr" presetSubtype="0" fill="hold" grpId="0" nodeType="withEffect">
                                  <p:stCondLst>
                                    <p:cond delay="160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8" dur="480"/>
                                        <p:tgtEl>
                                          <p:spTgt spid="45"/>
                                        </p:tgtEl>
                                      </p:cBhvr>
                                    </p:animEffect>
                                  </p:childTnLst>
                                </p:cTn>
                              </p:par>
                              <p:par>
                                <p:cTn id="119" presetID="10" presetClass="entr" presetSubtype="0" fill="hold" grpId="0" nodeType="withEffect">
                                  <p:stCondLst>
                                    <p:cond delay="160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21" dur="480"/>
                                        <p:tgtEl>
                                          <p:spTgt spid="46"/>
                                        </p:tgtEl>
                                      </p:cBhvr>
                                    </p:animEffect>
                                  </p:childTnLst>
                                </p:cTn>
                              </p:par>
                              <p:par>
                                <p:cTn id="122" presetID="10" presetClass="entr" presetSubtype="0" fill="hold" grpId="0" nodeType="withEffect">
                                  <p:stCondLst>
                                    <p:cond delay="1600"/>
                                  </p:stCondLst>
                                  <p:childTnLst>
                                    <p:set>
                                      <p:cBhvr>
                                        <p:cTn id="123" dur="1" fill="hold">
                                          <p:stCondLst>
                                            <p:cond delay="0"/>
                                          </p:stCondLst>
                                        </p:cTn>
                                        <p:tgtEl>
                                          <p:spTgt spid="47"/>
                                        </p:tgtEl>
                                        <p:attrNameLst>
                                          <p:attrName>style.visibility</p:attrName>
                                        </p:attrNameLst>
                                      </p:cBhvr>
                                      <p:to>
                                        <p:strVal val="visible"/>
                                      </p:to>
                                    </p:set>
                                    <p:animEffect transition="in" filter="fade">
                                      <p:cBhvr>
                                        <p:cTn id="124" dur="480"/>
                                        <p:tgtEl>
                                          <p:spTgt spid="47"/>
                                        </p:tgtEl>
                                      </p:cBhvr>
                                    </p:animEffect>
                                  </p:childTnLst>
                                </p:cTn>
                              </p:par>
                              <p:par>
                                <p:cTn id="125" presetID="10" presetClass="entr" presetSubtype="0" fill="hold" grpId="0" nodeType="withEffect">
                                  <p:stCondLst>
                                    <p:cond delay="160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7" dur="480"/>
                                        <p:tgtEl>
                                          <p:spTgt spid="48"/>
                                        </p:tgtEl>
                                      </p:cBhvr>
                                    </p:animEffect>
                                  </p:childTnLst>
                                </p:cTn>
                              </p:par>
                              <p:par>
                                <p:cTn id="128" presetID="10" presetClass="entr" presetSubtype="0" fill="hold" grpId="0" nodeType="withEffect">
                                  <p:stCondLst>
                                    <p:cond delay="160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30" dur="480"/>
                                        <p:tgtEl>
                                          <p:spTgt spid="49"/>
                                        </p:tgtEl>
                                      </p:cBhvr>
                                    </p:animEffect>
                                  </p:childTnLst>
                                </p:cTn>
                              </p:par>
                              <p:par>
                                <p:cTn id="131" presetID="10" presetClass="entr" presetSubtype="0" fill="hold" grpId="0" nodeType="withEffect">
                                  <p:stCondLst>
                                    <p:cond delay="192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3" dur="480"/>
                                        <p:tgtEl>
                                          <p:spTgt spid="50"/>
                                        </p:tgtEl>
                                      </p:cBhvr>
                                    </p:animEffect>
                                  </p:childTnLst>
                                </p:cTn>
                              </p:par>
                              <p:par>
                                <p:cTn id="134" presetID="10" presetClass="entr" presetSubtype="0" fill="hold" grpId="0" nodeType="withEffect">
                                  <p:stCondLst>
                                    <p:cond delay="192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6" dur="480"/>
                                        <p:tgtEl>
                                          <p:spTgt spid="51"/>
                                        </p:tgtEl>
                                      </p:cBhvr>
                                    </p:animEffect>
                                  </p:childTnLst>
                                </p:cTn>
                              </p:par>
                              <p:par>
                                <p:cTn id="137" presetID="10" presetClass="entr" presetSubtype="0" fill="hold" grpId="0" nodeType="withEffect">
                                  <p:stCondLst>
                                    <p:cond delay="1920"/>
                                  </p:stCondLst>
                                  <p:childTnLst>
                                    <p:set>
                                      <p:cBhvr>
                                        <p:cTn id="138" dur="1" fill="hold">
                                          <p:stCondLst>
                                            <p:cond delay="0"/>
                                          </p:stCondLst>
                                        </p:cTn>
                                        <p:tgtEl>
                                          <p:spTgt spid="52"/>
                                        </p:tgtEl>
                                        <p:attrNameLst>
                                          <p:attrName>style.visibility</p:attrName>
                                        </p:attrNameLst>
                                      </p:cBhvr>
                                      <p:to>
                                        <p:strVal val="visible"/>
                                      </p:to>
                                    </p:set>
                                    <p:animEffect transition="in" filter="fade">
                                      <p:cBhvr>
                                        <p:cTn id="139" dur="48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0" grpId="0" animBg="1"/>
      <p:bldP spid="12" grpId="0" animBg="1"/>
      <p:bldP spid="13" grpId="0" animBg="1"/>
      <p:bldP spid="15" grpId="0" animBg="1"/>
      <p:bldP spid="17" grpId="0" animBg="1"/>
      <p:bldP spid="18" grpId="0" animBg="1"/>
      <p:bldP spid="20" grpId="0" animBg="1"/>
      <p:bldP spid="21" grpId="0" animBg="1"/>
      <p:bldP spid="23" grpId="0" animBg="1"/>
      <p:bldP spid="25" grpId="0" animBg="1"/>
      <p:bldP spid="26" grpId="0" animBg="1"/>
      <p:bldP spid="28" grpId="0" animBg="1"/>
      <p:bldP spid="29" grpId="0" animBg="1"/>
      <p:bldP spid="31" grpId="0" animBg="1"/>
      <p:bldP spid="33" grpId="0" animBg="1"/>
      <p:bldP spid="34" grpId="0" animBg="1"/>
      <p:bldP spid="36" grpId="0" animBg="1"/>
      <p:bldP spid="37" grpId="0" animBg="1"/>
      <p:bldP spid="39" grpId="0" animBg="1"/>
      <p:bldP spid="41" grpId="0" animBg="1"/>
      <p:bldP spid="42" grpId="0" animBg="1"/>
      <p:bldP spid="44" grpId="0" animBg="1"/>
      <p:bldP spid="45" grpId="0" animBg="1"/>
      <p:bldP spid="47" grpId="0" animBg="1"/>
      <p:bldP spid="49" grpId="0" animBg="1"/>
      <p:bldP spid="50" grpId="0" animBg="1"/>
      <p:bldP spid="5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ivate/tmp/claude-501/-Users-swibit-skillture/f1e62dc3-dfc1-4d04-897a-70d066cdcef5/scratchpad/deck/img/pat_full.png">    </p:cNvPr>
          <p:cNvPicPr>
            <a:picLocks noChangeAspect="1"/>
          </p:cNvPicPr>
          <p:nvPr/>
        </p:nvPicPr>
        <p:blipFill>
          <a:blip r:embed="rId1"/>
          <a:stretch>
            <a:fillRect/>
          </a:stretch>
        </p:blipFill>
        <p:spPr>
          <a:xfrm>
            <a:off x="0" y="0"/>
            <a:ext cx="12191695" cy="6858000"/>
          </a:xfrm>
          <a:prstGeom prst="rect">
            <a:avLst/>
          </a:prstGeom>
        </p:spPr>
      </p:pic>
      <p:sp>
        <p:nvSpPr>
          <p:cNvPr id="4" name="A0-eyebrow"/>
          <p:cNvSpPr txBox="1"/>
          <p:nvPr/>
        </p:nvSpPr>
        <p:spPr>
          <a:xfrm>
            <a:off x="685800" y="457200"/>
            <a:ext cx="8229600" cy="274320"/>
          </a:xfrm>
          <a:prstGeom prst="rect">
            <a:avLst/>
          </a:prstGeom>
          <a:noFill/>
          <a:ln/>
        </p:spPr>
        <p:txBody>
          <a:bodyPr wrap="square" lIns="0" tIns="0" rIns="0" bIns="0" rtlCol="0" anchor="t"/>
          <a:lstStyle/>
          <a:p>
            <a:pPr indent="0" marL="0">
              <a:buNone/>
            </a:pPr>
            <a:r>
              <a:rPr lang="en-US" sz="1200" spc="300" kern="0" dirty="0">
                <a:solidFill>
                  <a:srgbClr val="0CCCCC"/>
                </a:solidFill>
                <a:latin typeface="Poppins SemiBold" pitchFamily="34" charset="0"/>
                <a:ea typeface="Poppins SemiBold" pitchFamily="34" charset="-122"/>
                <a:cs typeface="Poppins SemiBold" pitchFamily="34" charset="-120"/>
              </a:rPr>
              <a:t>02  ·  WHAT EMPLOYERS LOOK FOR</a:t>
            </a:r>
            <a:endParaRPr lang="en-US" sz="1200" dirty="0"/>
          </a:p>
        </p:txBody>
      </p:sp>
      <p:sp>
        <p:nvSpPr>
          <p:cNvPr id="5" name="Text 1"/>
          <p:cNvSpPr/>
          <p:nvPr>
            <p:ph idx="102" type="title" hasCustomPrompt="1"/>
          </p:nvPr>
        </p:nvSpPr>
        <p:spPr>
          <a:xfrm>
            <a:off x="685800" y="749808"/>
            <a:ext cx="10820095" cy="685800"/>
          </a:xfrm>
          <a:prstGeom prst="rect">
            <a:avLst/>
          </a:prstGeom>
          <a:noFill/>
          <a:ln/>
        </p:spPr>
        <p:txBody>
          <a:bodyPr wrap="square" lIns="0" tIns="0" rIns="0" bIns="0" rtlCol="0" anchor="t"/>
          <a:lstStyle/>
          <a:p>
            <a:pPr algn="l" indent="0" marL="0">
              <a:buNone/>
            </a:pPr>
            <a:r>
              <a:rPr lang="en-US" sz="3600" dirty="0">
                <a:solidFill>
                  <a:srgbClr val="FFFFFF"/>
                </a:solidFill>
                <a:latin typeface="Poppins ExtraBold" pitchFamily="34" charset="0"/>
                <a:ea typeface="Poppins ExtraBold" pitchFamily="34" charset="-122"/>
                <a:cs typeface="Poppins ExtraBold" pitchFamily="34" charset="-120"/>
              </a:rPr>
              <a:t>The Skills That Actually Get You Hired</a:t>
            </a:r>
            <a:endParaRPr lang="en-US" sz="3600" dirty="0"/>
          </a:p>
        </p:txBody>
      </p:sp>
      <p:pic>
        <p:nvPicPr>
          <p:cNvPr id="6" name="Image 1" descr="/private/tmp/claude-501/-Users-swibit-skillture/f1e62dc3-dfc1-4d04-897a-70d066cdcef5/scratchpad/deck/img/glow_turq.png">    </p:cNvPr>
          <p:cNvPicPr>
            <a:picLocks noChangeAspect="1"/>
          </p:cNvPicPr>
          <p:nvPr/>
        </p:nvPicPr>
        <p:blipFill>
          <a:blip r:embed="rId2">
            <a:alphaModFix amt="50000"/>
          </a:blip>
          <a:stretch>
            <a:fillRect/>
          </a:stretch>
        </p:blipFill>
        <p:spPr>
          <a:xfrm>
            <a:off x="3992728" y="1664208"/>
            <a:ext cx="4206240" cy="4206240"/>
          </a:xfrm>
          <a:prstGeom prst="rect">
            <a:avLst/>
          </a:prstGeom>
        </p:spPr>
      </p:pic>
      <p:pic>
        <p:nvPicPr>
          <p:cNvPr id="7" name="A1-brain" descr="3D Skillture brain logo">    </p:cNvPr>
          <p:cNvPicPr>
            <a:picLocks noChangeAspect="1"/>
          </p:cNvPicPr>
          <p:nvPr/>
        </p:nvPicPr>
        <p:blipFill>
          <a:blip r:embed="rId3"/>
          <a:stretch>
            <a:fillRect/>
          </a:stretch>
        </p:blipFill>
        <p:spPr>
          <a:xfrm>
            <a:off x="5031006" y="2692908"/>
            <a:ext cx="2129682" cy="2148840"/>
          </a:xfrm>
          <a:prstGeom prst="rect">
            <a:avLst/>
          </a:prstGeom>
        </p:spPr>
      </p:pic>
      <p:sp>
        <p:nvSpPr>
          <p:cNvPr id="8" name="A2-ic0"/>
          <p:cNvSpPr/>
          <p:nvPr/>
        </p:nvSpPr>
        <p:spPr>
          <a:xfrm>
            <a:off x="4160520" y="1828800"/>
            <a:ext cx="603504" cy="603504"/>
          </a:xfrm>
          <a:prstGeom prst="ellipse">
            <a:avLst/>
          </a:prstGeom>
          <a:solidFill>
            <a:srgbClr val="122021"/>
          </a:solidFill>
          <a:ln w="12700">
            <a:solidFill>
              <a:srgbClr val="01A3A3"/>
            </a:solidFill>
            <a:prstDash val="solid"/>
          </a:ln>
        </p:spPr>
      </p:sp>
      <p:pic>
        <p:nvPicPr>
          <p:cNvPr id="9" name="A2-ic0-i" descr="preencoded.png">    </p:cNvPr>
          <p:cNvPicPr>
            <a:picLocks noChangeAspect="1"/>
          </p:cNvPicPr>
          <p:nvPr/>
        </p:nvPicPr>
        <p:blipFill>
          <a:blip r:embed="rId4"/>
          <a:stretch>
            <a:fillRect/>
          </a:stretch>
        </p:blipFill>
        <p:spPr>
          <a:xfrm>
            <a:off x="4305361" y="1973641"/>
            <a:ext cx="313822" cy="313822"/>
          </a:xfrm>
          <a:prstGeom prst="rect">
            <a:avLst/>
          </a:prstGeom>
        </p:spPr>
      </p:pic>
      <p:sp>
        <p:nvSpPr>
          <p:cNvPr id="10" name="A2-t0"/>
          <p:cNvSpPr txBox="1"/>
          <p:nvPr/>
        </p:nvSpPr>
        <p:spPr>
          <a:xfrm>
            <a:off x="685800" y="1810512"/>
            <a:ext cx="3310128" cy="365760"/>
          </a:xfrm>
          <a:prstGeom prst="rect">
            <a:avLst/>
          </a:prstGeom>
          <a:noFill/>
          <a:ln/>
        </p:spPr>
        <p:txBody>
          <a:bodyPr wrap="square" lIns="0" tIns="0" rIns="0" bIns="0" rtlCol="0" anchor="t"/>
          <a:lstStyle/>
          <a:p>
            <a:pPr algn="r" indent="0" marL="0">
              <a:buNone/>
            </a:pPr>
            <a:r>
              <a:rPr lang="en-US" sz="1900" dirty="0">
                <a:solidFill>
                  <a:srgbClr val="FFFFFF"/>
                </a:solidFill>
                <a:latin typeface="Poppins SemiBold" pitchFamily="34" charset="0"/>
                <a:ea typeface="Poppins SemiBold" pitchFamily="34" charset="-122"/>
                <a:cs typeface="Poppins SemiBold" pitchFamily="34" charset="-120"/>
              </a:rPr>
              <a:t>Problem-solving</a:t>
            </a:r>
            <a:endParaRPr lang="en-US" sz="1900" dirty="0"/>
          </a:p>
        </p:txBody>
      </p:sp>
      <p:sp>
        <p:nvSpPr>
          <p:cNvPr id="11" name="A2-d0"/>
          <p:cNvSpPr txBox="1"/>
          <p:nvPr/>
        </p:nvSpPr>
        <p:spPr>
          <a:xfrm>
            <a:off x="685800" y="2194560"/>
            <a:ext cx="3310128" cy="566928"/>
          </a:xfrm>
          <a:prstGeom prst="rect">
            <a:avLst/>
          </a:prstGeom>
          <a:noFill/>
          <a:ln/>
        </p:spPr>
        <p:txBody>
          <a:bodyPr wrap="square" lIns="0" tIns="0" rIns="0" bIns="0" rtlCol="0" anchor="t"/>
          <a:lstStyle/>
          <a:p>
            <a:pPr algn="r" indent="0" marL="0">
              <a:buNone/>
            </a:pPr>
            <a:r>
              <a:rPr lang="en-US" sz="1400" dirty="0">
                <a:solidFill>
                  <a:srgbClr val="9FB0B0"/>
                </a:solidFill>
                <a:latin typeface="Poppins" pitchFamily="34" charset="0"/>
                <a:ea typeface="Poppins" pitchFamily="34" charset="-122"/>
                <a:cs typeface="Poppins" pitchFamily="34" charset="-120"/>
              </a:rPr>
              <a:t>Break a messy problem into steps you can test.</a:t>
            </a:r>
            <a:endParaRPr lang="en-US" sz="1400" dirty="0"/>
          </a:p>
        </p:txBody>
      </p:sp>
      <p:sp>
        <p:nvSpPr>
          <p:cNvPr id="12" name="A2-ln0"/>
          <p:cNvSpPr/>
          <p:nvPr/>
        </p:nvSpPr>
        <p:spPr>
          <a:xfrm>
            <a:off x="4818888" y="2130552"/>
            <a:ext cx="362560" cy="900227"/>
          </a:xfrm>
          <a:prstGeom prst="line">
            <a:avLst/>
          </a:prstGeom>
          <a:noFill/>
          <a:ln w="12700">
            <a:solidFill>
              <a:srgbClr val="01A3A3">
                <a:alpha val="70000"/>
              </a:srgbClr>
            </a:solidFill>
            <a:prstDash val="dash"/>
          </a:ln>
        </p:spPr>
      </p:sp>
      <p:sp>
        <p:nvSpPr>
          <p:cNvPr id="13" name="A3-ic1"/>
          <p:cNvSpPr/>
          <p:nvPr/>
        </p:nvSpPr>
        <p:spPr>
          <a:xfrm>
            <a:off x="4160520" y="3291840"/>
            <a:ext cx="603504" cy="603504"/>
          </a:xfrm>
          <a:prstGeom prst="ellipse">
            <a:avLst/>
          </a:prstGeom>
          <a:solidFill>
            <a:srgbClr val="122021"/>
          </a:solidFill>
          <a:ln w="12700">
            <a:solidFill>
              <a:srgbClr val="01A3A3"/>
            </a:solidFill>
            <a:prstDash val="solid"/>
          </a:ln>
        </p:spPr>
      </p:sp>
      <p:pic>
        <p:nvPicPr>
          <p:cNvPr id="14" name="A3-ic1-i" descr="preencoded.png">    </p:cNvPr>
          <p:cNvPicPr>
            <a:picLocks noChangeAspect="1"/>
          </p:cNvPicPr>
          <p:nvPr/>
        </p:nvPicPr>
        <p:blipFill>
          <a:blip r:embed="rId5"/>
          <a:stretch>
            <a:fillRect/>
          </a:stretch>
        </p:blipFill>
        <p:spPr>
          <a:xfrm>
            <a:off x="4305361" y="3436681"/>
            <a:ext cx="313822" cy="313822"/>
          </a:xfrm>
          <a:prstGeom prst="rect">
            <a:avLst/>
          </a:prstGeom>
        </p:spPr>
      </p:pic>
      <p:sp>
        <p:nvSpPr>
          <p:cNvPr id="15" name="A3-t1"/>
          <p:cNvSpPr txBox="1"/>
          <p:nvPr/>
        </p:nvSpPr>
        <p:spPr>
          <a:xfrm>
            <a:off x="685800" y="3273552"/>
            <a:ext cx="3310128" cy="365760"/>
          </a:xfrm>
          <a:prstGeom prst="rect">
            <a:avLst/>
          </a:prstGeom>
          <a:noFill/>
          <a:ln/>
        </p:spPr>
        <p:txBody>
          <a:bodyPr wrap="square" lIns="0" tIns="0" rIns="0" bIns="0" rtlCol="0" anchor="t"/>
          <a:lstStyle/>
          <a:p>
            <a:pPr algn="r" indent="0" marL="0">
              <a:buNone/>
            </a:pPr>
            <a:r>
              <a:rPr lang="en-US" sz="1900" dirty="0">
                <a:solidFill>
                  <a:srgbClr val="FFFFFF"/>
                </a:solidFill>
                <a:latin typeface="Poppins SemiBold" pitchFamily="34" charset="0"/>
                <a:ea typeface="Poppins SemiBold" pitchFamily="34" charset="-122"/>
                <a:cs typeface="Poppins SemiBold" pitchFamily="34" charset="-120"/>
              </a:rPr>
              <a:t>Communication</a:t>
            </a:r>
            <a:endParaRPr lang="en-US" sz="1900" dirty="0"/>
          </a:p>
        </p:txBody>
      </p:sp>
      <p:sp>
        <p:nvSpPr>
          <p:cNvPr id="16" name="A3-d1"/>
          <p:cNvSpPr txBox="1"/>
          <p:nvPr/>
        </p:nvSpPr>
        <p:spPr>
          <a:xfrm>
            <a:off x="685800" y="3657600"/>
            <a:ext cx="3310128" cy="566928"/>
          </a:xfrm>
          <a:prstGeom prst="rect">
            <a:avLst/>
          </a:prstGeom>
          <a:noFill/>
          <a:ln/>
        </p:spPr>
        <p:txBody>
          <a:bodyPr wrap="square" lIns="0" tIns="0" rIns="0" bIns="0" rtlCol="0" anchor="t"/>
          <a:lstStyle/>
          <a:p>
            <a:pPr algn="r" indent="0" marL="0">
              <a:buNone/>
            </a:pPr>
            <a:r>
              <a:rPr lang="en-US" sz="1400" dirty="0">
                <a:solidFill>
                  <a:srgbClr val="9FB0B0"/>
                </a:solidFill>
                <a:latin typeface="Poppins" pitchFamily="34" charset="0"/>
                <a:ea typeface="Poppins" pitchFamily="34" charset="-122"/>
                <a:cs typeface="Poppins" pitchFamily="34" charset="-120"/>
              </a:rPr>
              <a:t>Explain your work to a teammate, a client, a manager.</a:t>
            </a:r>
            <a:endParaRPr lang="en-US" sz="1400" dirty="0"/>
          </a:p>
        </p:txBody>
      </p:sp>
      <p:sp>
        <p:nvSpPr>
          <p:cNvPr id="17" name="A3-ln1"/>
          <p:cNvSpPr/>
          <p:nvPr/>
        </p:nvSpPr>
        <p:spPr>
          <a:xfrm>
            <a:off x="4818888" y="3593592"/>
            <a:ext cx="362560" cy="95555"/>
          </a:xfrm>
          <a:prstGeom prst="line">
            <a:avLst/>
          </a:prstGeom>
          <a:noFill/>
          <a:ln w="12700">
            <a:solidFill>
              <a:srgbClr val="01A3A3">
                <a:alpha val="70000"/>
              </a:srgbClr>
            </a:solidFill>
            <a:prstDash val="dash"/>
          </a:ln>
        </p:spPr>
      </p:sp>
      <p:sp>
        <p:nvSpPr>
          <p:cNvPr id="18" name="A4-ic2"/>
          <p:cNvSpPr/>
          <p:nvPr/>
        </p:nvSpPr>
        <p:spPr>
          <a:xfrm>
            <a:off x="4160520" y="4754880"/>
            <a:ext cx="603504" cy="603504"/>
          </a:xfrm>
          <a:prstGeom prst="ellipse">
            <a:avLst/>
          </a:prstGeom>
          <a:solidFill>
            <a:srgbClr val="122021"/>
          </a:solidFill>
          <a:ln w="12700">
            <a:solidFill>
              <a:srgbClr val="01A3A3"/>
            </a:solidFill>
            <a:prstDash val="solid"/>
          </a:ln>
        </p:spPr>
      </p:sp>
      <p:pic>
        <p:nvPicPr>
          <p:cNvPr id="19" name="A4-ic2-i" descr="preencoded.png">    </p:cNvPr>
          <p:cNvPicPr>
            <a:picLocks noChangeAspect="1"/>
          </p:cNvPicPr>
          <p:nvPr/>
        </p:nvPicPr>
        <p:blipFill>
          <a:blip r:embed="rId6"/>
          <a:stretch>
            <a:fillRect/>
          </a:stretch>
        </p:blipFill>
        <p:spPr>
          <a:xfrm>
            <a:off x="4305361" y="4899721"/>
            <a:ext cx="313822" cy="313822"/>
          </a:xfrm>
          <a:prstGeom prst="rect">
            <a:avLst/>
          </a:prstGeom>
        </p:spPr>
      </p:pic>
      <p:sp>
        <p:nvSpPr>
          <p:cNvPr id="20" name="A4-t2"/>
          <p:cNvSpPr txBox="1"/>
          <p:nvPr/>
        </p:nvSpPr>
        <p:spPr>
          <a:xfrm>
            <a:off x="685800" y="4736592"/>
            <a:ext cx="3310128" cy="365760"/>
          </a:xfrm>
          <a:prstGeom prst="rect">
            <a:avLst/>
          </a:prstGeom>
          <a:noFill/>
          <a:ln/>
        </p:spPr>
        <p:txBody>
          <a:bodyPr wrap="square" lIns="0" tIns="0" rIns="0" bIns="0" rtlCol="0" anchor="t"/>
          <a:lstStyle/>
          <a:p>
            <a:pPr algn="r" indent="0" marL="0">
              <a:buNone/>
            </a:pPr>
            <a:r>
              <a:rPr lang="en-US" sz="1900" dirty="0">
                <a:solidFill>
                  <a:srgbClr val="FFFFFF"/>
                </a:solidFill>
                <a:latin typeface="Poppins SemiBold" pitchFamily="34" charset="0"/>
                <a:ea typeface="Poppins SemiBold" pitchFamily="34" charset="-122"/>
                <a:cs typeface="Poppins SemiBold" pitchFamily="34" charset="-120"/>
              </a:rPr>
              <a:t>Practical experience</a:t>
            </a:r>
            <a:endParaRPr lang="en-US" sz="1900" dirty="0"/>
          </a:p>
        </p:txBody>
      </p:sp>
      <p:sp>
        <p:nvSpPr>
          <p:cNvPr id="21" name="A4-d2"/>
          <p:cNvSpPr txBox="1"/>
          <p:nvPr/>
        </p:nvSpPr>
        <p:spPr>
          <a:xfrm>
            <a:off x="685800" y="5120640"/>
            <a:ext cx="3310128" cy="566928"/>
          </a:xfrm>
          <a:prstGeom prst="rect">
            <a:avLst/>
          </a:prstGeom>
          <a:noFill/>
          <a:ln/>
        </p:spPr>
        <p:txBody>
          <a:bodyPr wrap="square" lIns="0" tIns="0" rIns="0" bIns="0" rtlCol="0" anchor="t"/>
          <a:lstStyle/>
          <a:p>
            <a:pPr algn="r" indent="0" marL="0">
              <a:buNone/>
            </a:pPr>
            <a:r>
              <a:rPr lang="en-US" sz="1400" dirty="0">
                <a:solidFill>
                  <a:srgbClr val="9FB0B0"/>
                </a:solidFill>
                <a:latin typeface="Poppins" pitchFamily="34" charset="0"/>
                <a:ea typeface="Poppins" pitchFamily="34" charset="-122"/>
                <a:cs typeface="Poppins" pitchFamily="34" charset="-120"/>
              </a:rPr>
              <a:t>Projects, internships, freelance: anything real.</a:t>
            </a:r>
            <a:endParaRPr lang="en-US" sz="1400" dirty="0"/>
          </a:p>
        </p:txBody>
      </p:sp>
      <p:sp>
        <p:nvSpPr>
          <p:cNvPr id="22" name="A4-ln2"/>
          <p:cNvSpPr/>
          <p:nvPr/>
        </p:nvSpPr>
        <p:spPr>
          <a:xfrm flipV="1">
            <a:off x="4818888" y="4347515"/>
            <a:ext cx="362560" cy="709117"/>
          </a:xfrm>
          <a:prstGeom prst="line">
            <a:avLst/>
          </a:prstGeom>
          <a:noFill/>
          <a:ln w="12700">
            <a:solidFill>
              <a:srgbClr val="01A3A3">
                <a:alpha val="70000"/>
              </a:srgbClr>
            </a:solidFill>
            <a:prstDash val="dash"/>
          </a:ln>
        </p:spPr>
      </p:sp>
      <p:sp>
        <p:nvSpPr>
          <p:cNvPr id="23" name="A2-ic3"/>
          <p:cNvSpPr/>
          <p:nvPr/>
        </p:nvSpPr>
        <p:spPr>
          <a:xfrm>
            <a:off x="7424928" y="1828800"/>
            <a:ext cx="603504" cy="603504"/>
          </a:xfrm>
          <a:prstGeom prst="ellipse">
            <a:avLst/>
          </a:prstGeom>
          <a:solidFill>
            <a:srgbClr val="122021"/>
          </a:solidFill>
          <a:ln w="12700">
            <a:solidFill>
              <a:srgbClr val="01A3A3"/>
            </a:solidFill>
            <a:prstDash val="solid"/>
          </a:ln>
        </p:spPr>
      </p:sp>
      <p:pic>
        <p:nvPicPr>
          <p:cNvPr id="24" name="A2-ic3-i" descr="preencoded.png">    </p:cNvPr>
          <p:cNvPicPr>
            <a:picLocks noChangeAspect="1"/>
          </p:cNvPicPr>
          <p:nvPr/>
        </p:nvPicPr>
        <p:blipFill>
          <a:blip r:embed="rId7"/>
          <a:stretch>
            <a:fillRect/>
          </a:stretch>
        </p:blipFill>
        <p:spPr>
          <a:xfrm>
            <a:off x="7569769" y="1973641"/>
            <a:ext cx="313822" cy="313822"/>
          </a:xfrm>
          <a:prstGeom prst="rect">
            <a:avLst/>
          </a:prstGeom>
        </p:spPr>
      </p:pic>
      <p:sp>
        <p:nvSpPr>
          <p:cNvPr id="25" name="A2-t3"/>
          <p:cNvSpPr txBox="1"/>
          <p:nvPr/>
        </p:nvSpPr>
        <p:spPr>
          <a:xfrm>
            <a:off x="8229600" y="1810512"/>
            <a:ext cx="3310128" cy="365760"/>
          </a:xfrm>
          <a:prstGeom prst="rect">
            <a:avLst/>
          </a:prstGeom>
          <a:noFill/>
          <a:ln/>
        </p:spPr>
        <p:txBody>
          <a:bodyPr wrap="square" lIns="0" tIns="0" rIns="0" bIns="0" rtlCol="0" anchor="t"/>
          <a:lstStyle/>
          <a:p>
            <a:pPr algn="l" indent="0" marL="0">
              <a:buNone/>
            </a:pPr>
            <a:r>
              <a:rPr lang="en-US" sz="1900" dirty="0">
                <a:solidFill>
                  <a:srgbClr val="FFFFFF"/>
                </a:solidFill>
                <a:latin typeface="Poppins SemiBold" pitchFamily="34" charset="0"/>
                <a:ea typeface="Poppins SemiBold" pitchFamily="34" charset="-122"/>
                <a:cs typeface="Poppins SemiBold" pitchFamily="34" charset="-120"/>
              </a:rPr>
              <a:t>Technical skills</a:t>
            </a:r>
            <a:endParaRPr lang="en-US" sz="1900" dirty="0"/>
          </a:p>
        </p:txBody>
      </p:sp>
      <p:sp>
        <p:nvSpPr>
          <p:cNvPr id="26" name="A2-d3"/>
          <p:cNvSpPr txBox="1"/>
          <p:nvPr/>
        </p:nvSpPr>
        <p:spPr>
          <a:xfrm>
            <a:off x="8229600" y="2194560"/>
            <a:ext cx="3310128" cy="566928"/>
          </a:xfrm>
          <a:prstGeom prst="rect">
            <a:avLst/>
          </a:prstGeom>
          <a:noFill/>
          <a:ln/>
        </p:spPr>
        <p:txBody>
          <a:bodyPr wrap="square" lIns="0" tIns="0" rIns="0" bIns="0" rtlCol="0" anchor="t"/>
          <a:lstStyle/>
          <a:p>
            <a:pPr algn="l" indent="0" marL="0">
              <a:buNone/>
            </a:pPr>
            <a:r>
              <a:rPr lang="en-US" sz="1400" dirty="0">
                <a:solidFill>
                  <a:srgbClr val="9FB0B0"/>
                </a:solidFill>
                <a:latin typeface="Poppins" pitchFamily="34" charset="0"/>
                <a:ea typeface="Poppins" pitchFamily="34" charset="-122"/>
                <a:cs typeface="Poppins" pitchFamily="34" charset="-120"/>
              </a:rPr>
              <a:t>One stack, deep enough to build end to end.</a:t>
            </a:r>
            <a:endParaRPr lang="en-US" sz="1400" dirty="0"/>
          </a:p>
        </p:txBody>
      </p:sp>
      <p:sp>
        <p:nvSpPr>
          <p:cNvPr id="27" name="A2-ln3"/>
          <p:cNvSpPr/>
          <p:nvPr/>
        </p:nvSpPr>
        <p:spPr>
          <a:xfrm flipV="1">
            <a:off x="7010248" y="2130552"/>
            <a:ext cx="359816" cy="900227"/>
          </a:xfrm>
          <a:prstGeom prst="line">
            <a:avLst/>
          </a:prstGeom>
          <a:noFill/>
          <a:ln w="12700">
            <a:solidFill>
              <a:srgbClr val="01A3A3">
                <a:alpha val="70000"/>
              </a:srgbClr>
            </a:solidFill>
            <a:prstDash val="dash"/>
          </a:ln>
        </p:spPr>
      </p:sp>
      <p:sp>
        <p:nvSpPr>
          <p:cNvPr id="28" name="A3-ic4"/>
          <p:cNvSpPr/>
          <p:nvPr/>
        </p:nvSpPr>
        <p:spPr>
          <a:xfrm>
            <a:off x="7424928" y="3291840"/>
            <a:ext cx="603504" cy="603504"/>
          </a:xfrm>
          <a:prstGeom prst="ellipse">
            <a:avLst/>
          </a:prstGeom>
          <a:solidFill>
            <a:srgbClr val="122021"/>
          </a:solidFill>
          <a:ln w="12700">
            <a:solidFill>
              <a:srgbClr val="01A3A3"/>
            </a:solidFill>
            <a:prstDash val="solid"/>
          </a:ln>
        </p:spPr>
      </p:sp>
      <p:pic>
        <p:nvPicPr>
          <p:cNvPr id="29" name="A3-ic4-i" descr="preencoded.png">    </p:cNvPr>
          <p:cNvPicPr>
            <a:picLocks noChangeAspect="1"/>
          </p:cNvPicPr>
          <p:nvPr/>
        </p:nvPicPr>
        <p:blipFill>
          <a:blip r:embed="rId8"/>
          <a:stretch>
            <a:fillRect/>
          </a:stretch>
        </p:blipFill>
        <p:spPr>
          <a:xfrm>
            <a:off x="7569769" y="3436681"/>
            <a:ext cx="313822" cy="313822"/>
          </a:xfrm>
          <a:prstGeom prst="rect">
            <a:avLst/>
          </a:prstGeom>
        </p:spPr>
      </p:pic>
      <p:sp>
        <p:nvSpPr>
          <p:cNvPr id="30" name="A3-t4"/>
          <p:cNvSpPr txBox="1"/>
          <p:nvPr/>
        </p:nvSpPr>
        <p:spPr>
          <a:xfrm>
            <a:off x="8229600" y="3273552"/>
            <a:ext cx="3310128" cy="365760"/>
          </a:xfrm>
          <a:prstGeom prst="rect">
            <a:avLst/>
          </a:prstGeom>
          <a:noFill/>
          <a:ln/>
        </p:spPr>
        <p:txBody>
          <a:bodyPr wrap="square" lIns="0" tIns="0" rIns="0" bIns="0" rtlCol="0" anchor="t"/>
          <a:lstStyle/>
          <a:p>
            <a:pPr algn="l" indent="0" marL="0">
              <a:buNone/>
            </a:pPr>
            <a:r>
              <a:rPr lang="en-US" sz="1900" dirty="0">
                <a:solidFill>
                  <a:srgbClr val="FFFFFF"/>
                </a:solidFill>
                <a:latin typeface="Poppins SemiBold" pitchFamily="34" charset="0"/>
                <a:ea typeface="Poppins SemiBold" pitchFamily="34" charset="-122"/>
                <a:cs typeface="Poppins SemiBold" pitchFamily="34" charset="-120"/>
              </a:rPr>
              <a:t>Adaptability</a:t>
            </a:r>
            <a:endParaRPr lang="en-US" sz="1900" dirty="0"/>
          </a:p>
        </p:txBody>
      </p:sp>
      <p:sp>
        <p:nvSpPr>
          <p:cNvPr id="31" name="A3-d4"/>
          <p:cNvSpPr txBox="1"/>
          <p:nvPr/>
        </p:nvSpPr>
        <p:spPr>
          <a:xfrm>
            <a:off x="8229600" y="3657600"/>
            <a:ext cx="3310128" cy="566928"/>
          </a:xfrm>
          <a:prstGeom prst="rect">
            <a:avLst/>
          </a:prstGeom>
          <a:noFill/>
          <a:ln/>
        </p:spPr>
        <p:txBody>
          <a:bodyPr wrap="square" lIns="0" tIns="0" rIns="0" bIns="0" rtlCol="0" anchor="t"/>
          <a:lstStyle/>
          <a:p>
            <a:pPr algn="l" indent="0" marL="0">
              <a:buNone/>
            </a:pPr>
            <a:r>
              <a:rPr lang="en-US" sz="1400" dirty="0">
                <a:solidFill>
                  <a:srgbClr val="9FB0B0"/>
                </a:solidFill>
                <a:latin typeface="Poppins" pitchFamily="34" charset="0"/>
                <a:ea typeface="Poppins" pitchFamily="34" charset="-122"/>
                <a:cs typeface="Poppins" pitchFamily="34" charset="-120"/>
              </a:rPr>
              <a:t>Learn a new tool in a week, not a semester.</a:t>
            </a:r>
            <a:endParaRPr lang="en-US" sz="1400" dirty="0"/>
          </a:p>
        </p:txBody>
      </p:sp>
      <p:sp>
        <p:nvSpPr>
          <p:cNvPr id="32" name="A3-ln4"/>
          <p:cNvSpPr/>
          <p:nvPr/>
        </p:nvSpPr>
        <p:spPr>
          <a:xfrm flipV="1">
            <a:off x="7010248" y="3593592"/>
            <a:ext cx="359816" cy="95555"/>
          </a:xfrm>
          <a:prstGeom prst="line">
            <a:avLst/>
          </a:prstGeom>
          <a:noFill/>
          <a:ln w="12700">
            <a:solidFill>
              <a:srgbClr val="01A3A3">
                <a:alpha val="70000"/>
              </a:srgbClr>
            </a:solidFill>
            <a:prstDash val="dash"/>
          </a:ln>
        </p:spPr>
      </p:sp>
      <p:sp>
        <p:nvSpPr>
          <p:cNvPr id="33" name="A4-ic5"/>
          <p:cNvSpPr/>
          <p:nvPr/>
        </p:nvSpPr>
        <p:spPr>
          <a:xfrm>
            <a:off x="7424928" y="4754880"/>
            <a:ext cx="603504" cy="603504"/>
          </a:xfrm>
          <a:prstGeom prst="ellipse">
            <a:avLst/>
          </a:prstGeom>
          <a:solidFill>
            <a:srgbClr val="122021"/>
          </a:solidFill>
          <a:ln w="12700">
            <a:solidFill>
              <a:srgbClr val="01A3A3"/>
            </a:solidFill>
            <a:prstDash val="solid"/>
          </a:ln>
        </p:spPr>
      </p:sp>
      <p:pic>
        <p:nvPicPr>
          <p:cNvPr id="34" name="A4-ic5-i" descr="preencoded.png">    </p:cNvPr>
          <p:cNvPicPr>
            <a:picLocks noChangeAspect="1"/>
          </p:cNvPicPr>
          <p:nvPr/>
        </p:nvPicPr>
        <p:blipFill>
          <a:blip r:embed="rId9"/>
          <a:stretch>
            <a:fillRect/>
          </a:stretch>
        </p:blipFill>
        <p:spPr>
          <a:xfrm>
            <a:off x="7569769" y="4899721"/>
            <a:ext cx="313822" cy="313822"/>
          </a:xfrm>
          <a:prstGeom prst="rect">
            <a:avLst/>
          </a:prstGeom>
        </p:spPr>
      </p:pic>
      <p:sp>
        <p:nvSpPr>
          <p:cNvPr id="35" name="A4-t5"/>
          <p:cNvSpPr txBox="1"/>
          <p:nvPr/>
        </p:nvSpPr>
        <p:spPr>
          <a:xfrm>
            <a:off x="8229600" y="4736592"/>
            <a:ext cx="3310128" cy="365760"/>
          </a:xfrm>
          <a:prstGeom prst="rect">
            <a:avLst/>
          </a:prstGeom>
          <a:noFill/>
          <a:ln/>
        </p:spPr>
        <p:txBody>
          <a:bodyPr wrap="square" lIns="0" tIns="0" rIns="0" bIns="0" rtlCol="0" anchor="t"/>
          <a:lstStyle/>
          <a:p>
            <a:pPr algn="l" indent="0" marL="0">
              <a:buNone/>
            </a:pPr>
            <a:r>
              <a:rPr lang="en-US" sz="1900" dirty="0">
                <a:solidFill>
                  <a:srgbClr val="FFFFFF"/>
                </a:solidFill>
                <a:latin typeface="Poppins SemiBold" pitchFamily="34" charset="0"/>
                <a:ea typeface="Poppins SemiBold" pitchFamily="34" charset="-122"/>
                <a:cs typeface="Poppins SemiBold" pitchFamily="34" charset="-120"/>
              </a:rPr>
              <a:t>AI literacy</a:t>
            </a:r>
            <a:endParaRPr lang="en-US" sz="1900" dirty="0"/>
          </a:p>
        </p:txBody>
      </p:sp>
      <p:sp>
        <p:nvSpPr>
          <p:cNvPr id="36" name="A4-d5"/>
          <p:cNvSpPr txBox="1"/>
          <p:nvPr/>
        </p:nvSpPr>
        <p:spPr>
          <a:xfrm>
            <a:off x="8229600" y="5120640"/>
            <a:ext cx="3310128" cy="566928"/>
          </a:xfrm>
          <a:prstGeom prst="rect">
            <a:avLst/>
          </a:prstGeom>
          <a:noFill/>
          <a:ln/>
        </p:spPr>
        <p:txBody>
          <a:bodyPr wrap="square" lIns="0" tIns="0" rIns="0" bIns="0" rtlCol="0" anchor="t"/>
          <a:lstStyle/>
          <a:p>
            <a:pPr algn="l" indent="0" marL="0">
              <a:buNone/>
            </a:pPr>
            <a:r>
              <a:rPr lang="en-US" sz="1400" dirty="0">
                <a:solidFill>
                  <a:srgbClr val="9FB0B0"/>
                </a:solidFill>
                <a:latin typeface="Poppins" pitchFamily="34" charset="0"/>
                <a:ea typeface="Poppins" pitchFamily="34" charset="-122"/>
                <a:cs typeface="Poppins" pitchFamily="34" charset="-120"/>
              </a:rPr>
              <a:t>Use AI to move faster and still verify every output.</a:t>
            </a:r>
            <a:endParaRPr lang="en-US" sz="1400" dirty="0"/>
          </a:p>
        </p:txBody>
      </p:sp>
      <p:sp>
        <p:nvSpPr>
          <p:cNvPr id="37" name="A4-ln5"/>
          <p:cNvSpPr/>
          <p:nvPr/>
        </p:nvSpPr>
        <p:spPr>
          <a:xfrm>
            <a:off x="7010248" y="4347515"/>
            <a:ext cx="359816" cy="709117"/>
          </a:xfrm>
          <a:prstGeom prst="line">
            <a:avLst/>
          </a:prstGeom>
          <a:noFill/>
          <a:ln w="12700">
            <a:solidFill>
              <a:srgbClr val="01A3A3">
                <a:alpha val="70000"/>
              </a:srgbClr>
            </a:solidFill>
            <a:prstDash val="dash"/>
          </a:ln>
        </p:spPr>
      </p:sp>
      <p:sp>
        <p:nvSpPr>
          <p:cNvPr id="38" name="A5-mini"/>
          <p:cNvSpPr txBox="1"/>
          <p:nvPr/>
        </p:nvSpPr>
        <p:spPr>
          <a:xfrm>
            <a:off x="685800" y="5925312"/>
            <a:ext cx="10820095" cy="320040"/>
          </a:xfrm>
          <a:prstGeom prst="rect">
            <a:avLst/>
          </a:prstGeom>
          <a:noFill/>
          <a:ln/>
        </p:spPr>
        <p:txBody>
          <a:bodyPr wrap="square" lIns="0" tIns="0" rIns="0" bIns="0" rtlCol="0" anchor="t"/>
          <a:lstStyle/>
          <a:p>
            <a:pPr algn="ctr" indent="0" marL="0">
              <a:buNone/>
            </a:pPr>
            <a:r>
              <a:rPr lang="en-US" sz="1400" spc="200" kern="0" dirty="0">
                <a:solidFill>
                  <a:srgbClr val="FF4D4D"/>
                </a:solidFill>
                <a:latin typeface="Poppins SemiBold" pitchFamily="34" charset="0"/>
                <a:ea typeface="Poppins SemiBold" pitchFamily="34" charset="-122"/>
                <a:cs typeface="Poppins SemiBold" pitchFamily="34" charset="-120"/>
              </a:rPr>
              <a:t>MINI-CHALLENGE   </a:t>
            </a:r>
            <a:pPr algn="ctr" indent="0" marL="0">
              <a:buNone/>
            </a:pPr>
            <a:r>
              <a:rPr lang="en-US" sz="1400" dirty="0">
                <a:solidFill>
                  <a:srgbClr val="FFFFFF"/>
                </a:solidFill>
                <a:latin typeface="Poppins" pitchFamily="34" charset="0"/>
                <a:ea typeface="Poppins" pitchFamily="34" charset="-122"/>
                <a:cs typeface="Poppins" pitchFamily="34" charset="-120"/>
              </a:rPr>
              <a:t>Rate yourself 1–5 on each skill. Your lowest score is your next project.</a:t>
            </a:r>
            <a:endParaRPr lang="en-US" sz="1400" dirty="0"/>
          </a:p>
        </p:txBody>
      </p:sp>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8282"/>
                </a:solidFill>
                <a:latin typeface="Poppins SemiBold"/>
                <a:ea typeface="Poppins SemiBold"/>
                <a:cs typeface="Poppins SemiBold"/>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80"/>
                                        <p:tgtEl>
                                          <p:spTgt spid="4"/>
                                        </p:tgtEl>
                                      </p:cBhvr>
                                    </p:animEffect>
                                  </p:childTnLst>
                                </p:cTn>
                              </p:par>
                              <p:par>
                                <p:cTn id="8" presetID="10" presetClass="entr" presetSubtype="0" fill="hold" grpId="0" nodeType="withEffect">
                                  <p:stCondLst>
                                    <p:cond delay="32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80"/>
                                        <p:tgtEl>
                                          <p:spTgt spid="7"/>
                                        </p:tgtEl>
                                      </p:cBhvr>
                                    </p:animEffect>
                                  </p:childTnLst>
                                </p:cTn>
                              </p:par>
                              <p:par>
                                <p:cTn id="11" presetID="10" presetClass="entr" presetSubtype="0" fill="hold" grpId="0" nodeType="withEffect">
                                  <p:stCondLst>
                                    <p:cond delay="64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80"/>
                                        <p:tgtEl>
                                          <p:spTgt spid="8"/>
                                        </p:tgtEl>
                                      </p:cBhvr>
                                    </p:animEffect>
                                  </p:childTnLst>
                                </p:cTn>
                              </p:par>
                              <p:par>
                                <p:cTn id="14" presetID="10" presetClass="entr" presetSubtype="0" fill="hold" grpId="0" nodeType="withEffect">
                                  <p:stCondLst>
                                    <p:cond delay="64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80"/>
                                        <p:tgtEl>
                                          <p:spTgt spid="9"/>
                                        </p:tgtEl>
                                      </p:cBhvr>
                                    </p:animEffect>
                                  </p:childTnLst>
                                </p:cTn>
                              </p:par>
                              <p:par>
                                <p:cTn id="17" presetID="10" presetClass="entr" presetSubtype="0" fill="hold" grpId="0" nodeType="withEffect">
                                  <p:stCondLst>
                                    <p:cond delay="64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80"/>
                                        <p:tgtEl>
                                          <p:spTgt spid="10"/>
                                        </p:tgtEl>
                                      </p:cBhvr>
                                    </p:animEffect>
                                  </p:childTnLst>
                                </p:cTn>
                              </p:par>
                              <p:par>
                                <p:cTn id="20" presetID="10" presetClass="entr" presetSubtype="0" fill="hold" grpId="0" nodeType="withEffect">
                                  <p:stCondLst>
                                    <p:cond delay="64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80"/>
                                        <p:tgtEl>
                                          <p:spTgt spid="11"/>
                                        </p:tgtEl>
                                      </p:cBhvr>
                                    </p:animEffect>
                                  </p:childTnLst>
                                </p:cTn>
                              </p:par>
                              <p:par>
                                <p:cTn id="23" presetID="10" presetClass="entr" presetSubtype="0" fill="hold" grpId="0" nodeType="withEffect">
                                  <p:stCondLst>
                                    <p:cond delay="64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80"/>
                                        <p:tgtEl>
                                          <p:spTgt spid="12"/>
                                        </p:tgtEl>
                                      </p:cBhvr>
                                    </p:animEffect>
                                  </p:childTnLst>
                                </p:cTn>
                              </p:par>
                              <p:par>
                                <p:cTn id="26" presetID="10" presetClass="entr" presetSubtype="0" fill="hold" grpId="0" nodeType="withEffect">
                                  <p:stCondLst>
                                    <p:cond delay="64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480"/>
                                        <p:tgtEl>
                                          <p:spTgt spid="23"/>
                                        </p:tgtEl>
                                      </p:cBhvr>
                                    </p:animEffect>
                                  </p:childTnLst>
                                </p:cTn>
                              </p:par>
                              <p:par>
                                <p:cTn id="29" presetID="10" presetClass="entr" presetSubtype="0" fill="hold" grpId="0" nodeType="withEffect">
                                  <p:stCondLst>
                                    <p:cond delay="64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80"/>
                                        <p:tgtEl>
                                          <p:spTgt spid="24"/>
                                        </p:tgtEl>
                                      </p:cBhvr>
                                    </p:animEffect>
                                  </p:childTnLst>
                                </p:cTn>
                              </p:par>
                              <p:par>
                                <p:cTn id="32" presetID="10" presetClass="entr" presetSubtype="0" fill="hold" grpId="0" nodeType="withEffect">
                                  <p:stCondLst>
                                    <p:cond delay="64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80"/>
                                        <p:tgtEl>
                                          <p:spTgt spid="25"/>
                                        </p:tgtEl>
                                      </p:cBhvr>
                                    </p:animEffect>
                                  </p:childTnLst>
                                </p:cTn>
                              </p:par>
                              <p:par>
                                <p:cTn id="35" presetID="10" presetClass="entr" presetSubtype="0" fill="hold" grpId="0" nodeType="withEffect">
                                  <p:stCondLst>
                                    <p:cond delay="64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80"/>
                                        <p:tgtEl>
                                          <p:spTgt spid="26"/>
                                        </p:tgtEl>
                                      </p:cBhvr>
                                    </p:animEffect>
                                  </p:childTnLst>
                                </p:cTn>
                              </p:par>
                              <p:par>
                                <p:cTn id="38" presetID="10" presetClass="entr" presetSubtype="0" fill="hold" grpId="0" nodeType="withEffect">
                                  <p:stCondLst>
                                    <p:cond delay="64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80"/>
                                        <p:tgtEl>
                                          <p:spTgt spid="27"/>
                                        </p:tgtEl>
                                      </p:cBhvr>
                                    </p:animEffect>
                                  </p:childTnLst>
                                </p:cTn>
                              </p:par>
                              <p:par>
                                <p:cTn id="41" presetID="10" presetClass="entr" presetSubtype="0" fill="hold" grpId="0" nodeType="withEffect">
                                  <p:stCondLst>
                                    <p:cond delay="96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80"/>
                                        <p:tgtEl>
                                          <p:spTgt spid="13"/>
                                        </p:tgtEl>
                                      </p:cBhvr>
                                    </p:animEffect>
                                  </p:childTnLst>
                                </p:cTn>
                              </p:par>
                              <p:par>
                                <p:cTn id="44" presetID="10" presetClass="entr" presetSubtype="0" fill="hold" grpId="0" nodeType="withEffect">
                                  <p:stCondLst>
                                    <p:cond delay="96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480"/>
                                        <p:tgtEl>
                                          <p:spTgt spid="14"/>
                                        </p:tgtEl>
                                      </p:cBhvr>
                                    </p:animEffect>
                                  </p:childTnLst>
                                </p:cTn>
                              </p:par>
                              <p:par>
                                <p:cTn id="47" presetID="10" presetClass="entr" presetSubtype="0" fill="hold" grpId="0" nodeType="withEffect">
                                  <p:stCondLst>
                                    <p:cond delay="96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80"/>
                                        <p:tgtEl>
                                          <p:spTgt spid="15"/>
                                        </p:tgtEl>
                                      </p:cBhvr>
                                    </p:animEffect>
                                  </p:childTnLst>
                                </p:cTn>
                              </p:par>
                              <p:par>
                                <p:cTn id="50" presetID="10" presetClass="entr" presetSubtype="0" fill="hold" grpId="0" nodeType="withEffect">
                                  <p:stCondLst>
                                    <p:cond delay="96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480"/>
                                        <p:tgtEl>
                                          <p:spTgt spid="16"/>
                                        </p:tgtEl>
                                      </p:cBhvr>
                                    </p:animEffect>
                                  </p:childTnLst>
                                </p:cTn>
                              </p:par>
                              <p:par>
                                <p:cTn id="53" presetID="10" presetClass="entr" presetSubtype="0" fill="hold" grpId="0" nodeType="withEffect">
                                  <p:stCondLst>
                                    <p:cond delay="96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480"/>
                                        <p:tgtEl>
                                          <p:spTgt spid="17"/>
                                        </p:tgtEl>
                                      </p:cBhvr>
                                    </p:animEffect>
                                  </p:childTnLst>
                                </p:cTn>
                              </p:par>
                              <p:par>
                                <p:cTn id="56" presetID="10" presetClass="entr" presetSubtype="0" fill="hold" grpId="0" nodeType="withEffect">
                                  <p:stCondLst>
                                    <p:cond delay="96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80"/>
                                        <p:tgtEl>
                                          <p:spTgt spid="28"/>
                                        </p:tgtEl>
                                      </p:cBhvr>
                                    </p:animEffect>
                                  </p:childTnLst>
                                </p:cTn>
                              </p:par>
                              <p:par>
                                <p:cTn id="59" presetID="10" presetClass="entr" presetSubtype="0" fill="hold" grpId="0" nodeType="withEffect">
                                  <p:stCondLst>
                                    <p:cond delay="96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480"/>
                                        <p:tgtEl>
                                          <p:spTgt spid="29"/>
                                        </p:tgtEl>
                                      </p:cBhvr>
                                    </p:animEffect>
                                  </p:childTnLst>
                                </p:cTn>
                              </p:par>
                              <p:par>
                                <p:cTn id="62" presetID="10" presetClass="entr" presetSubtype="0" fill="hold" grpId="0" nodeType="withEffect">
                                  <p:stCondLst>
                                    <p:cond delay="96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480"/>
                                        <p:tgtEl>
                                          <p:spTgt spid="30"/>
                                        </p:tgtEl>
                                      </p:cBhvr>
                                    </p:animEffect>
                                  </p:childTnLst>
                                </p:cTn>
                              </p:par>
                              <p:par>
                                <p:cTn id="65" presetID="10" presetClass="entr" presetSubtype="0" fill="hold" grpId="0" nodeType="withEffect">
                                  <p:stCondLst>
                                    <p:cond delay="96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480"/>
                                        <p:tgtEl>
                                          <p:spTgt spid="31"/>
                                        </p:tgtEl>
                                      </p:cBhvr>
                                    </p:animEffect>
                                  </p:childTnLst>
                                </p:cTn>
                              </p:par>
                              <p:par>
                                <p:cTn id="68" presetID="10" presetClass="entr" presetSubtype="0" fill="hold" grpId="0" nodeType="withEffect">
                                  <p:stCondLst>
                                    <p:cond delay="96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480"/>
                                        <p:tgtEl>
                                          <p:spTgt spid="32"/>
                                        </p:tgtEl>
                                      </p:cBhvr>
                                    </p:animEffect>
                                  </p:childTnLst>
                                </p:cTn>
                              </p:par>
                              <p:par>
                                <p:cTn id="71" presetID="10" presetClass="entr" presetSubtype="0" fill="hold" grpId="0" nodeType="withEffect">
                                  <p:stCondLst>
                                    <p:cond delay="128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480"/>
                                        <p:tgtEl>
                                          <p:spTgt spid="18"/>
                                        </p:tgtEl>
                                      </p:cBhvr>
                                    </p:animEffect>
                                  </p:childTnLst>
                                </p:cTn>
                              </p:par>
                              <p:par>
                                <p:cTn id="74" presetID="10" presetClass="entr" presetSubtype="0" fill="hold" grpId="0" nodeType="withEffect">
                                  <p:stCondLst>
                                    <p:cond delay="128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480"/>
                                        <p:tgtEl>
                                          <p:spTgt spid="19"/>
                                        </p:tgtEl>
                                      </p:cBhvr>
                                    </p:animEffect>
                                  </p:childTnLst>
                                </p:cTn>
                              </p:par>
                              <p:par>
                                <p:cTn id="77" presetID="10" presetClass="entr" presetSubtype="0" fill="hold" grpId="0" nodeType="withEffect">
                                  <p:stCondLst>
                                    <p:cond delay="128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80"/>
                                        <p:tgtEl>
                                          <p:spTgt spid="20"/>
                                        </p:tgtEl>
                                      </p:cBhvr>
                                    </p:animEffect>
                                  </p:childTnLst>
                                </p:cTn>
                              </p:par>
                              <p:par>
                                <p:cTn id="80" presetID="10" presetClass="entr" presetSubtype="0" fill="hold" grpId="0" nodeType="withEffect">
                                  <p:stCondLst>
                                    <p:cond delay="128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480"/>
                                        <p:tgtEl>
                                          <p:spTgt spid="21"/>
                                        </p:tgtEl>
                                      </p:cBhvr>
                                    </p:animEffect>
                                  </p:childTnLst>
                                </p:cTn>
                              </p:par>
                              <p:par>
                                <p:cTn id="83" presetID="10" presetClass="entr" presetSubtype="0" fill="hold" grpId="0" nodeType="withEffect">
                                  <p:stCondLst>
                                    <p:cond delay="128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480"/>
                                        <p:tgtEl>
                                          <p:spTgt spid="22"/>
                                        </p:tgtEl>
                                      </p:cBhvr>
                                    </p:animEffect>
                                  </p:childTnLst>
                                </p:cTn>
                              </p:par>
                              <p:par>
                                <p:cTn id="86" presetID="10" presetClass="entr" presetSubtype="0" fill="hold" grpId="0" nodeType="withEffect">
                                  <p:stCondLst>
                                    <p:cond delay="128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80"/>
                                        <p:tgtEl>
                                          <p:spTgt spid="33"/>
                                        </p:tgtEl>
                                      </p:cBhvr>
                                    </p:animEffect>
                                  </p:childTnLst>
                                </p:cTn>
                              </p:par>
                              <p:par>
                                <p:cTn id="89" presetID="10" presetClass="entr" presetSubtype="0" fill="hold" grpId="0" nodeType="withEffect">
                                  <p:stCondLst>
                                    <p:cond delay="128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80"/>
                                        <p:tgtEl>
                                          <p:spTgt spid="34"/>
                                        </p:tgtEl>
                                      </p:cBhvr>
                                    </p:animEffect>
                                  </p:childTnLst>
                                </p:cTn>
                              </p:par>
                              <p:par>
                                <p:cTn id="92" presetID="10" presetClass="entr" presetSubtype="0" fill="hold" grpId="0" nodeType="withEffect">
                                  <p:stCondLst>
                                    <p:cond delay="128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80"/>
                                        <p:tgtEl>
                                          <p:spTgt spid="35"/>
                                        </p:tgtEl>
                                      </p:cBhvr>
                                    </p:animEffect>
                                  </p:childTnLst>
                                </p:cTn>
                              </p:par>
                              <p:par>
                                <p:cTn id="95" presetID="10" presetClass="entr" presetSubtype="0" fill="hold" grpId="0" nodeType="withEffect">
                                  <p:stCondLst>
                                    <p:cond delay="128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80"/>
                                        <p:tgtEl>
                                          <p:spTgt spid="36"/>
                                        </p:tgtEl>
                                      </p:cBhvr>
                                    </p:animEffect>
                                  </p:childTnLst>
                                </p:cTn>
                              </p:par>
                              <p:par>
                                <p:cTn id="98" presetID="10" presetClass="entr" presetSubtype="0" fill="hold" grpId="0" nodeType="withEffect">
                                  <p:stCondLst>
                                    <p:cond delay="128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80"/>
                                        <p:tgtEl>
                                          <p:spTgt spid="37"/>
                                        </p:tgtEl>
                                      </p:cBhvr>
                                    </p:animEffect>
                                  </p:childTnLst>
                                </p:cTn>
                              </p:par>
                              <p:par>
                                <p:cTn id="101" presetID="10" presetClass="entr" presetSubtype="0" fill="hold" grpId="0" nodeType="withEffect">
                                  <p:stCondLst>
                                    <p:cond delay="160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8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27" grpId="0" animBg="1"/>
      <p:bldP spid="28" grpId="0" animBg="1"/>
      <p:bldP spid="30" grpId="0" animBg="1"/>
      <p:bldP spid="31" grpId="0" animBg="1"/>
      <p:bldP spid="32" grpId="0" animBg="1"/>
      <p:bldP spid="33" grpId="0" animBg="1"/>
      <p:bldP spid="35" grpId="0" animBg="1"/>
      <p:bldP spid="36" grpId="0" animBg="1"/>
      <p:bldP spid="37" grpId="0" animBg="1"/>
      <p:bldP spid="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A0-eyebrow"/>
          <p:cNvSpPr txBox="1"/>
          <p:nvPr/>
        </p:nvSpPr>
        <p:spPr>
          <a:xfrm>
            <a:off x="685800" y="457200"/>
            <a:ext cx="8229600" cy="274320"/>
          </a:xfrm>
          <a:prstGeom prst="rect">
            <a:avLst/>
          </a:prstGeom>
          <a:noFill/>
          <a:ln/>
        </p:spPr>
        <p:txBody>
          <a:bodyPr wrap="square" lIns="0" tIns="0" rIns="0" bIns="0" rtlCol="0" anchor="t"/>
          <a:lstStyle/>
          <a:p>
            <a:pPr indent="0" marL="0">
              <a:buNone/>
            </a:pPr>
            <a:r>
              <a:rPr lang="en-US" sz="1200" spc="300" kern="0" dirty="0">
                <a:solidFill>
                  <a:srgbClr val="0CCCCC"/>
                </a:solidFill>
                <a:latin typeface="Poppins SemiBold" pitchFamily="34" charset="0"/>
                <a:ea typeface="Poppins SemiBold" pitchFamily="34" charset="-122"/>
                <a:cs typeface="Poppins SemiBold" pitchFamily="34" charset="-120"/>
              </a:rPr>
              <a:t>03  ·  PROOF OVER PAPER</a:t>
            </a:r>
            <a:endParaRPr lang="en-US" sz="1200" dirty="0"/>
          </a:p>
        </p:txBody>
      </p:sp>
      <p:sp>
        <p:nvSpPr>
          <p:cNvPr id="4" name="A0-title"/>
          <p:cNvSpPr txBox="1"/>
          <p:nvPr/>
        </p:nvSpPr>
        <p:spPr>
          <a:xfrm>
            <a:off x="685800" y="749808"/>
            <a:ext cx="10820095" cy="685800"/>
          </a:xfrm>
          <a:prstGeom prst="rect">
            <a:avLst/>
          </a:prstGeom>
          <a:noFill/>
          <a:ln/>
        </p:spPr>
        <p:txBody>
          <a:bodyPr wrap="square" lIns="0" tIns="0" rIns="0" bIns="0" rtlCol="0" anchor="t"/>
          <a:lstStyle/>
          <a:p>
            <a:pPr indent="0" marL="0">
              <a:buNone/>
            </a:pPr>
            <a:r>
              <a:rPr lang="en-US" sz="3400" dirty="0">
                <a:solidFill>
                  <a:srgbClr val="FFFFFF"/>
                </a:solidFill>
                <a:latin typeface="Poppins ExtraBold" pitchFamily="34" charset="0"/>
                <a:ea typeface="Poppins ExtraBold" pitchFamily="34" charset="-122"/>
                <a:cs typeface="Poppins ExtraBold" pitchFamily="34" charset="-120"/>
              </a:rPr>
              <a:t>Stop Collecting Certificates. </a:t>
            </a:r>
            <a:pPr indent="0" marL="0">
              <a:buNone/>
            </a:pPr>
            <a:r>
              <a:rPr lang="en-US" sz="3400" dirty="0">
                <a:solidFill>
                  <a:srgbClr val="0CCCCC"/>
                </a:solidFill>
                <a:latin typeface="Poppins ExtraBold" pitchFamily="34" charset="0"/>
                <a:ea typeface="Poppins ExtraBold" pitchFamily="34" charset="-122"/>
                <a:cs typeface="Poppins ExtraBold" pitchFamily="34" charset="-120"/>
              </a:rPr>
              <a:t>Start Building Proof.</a:t>
            </a:r>
            <a:endParaRPr lang="en-US" sz="3400" dirty="0"/>
          </a:p>
        </p:txBody>
      </p:sp>
      <p:pic>
        <p:nvPicPr>
          <p:cNvPr id="5" name="Image 0" descr="/private/tmp/claude-501/-Users-swibit-skillture/f1e62dc3-dfc1-4d04-897a-70d066cdcef5/scratchpad/deck/img/glow_coral.png">    </p:cNvPr>
          <p:cNvPicPr>
            <a:picLocks noChangeAspect="1"/>
          </p:cNvPicPr>
          <p:nvPr/>
        </p:nvPicPr>
        <p:blipFill>
          <a:blip r:embed="rId1">
            <a:alphaModFix amt="18000"/>
          </a:blip>
          <a:stretch>
            <a:fillRect/>
          </a:stretch>
        </p:blipFill>
        <p:spPr>
          <a:xfrm>
            <a:off x="822960" y="1828800"/>
            <a:ext cx="3108960" cy="3108960"/>
          </a:xfrm>
          <a:prstGeom prst="rect">
            <a:avLst/>
          </a:prstGeom>
        </p:spPr>
      </p:pic>
      <p:pic>
        <p:nvPicPr>
          <p:cNvPr id="6" name="A1-certs" descr="3D stack of certificates">    </p:cNvPr>
          <p:cNvPicPr>
            <a:picLocks noChangeAspect="1"/>
          </p:cNvPicPr>
          <p:nvPr/>
        </p:nvPicPr>
        <p:blipFill>
          <a:blip r:embed="rId2"/>
          <a:stretch>
            <a:fillRect/>
          </a:stretch>
        </p:blipFill>
        <p:spPr>
          <a:xfrm>
            <a:off x="708660" y="2264659"/>
            <a:ext cx="3246120" cy="2054363"/>
          </a:xfrm>
          <a:prstGeom prst="rect">
            <a:avLst/>
          </a:prstGeom>
        </p:spPr>
      </p:pic>
      <p:sp>
        <p:nvSpPr>
          <p:cNvPr id="7" name="A2-vs"/>
          <p:cNvSpPr/>
          <p:nvPr/>
        </p:nvSpPr>
        <p:spPr>
          <a:xfrm>
            <a:off x="4224528" y="3017520"/>
            <a:ext cx="566928" cy="566928"/>
          </a:xfrm>
          <a:prstGeom prst="ellipse">
            <a:avLst/>
          </a:prstGeom>
          <a:solidFill>
            <a:srgbClr val="122021"/>
          </a:solidFill>
          <a:ln w="12700">
            <a:solidFill>
              <a:srgbClr val="1F3537"/>
            </a:solidFill>
            <a:prstDash val="solid"/>
          </a:ln>
        </p:spPr>
      </p:sp>
      <p:sp>
        <p:nvSpPr>
          <p:cNvPr id="8" name="A2-vsT"/>
          <p:cNvSpPr txBox="1"/>
          <p:nvPr/>
        </p:nvSpPr>
        <p:spPr>
          <a:xfrm>
            <a:off x="4224528" y="3017520"/>
            <a:ext cx="566928" cy="566928"/>
          </a:xfrm>
          <a:prstGeom prst="rect">
            <a:avLst/>
          </a:prstGeom>
          <a:noFill/>
          <a:ln/>
        </p:spPr>
        <p:txBody>
          <a:bodyPr wrap="square" lIns="0" tIns="0" rIns="0" bIns="0" rtlCol="0" anchor="ctr"/>
          <a:lstStyle/>
          <a:p>
            <a:pPr algn="ctr" indent="0" marL="0">
              <a:buNone/>
            </a:pPr>
            <a:r>
              <a:rPr lang="en-US" sz="1400" dirty="0">
                <a:solidFill>
                  <a:srgbClr val="9FB0B0"/>
                </a:solidFill>
                <a:latin typeface="Poppins ExtraBold" pitchFamily="34" charset="0"/>
                <a:ea typeface="Poppins ExtraBold" pitchFamily="34" charset="-122"/>
                <a:cs typeface="Poppins ExtraBold" pitchFamily="34" charset="-120"/>
              </a:rPr>
              <a:t>VS</a:t>
            </a:r>
            <a:endParaRPr lang="en-US" sz="1400" dirty="0"/>
          </a:p>
        </p:txBody>
      </p:sp>
      <p:sp>
        <p:nvSpPr>
          <p:cNvPr id="9" name="A3-card"/>
          <p:cNvSpPr/>
          <p:nvPr/>
        </p:nvSpPr>
        <p:spPr>
          <a:xfrm>
            <a:off x="5074920" y="1783080"/>
            <a:ext cx="6428232" cy="3200400"/>
          </a:xfrm>
          <a:prstGeom prst="roundRect">
            <a:avLst>
              <a:gd name="adj" fmla="val 4571"/>
            </a:avLst>
          </a:prstGeom>
          <a:solidFill>
            <a:srgbClr val="0D1617"/>
          </a:solidFill>
          <a:ln w="9525">
            <a:solidFill>
              <a:srgbClr val="1F3537"/>
            </a:solidFill>
            <a:prstDash val="solid"/>
          </a:ln>
        </p:spPr>
      </p:sp>
      <p:pic>
        <p:nvPicPr>
          <p:cNvPr id="10" name="A3-gh" descr="preencoded.png">    </p:cNvPr>
          <p:cNvPicPr>
            <a:picLocks noChangeAspect="1"/>
          </p:cNvPicPr>
          <p:nvPr/>
        </p:nvPicPr>
        <p:blipFill>
          <a:blip r:embed="rId3"/>
          <a:stretch>
            <a:fillRect/>
          </a:stretch>
        </p:blipFill>
        <p:spPr>
          <a:xfrm>
            <a:off x="5349240" y="2057400"/>
            <a:ext cx="310896" cy="310896"/>
          </a:xfrm>
          <a:prstGeom prst="rect">
            <a:avLst/>
          </a:prstGeom>
        </p:spPr>
      </p:pic>
      <p:sp>
        <p:nvSpPr>
          <p:cNvPr id="11" name="A3-repo"/>
          <p:cNvSpPr txBox="1"/>
          <p:nvPr/>
        </p:nvSpPr>
        <p:spPr>
          <a:xfrm>
            <a:off x="5788152" y="2057400"/>
            <a:ext cx="4754880" cy="329184"/>
          </a:xfrm>
          <a:prstGeom prst="rect">
            <a:avLst/>
          </a:prstGeom>
          <a:noFill/>
          <a:ln/>
        </p:spPr>
        <p:txBody>
          <a:bodyPr wrap="square" lIns="0" tIns="0" rIns="0" bIns="0" rtlCol="0" anchor="ctr"/>
          <a:lstStyle/>
          <a:p>
            <a:pPr indent="0" marL="0">
              <a:buNone/>
            </a:pPr>
            <a:r>
              <a:rPr lang="en-US" sz="1600" dirty="0">
                <a:solidFill>
                  <a:srgbClr val="9FB0B0"/>
                </a:solidFill>
                <a:latin typeface="Poppins" pitchFamily="34" charset="0"/>
                <a:ea typeface="Poppins" pitchFamily="34" charset="-122"/>
                <a:cs typeface="Poppins" pitchFamily="34" charset="-120"/>
              </a:rPr>
              <a:t>ali-hassan / </a:t>
            </a:r>
            <a:pPr indent="0" marL="0">
              <a:buNone/>
            </a:pPr>
            <a:r>
              <a:rPr lang="en-US" sz="1600" dirty="0">
                <a:solidFill>
                  <a:srgbClr val="FFFFFF"/>
                </a:solidFill>
                <a:latin typeface="Poppins SemiBold" pitchFamily="34" charset="0"/>
                <a:ea typeface="Poppins SemiBold" pitchFamily="34" charset="-122"/>
                <a:cs typeface="Poppins SemiBold" pitchFamily="34" charset="-120"/>
              </a:rPr>
              <a:t>generator-subscriptions</a:t>
            </a:r>
            <a:endParaRPr lang="en-US" sz="1600" dirty="0"/>
          </a:p>
        </p:txBody>
      </p:sp>
      <p:sp>
        <p:nvSpPr>
          <p:cNvPr id="12" name="A3-pub"/>
          <p:cNvSpPr/>
          <p:nvPr/>
        </p:nvSpPr>
        <p:spPr>
          <a:xfrm>
            <a:off x="10497312" y="2084832"/>
            <a:ext cx="731520" cy="274320"/>
          </a:xfrm>
          <a:prstGeom prst="roundRect">
            <a:avLst>
              <a:gd name="adj" fmla="val 50000"/>
            </a:avLst>
          </a:prstGeom>
          <a:ln w="9525">
            <a:solidFill>
              <a:srgbClr val="6E8282"/>
            </a:solidFill>
            <a:prstDash val="solid"/>
          </a:ln>
        </p:spPr>
      </p:sp>
      <p:sp>
        <p:nvSpPr>
          <p:cNvPr id="13" name="A3-pubT"/>
          <p:cNvSpPr txBox="1"/>
          <p:nvPr/>
        </p:nvSpPr>
        <p:spPr>
          <a:xfrm>
            <a:off x="10497312" y="2084832"/>
            <a:ext cx="731520" cy="274320"/>
          </a:xfrm>
          <a:prstGeom prst="rect">
            <a:avLst/>
          </a:prstGeom>
          <a:noFill/>
          <a:ln/>
        </p:spPr>
        <p:txBody>
          <a:bodyPr wrap="square" lIns="0" tIns="0" rIns="0" bIns="0" rtlCol="0" anchor="ctr"/>
          <a:lstStyle/>
          <a:p>
            <a:pPr algn="ctr" indent="0" marL="0">
              <a:buNone/>
            </a:pPr>
            <a:r>
              <a:rPr lang="en-US" sz="1000" dirty="0">
                <a:solidFill>
                  <a:srgbClr val="9FB0B0"/>
                </a:solidFill>
                <a:latin typeface="Poppins" pitchFamily="34" charset="0"/>
                <a:ea typeface="Poppins" pitchFamily="34" charset="-122"/>
                <a:cs typeface="Poppins" pitchFamily="34" charset="-120"/>
              </a:rPr>
              <a:t>Public</a:t>
            </a:r>
            <a:endParaRPr lang="en-US" sz="1000" dirty="0"/>
          </a:p>
        </p:txBody>
      </p:sp>
      <p:sp>
        <p:nvSpPr>
          <p:cNvPr id="14" name="A3-desc"/>
          <p:cNvSpPr txBox="1"/>
          <p:nvPr/>
        </p:nvSpPr>
        <p:spPr>
          <a:xfrm>
            <a:off x="5349240" y="2532888"/>
            <a:ext cx="5879592" cy="548640"/>
          </a:xfrm>
          <a:prstGeom prst="rect">
            <a:avLst/>
          </a:prstGeom>
          <a:noFill/>
          <a:ln/>
        </p:spPr>
        <p:txBody>
          <a:bodyPr wrap="square" lIns="0" tIns="0" rIns="0" bIns="0" rtlCol="0" anchor="t"/>
          <a:lstStyle/>
          <a:p>
            <a:pPr indent="0" marL="0">
              <a:buNone/>
            </a:pPr>
            <a:r>
              <a:rPr lang="en-US" sz="1400" dirty="0">
                <a:solidFill>
                  <a:srgbClr val="9FB0B0"/>
                </a:solidFill>
                <a:latin typeface="Poppins" pitchFamily="34" charset="0"/>
                <a:ea typeface="Poppins" pitchFamily="34" charset="-122"/>
                <a:cs typeface="Poppins" pitchFamily="34" charset="-120"/>
              </a:rPr>
              <a:t>Tracks monthly payments for a neighborhood generator. The owner sees who paid in one tap.</a:t>
            </a:r>
            <a:endParaRPr lang="en-US" sz="1400" dirty="0"/>
          </a:p>
        </p:txBody>
      </p:sp>
      <p:sp>
        <p:nvSpPr>
          <p:cNvPr id="15" name="A3-tagFastAPI"/>
          <p:cNvSpPr/>
          <p:nvPr/>
        </p:nvSpPr>
        <p:spPr>
          <a:xfrm>
            <a:off x="5349240" y="3154680"/>
            <a:ext cx="763524" cy="274320"/>
          </a:xfrm>
          <a:prstGeom prst="roundRect">
            <a:avLst>
              <a:gd name="adj" fmla="val 50000"/>
            </a:avLst>
          </a:prstGeom>
          <a:solidFill>
            <a:srgbClr val="0E3436"/>
          </a:solidFill>
          <a:ln/>
        </p:spPr>
      </p:sp>
      <p:sp>
        <p:nvSpPr>
          <p:cNvPr id="16" name="A3-tagTFastAPI"/>
          <p:cNvSpPr txBox="1"/>
          <p:nvPr/>
        </p:nvSpPr>
        <p:spPr>
          <a:xfrm>
            <a:off x="5349240" y="3154680"/>
            <a:ext cx="763524" cy="274320"/>
          </a:xfrm>
          <a:prstGeom prst="rect">
            <a:avLst/>
          </a:prstGeom>
          <a:noFill/>
          <a:ln/>
        </p:spPr>
        <p:txBody>
          <a:bodyPr wrap="square" lIns="0" tIns="0" rIns="0" bIns="0" rtlCol="0" anchor="ctr"/>
          <a:lstStyle/>
          <a:p>
            <a:pPr algn="ctr" indent="0" marL="0">
              <a:buNone/>
            </a:pPr>
            <a:r>
              <a:rPr lang="en-US" sz="1000" dirty="0">
                <a:solidFill>
                  <a:srgbClr val="0CCCCC"/>
                </a:solidFill>
                <a:latin typeface="Poppins Medium" pitchFamily="34" charset="0"/>
                <a:ea typeface="Poppins Medium" pitchFamily="34" charset="-122"/>
                <a:cs typeface="Poppins Medium" pitchFamily="34" charset="-120"/>
              </a:rPr>
              <a:t>FastAPI</a:t>
            </a:r>
            <a:endParaRPr lang="en-US" sz="1000" dirty="0"/>
          </a:p>
        </p:txBody>
      </p:sp>
      <p:sp>
        <p:nvSpPr>
          <p:cNvPr id="17" name="A3-tagPostgreSQL"/>
          <p:cNvSpPr/>
          <p:nvPr/>
        </p:nvSpPr>
        <p:spPr>
          <a:xfrm>
            <a:off x="6222492" y="3154680"/>
            <a:ext cx="996696" cy="274320"/>
          </a:xfrm>
          <a:prstGeom prst="roundRect">
            <a:avLst>
              <a:gd name="adj" fmla="val 50000"/>
            </a:avLst>
          </a:prstGeom>
          <a:solidFill>
            <a:srgbClr val="0E3436"/>
          </a:solidFill>
          <a:ln/>
        </p:spPr>
      </p:sp>
      <p:sp>
        <p:nvSpPr>
          <p:cNvPr id="18" name="A3-tagTPostgreSQL"/>
          <p:cNvSpPr txBox="1"/>
          <p:nvPr/>
        </p:nvSpPr>
        <p:spPr>
          <a:xfrm>
            <a:off x="6222492" y="3154680"/>
            <a:ext cx="996696" cy="274320"/>
          </a:xfrm>
          <a:prstGeom prst="rect">
            <a:avLst/>
          </a:prstGeom>
          <a:noFill/>
          <a:ln/>
        </p:spPr>
        <p:txBody>
          <a:bodyPr wrap="square" lIns="0" tIns="0" rIns="0" bIns="0" rtlCol="0" anchor="ctr"/>
          <a:lstStyle/>
          <a:p>
            <a:pPr algn="ctr" indent="0" marL="0">
              <a:buNone/>
            </a:pPr>
            <a:r>
              <a:rPr lang="en-US" sz="1000" dirty="0">
                <a:solidFill>
                  <a:srgbClr val="0CCCCC"/>
                </a:solidFill>
                <a:latin typeface="Poppins Medium" pitchFamily="34" charset="0"/>
                <a:ea typeface="Poppins Medium" pitchFamily="34" charset="-122"/>
                <a:cs typeface="Poppins Medium" pitchFamily="34" charset="-120"/>
              </a:rPr>
              <a:t>PostgreSQL</a:t>
            </a:r>
            <a:endParaRPr lang="en-US" sz="1000" dirty="0"/>
          </a:p>
        </p:txBody>
      </p:sp>
      <p:sp>
        <p:nvSpPr>
          <p:cNvPr id="19" name="A3-tagReact"/>
          <p:cNvSpPr/>
          <p:nvPr/>
        </p:nvSpPr>
        <p:spPr>
          <a:xfrm>
            <a:off x="7328916" y="3154680"/>
            <a:ext cx="608076" cy="274320"/>
          </a:xfrm>
          <a:prstGeom prst="roundRect">
            <a:avLst>
              <a:gd name="adj" fmla="val 50000"/>
            </a:avLst>
          </a:prstGeom>
          <a:solidFill>
            <a:srgbClr val="0E3436"/>
          </a:solidFill>
          <a:ln/>
        </p:spPr>
      </p:sp>
      <p:sp>
        <p:nvSpPr>
          <p:cNvPr id="20" name="A3-tagTReact"/>
          <p:cNvSpPr txBox="1"/>
          <p:nvPr/>
        </p:nvSpPr>
        <p:spPr>
          <a:xfrm>
            <a:off x="7328916" y="3154680"/>
            <a:ext cx="608076" cy="274320"/>
          </a:xfrm>
          <a:prstGeom prst="rect">
            <a:avLst/>
          </a:prstGeom>
          <a:noFill/>
          <a:ln/>
        </p:spPr>
        <p:txBody>
          <a:bodyPr wrap="square" lIns="0" tIns="0" rIns="0" bIns="0" rtlCol="0" anchor="ctr"/>
          <a:lstStyle/>
          <a:p>
            <a:pPr algn="ctr" indent="0" marL="0">
              <a:buNone/>
            </a:pPr>
            <a:r>
              <a:rPr lang="en-US" sz="1000" dirty="0">
                <a:solidFill>
                  <a:srgbClr val="0CCCCC"/>
                </a:solidFill>
                <a:latin typeface="Poppins Medium" pitchFamily="34" charset="0"/>
                <a:ea typeface="Poppins Medium" pitchFamily="34" charset="-122"/>
                <a:cs typeface="Poppins Medium" pitchFamily="34" charset="-120"/>
              </a:rPr>
              <a:t>React</a:t>
            </a:r>
            <a:endParaRPr lang="en-US" sz="1000" dirty="0"/>
          </a:p>
        </p:txBody>
      </p:sp>
      <p:sp>
        <p:nvSpPr>
          <p:cNvPr id="21" name="A3-tagDeployed"/>
          <p:cNvSpPr/>
          <p:nvPr/>
        </p:nvSpPr>
        <p:spPr>
          <a:xfrm>
            <a:off x="8046720" y="3154680"/>
            <a:ext cx="841248" cy="274320"/>
          </a:xfrm>
          <a:prstGeom prst="roundRect">
            <a:avLst>
              <a:gd name="adj" fmla="val 50000"/>
            </a:avLst>
          </a:prstGeom>
          <a:solidFill>
            <a:srgbClr val="0E3436"/>
          </a:solidFill>
          <a:ln/>
        </p:spPr>
      </p:sp>
      <p:sp>
        <p:nvSpPr>
          <p:cNvPr id="22" name="A3-tagTDeployed"/>
          <p:cNvSpPr txBox="1"/>
          <p:nvPr/>
        </p:nvSpPr>
        <p:spPr>
          <a:xfrm>
            <a:off x="8046720" y="3154680"/>
            <a:ext cx="841248" cy="274320"/>
          </a:xfrm>
          <a:prstGeom prst="rect">
            <a:avLst/>
          </a:prstGeom>
          <a:noFill/>
          <a:ln/>
        </p:spPr>
        <p:txBody>
          <a:bodyPr wrap="square" lIns="0" tIns="0" rIns="0" bIns="0" rtlCol="0" anchor="ctr"/>
          <a:lstStyle/>
          <a:p>
            <a:pPr algn="ctr" indent="0" marL="0">
              <a:buNone/>
            </a:pPr>
            <a:r>
              <a:rPr lang="en-US" sz="1000" dirty="0">
                <a:solidFill>
                  <a:srgbClr val="0CCCCC"/>
                </a:solidFill>
                <a:latin typeface="Poppins Medium" pitchFamily="34" charset="0"/>
                <a:ea typeface="Poppins Medium" pitchFamily="34" charset="-122"/>
                <a:cs typeface="Poppins Medium" pitchFamily="34" charset="-120"/>
              </a:rPr>
              <a:t>Deployed</a:t>
            </a:r>
            <a:endParaRPr lang="en-US" sz="1000" dirty="0"/>
          </a:p>
        </p:txBody>
      </p:sp>
      <p:sp>
        <p:nvSpPr>
          <p:cNvPr id="23" name="A4-g"/>
          <p:cNvSpPr/>
          <p:nvPr/>
        </p:nvSpPr>
        <p:spPr>
          <a:xfrm>
            <a:off x="5349240" y="3611880"/>
            <a:ext cx="141732" cy="141732"/>
          </a:xfrm>
          <a:prstGeom prst="roundRect">
            <a:avLst>
              <a:gd name="adj" fmla="val 19355"/>
            </a:avLst>
          </a:prstGeom>
          <a:solidFill>
            <a:srgbClr val="16292A"/>
          </a:solidFill>
          <a:ln/>
        </p:spPr>
      </p:sp>
      <p:sp>
        <p:nvSpPr>
          <p:cNvPr id="24" name="A4-g"/>
          <p:cNvSpPr/>
          <p:nvPr/>
        </p:nvSpPr>
        <p:spPr>
          <a:xfrm>
            <a:off x="5349240" y="3794760"/>
            <a:ext cx="141732" cy="141732"/>
          </a:xfrm>
          <a:prstGeom prst="roundRect">
            <a:avLst>
              <a:gd name="adj" fmla="val 19355"/>
            </a:avLst>
          </a:prstGeom>
          <a:solidFill>
            <a:srgbClr val="16292A"/>
          </a:solidFill>
          <a:ln/>
        </p:spPr>
      </p:sp>
      <p:sp>
        <p:nvSpPr>
          <p:cNvPr id="25" name="A4-g"/>
          <p:cNvSpPr/>
          <p:nvPr/>
        </p:nvSpPr>
        <p:spPr>
          <a:xfrm>
            <a:off x="5349240" y="3977640"/>
            <a:ext cx="141732" cy="141732"/>
          </a:xfrm>
          <a:prstGeom prst="roundRect">
            <a:avLst>
              <a:gd name="adj" fmla="val 19355"/>
            </a:avLst>
          </a:prstGeom>
          <a:solidFill>
            <a:srgbClr val="16292A"/>
          </a:solidFill>
          <a:ln/>
        </p:spPr>
      </p:sp>
      <p:sp>
        <p:nvSpPr>
          <p:cNvPr id="26" name="A4-g"/>
          <p:cNvSpPr/>
          <p:nvPr/>
        </p:nvSpPr>
        <p:spPr>
          <a:xfrm>
            <a:off x="5349240" y="4160520"/>
            <a:ext cx="141732" cy="141732"/>
          </a:xfrm>
          <a:prstGeom prst="roundRect">
            <a:avLst>
              <a:gd name="adj" fmla="val 19355"/>
            </a:avLst>
          </a:prstGeom>
          <a:solidFill>
            <a:srgbClr val="16292A"/>
          </a:solidFill>
          <a:ln/>
        </p:spPr>
      </p:sp>
      <p:sp>
        <p:nvSpPr>
          <p:cNvPr id="27" name="A4-g"/>
          <p:cNvSpPr/>
          <p:nvPr/>
        </p:nvSpPr>
        <p:spPr>
          <a:xfrm>
            <a:off x="5349240" y="4343400"/>
            <a:ext cx="141732" cy="141732"/>
          </a:xfrm>
          <a:prstGeom prst="roundRect">
            <a:avLst>
              <a:gd name="adj" fmla="val 19355"/>
            </a:avLst>
          </a:prstGeom>
          <a:solidFill>
            <a:srgbClr val="16292A"/>
          </a:solidFill>
          <a:ln/>
        </p:spPr>
      </p:sp>
      <p:sp>
        <p:nvSpPr>
          <p:cNvPr id="28" name="A4-g"/>
          <p:cNvSpPr/>
          <p:nvPr/>
        </p:nvSpPr>
        <p:spPr>
          <a:xfrm>
            <a:off x="5532120" y="3611880"/>
            <a:ext cx="141732" cy="141732"/>
          </a:xfrm>
          <a:prstGeom prst="roundRect">
            <a:avLst>
              <a:gd name="adj" fmla="val 19355"/>
            </a:avLst>
          </a:prstGeom>
          <a:solidFill>
            <a:srgbClr val="16292A"/>
          </a:solidFill>
          <a:ln/>
        </p:spPr>
      </p:sp>
      <p:sp>
        <p:nvSpPr>
          <p:cNvPr id="29" name="A4-g"/>
          <p:cNvSpPr/>
          <p:nvPr/>
        </p:nvSpPr>
        <p:spPr>
          <a:xfrm>
            <a:off x="5532120" y="3794760"/>
            <a:ext cx="141732" cy="141732"/>
          </a:xfrm>
          <a:prstGeom prst="roundRect">
            <a:avLst>
              <a:gd name="adj" fmla="val 19355"/>
            </a:avLst>
          </a:prstGeom>
          <a:solidFill>
            <a:srgbClr val="16292A"/>
          </a:solidFill>
          <a:ln/>
        </p:spPr>
      </p:sp>
      <p:sp>
        <p:nvSpPr>
          <p:cNvPr id="30" name="A4-g"/>
          <p:cNvSpPr/>
          <p:nvPr/>
        </p:nvSpPr>
        <p:spPr>
          <a:xfrm>
            <a:off x="5532120" y="3977640"/>
            <a:ext cx="141732" cy="141732"/>
          </a:xfrm>
          <a:prstGeom prst="roundRect">
            <a:avLst>
              <a:gd name="adj" fmla="val 19355"/>
            </a:avLst>
          </a:prstGeom>
          <a:solidFill>
            <a:srgbClr val="067A7A"/>
          </a:solidFill>
          <a:ln/>
        </p:spPr>
      </p:sp>
      <p:sp>
        <p:nvSpPr>
          <p:cNvPr id="31" name="A4-g"/>
          <p:cNvSpPr/>
          <p:nvPr/>
        </p:nvSpPr>
        <p:spPr>
          <a:xfrm>
            <a:off x="5532120" y="4160520"/>
            <a:ext cx="141732" cy="141732"/>
          </a:xfrm>
          <a:prstGeom prst="roundRect">
            <a:avLst>
              <a:gd name="adj" fmla="val 19355"/>
            </a:avLst>
          </a:prstGeom>
          <a:solidFill>
            <a:srgbClr val="0B4E50"/>
          </a:solidFill>
          <a:ln/>
        </p:spPr>
      </p:sp>
      <p:sp>
        <p:nvSpPr>
          <p:cNvPr id="32" name="A4-g"/>
          <p:cNvSpPr/>
          <p:nvPr/>
        </p:nvSpPr>
        <p:spPr>
          <a:xfrm>
            <a:off x="5532120" y="4343400"/>
            <a:ext cx="141732" cy="141732"/>
          </a:xfrm>
          <a:prstGeom prst="roundRect">
            <a:avLst>
              <a:gd name="adj" fmla="val 19355"/>
            </a:avLst>
          </a:prstGeom>
          <a:solidFill>
            <a:srgbClr val="16292A"/>
          </a:solidFill>
          <a:ln/>
        </p:spPr>
      </p:sp>
      <p:sp>
        <p:nvSpPr>
          <p:cNvPr id="33" name="A4-g"/>
          <p:cNvSpPr/>
          <p:nvPr/>
        </p:nvSpPr>
        <p:spPr>
          <a:xfrm>
            <a:off x="5715000" y="3611880"/>
            <a:ext cx="141732" cy="141732"/>
          </a:xfrm>
          <a:prstGeom prst="roundRect">
            <a:avLst>
              <a:gd name="adj" fmla="val 19355"/>
            </a:avLst>
          </a:prstGeom>
          <a:solidFill>
            <a:srgbClr val="16292A"/>
          </a:solidFill>
          <a:ln/>
        </p:spPr>
      </p:sp>
      <p:sp>
        <p:nvSpPr>
          <p:cNvPr id="34" name="A4-g"/>
          <p:cNvSpPr/>
          <p:nvPr/>
        </p:nvSpPr>
        <p:spPr>
          <a:xfrm>
            <a:off x="5715000" y="3794760"/>
            <a:ext cx="141732" cy="141732"/>
          </a:xfrm>
          <a:prstGeom prst="roundRect">
            <a:avLst>
              <a:gd name="adj" fmla="val 19355"/>
            </a:avLst>
          </a:prstGeom>
          <a:solidFill>
            <a:srgbClr val="0B4E50"/>
          </a:solidFill>
          <a:ln/>
        </p:spPr>
      </p:sp>
      <p:sp>
        <p:nvSpPr>
          <p:cNvPr id="35" name="A4-g"/>
          <p:cNvSpPr/>
          <p:nvPr/>
        </p:nvSpPr>
        <p:spPr>
          <a:xfrm>
            <a:off x="5715000" y="3977640"/>
            <a:ext cx="141732" cy="141732"/>
          </a:xfrm>
          <a:prstGeom prst="roundRect">
            <a:avLst>
              <a:gd name="adj" fmla="val 19355"/>
            </a:avLst>
          </a:prstGeom>
          <a:solidFill>
            <a:srgbClr val="0B4E50"/>
          </a:solidFill>
          <a:ln/>
        </p:spPr>
      </p:sp>
      <p:sp>
        <p:nvSpPr>
          <p:cNvPr id="36" name="A4-g"/>
          <p:cNvSpPr/>
          <p:nvPr/>
        </p:nvSpPr>
        <p:spPr>
          <a:xfrm>
            <a:off x="5715000" y="4160520"/>
            <a:ext cx="141732" cy="141732"/>
          </a:xfrm>
          <a:prstGeom prst="roundRect">
            <a:avLst>
              <a:gd name="adj" fmla="val 19355"/>
            </a:avLst>
          </a:prstGeom>
          <a:solidFill>
            <a:srgbClr val="16292A"/>
          </a:solidFill>
          <a:ln/>
        </p:spPr>
      </p:sp>
      <p:sp>
        <p:nvSpPr>
          <p:cNvPr id="37" name="A4-g"/>
          <p:cNvSpPr/>
          <p:nvPr/>
        </p:nvSpPr>
        <p:spPr>
          <a:xfrm>
            <a:off x="5715000" y="4343400"/>
            <a:ext cx="141732" cy="141732"/>
          </a:xfrm>
          <a:prstGeom prst="roundRect">
            <a:avLst>
              <a:gd name="adj" fmla="val 19355"/>
            </a:avLst>
          </a:prstGeom>
          <a:solidFill>
            <a:srgbClr val="0B4E50"/>
          </a:solidFill>
          <a:ln/>
        </p:spPr>
      </p:sp>
      <p:sp>
        <p:nvSpPr>
          <p:cNvPr id="38" name="A4-g"/>
          <p:cNvSpPr/>
          <p:nvPr/>
        </p:nvSpPr>
        <p:spPr>
          <a:xfrm>
            <a:off x="5897880" y="3611880"/>
            <a:ext cx="141732" cy="141732"/>
          </a:xfrm>
          <a:prstGeom prst="roundRect">
            <a:avLst>
              <a:gd name="adj" fmla="val 19355"/>
            </a:avLst>
          </a:prstGeom>
          <a:solidFill>
            <a:srgbClr val="16292A"/>
          </a:solidFill>
          <a:ln/>
        </p:spPr>
      </p:sp>
      <p:sp>
        <p:nvSpPr>
          <p:cNvPr id="39" name="A4-g"/>
          <p:cNvSpPr/>
          <p:nvPr/>
        </p:nvSpPr>
        <p:spPr>
          <a:xfrm>
            <a:off x="5897880" y="3794760"/>
            <a:ext cx="141732" cy="141732"/>
          </a:xfrm>
          <a:prstGeom prst="roundRect">
            <a:avLst>
              <a:gd name="adj" fmla="val 19355"/>
            </a:avLst>
          </a:prstGeom>
          <a:solidFill>
            <a:srgbClr val="0B4E50"/>
          </a:solidFill>
          <a:ln/>
        </p:spPr>
      </p:sp>
      <p:sp>
        <p:nvSpPr>
          <p:cNvPr id="40" name="A4-g"/>
          <p:cNvSpPr/>
          <p:nvPr/>
        </p:nvSpPr>
        <p:spPr>
          <a:xfrm>
            <a:off x="5897880" y="3977640"/>
            <a:ext cx="141732" cy="141732"/>
          </a:xfrm>
          <a:prstGeom prst="roundRect">
            <a:avLst>
              <a:gd name="adj" fmla="val 19355"/>
            </a:avLst>
          </a:prstGeom>
          <a:solidFill>
            <a:srgbClr val="16292A"/>
          </a:solidFill>
          <a:ln/>
        </p:spPr>
      </p:sp>
      <p:sp>
        <p:nvSpPr>
          <p:cNvPr id="41" name="A4-g"/>
          <p:cNvSpPr/>
          <p:nvPr/>
        </p:nvSpPr>
        <p:spPr>
          <a:xfrm>
            <a:off x="5897880" y="4160520"/>
            <a:ext cx="141732" cy="141732"/>
          </a:xfrm>
          <a:prstGeom prst="roundRect">
            <a:avLst>
              <a:gd name="adj" fmla="val 19355"/>
            </a:avLst>
          </a:prstGeom>
          <a:solidFill>
            <a:srgbClr val="0B4E50"/>
          </a:solidFill>
          <a:ln/>
        </p:spPr>
      </p:sp>
      <p:sp>
        <p:nvSpPr>
          <p:cNvPr id="42" name="A4-g"/>
          <p:cNvSpPr/>
          <p:nvPr/>
        </p:nvSpPr>
        <p:spPr>
          <a:xfrm>
            <a:off x="5897880" y="4343400"/>
            <a:ext cx="141732" cy="141732"/>
          </a:xfrm>
          <a:prstGeom prst="roundRect">
            <a:avLst>
              <a:gd name="adj" fmla="val 19355"/>
            </a:avLst>
          </a:prstGeom>
          <a:solidFill>
            <a:srgbClr val="0B4E50"/>
          </a:solidFill>
          <a:ln/>
        </p:spPr>
      </p:sp>
      <p:sp>
        <p:nvSpPr>
          <p:cNvPr id="43" name="A4-g"/>
          <p:cNvSpPr/>
          <p:nvPr/>
        </p:nvSpPr>
        <p:spPr>
          <a:xfrm>
            <a:off x="6080760" y="3611880"/>
            <a:ext cx="141732" cy="141732"/>
          </a:xfrm>
          <a:prstGeom prst="roundRect">
            <a:avLst>
              <a:gd name="adj" fmla="val 19355"/>
            </a:avLst>
          </a:prstGeom>
          <a:solidFill>
            <a:srgbClr val="16292A"/>
          </a:solidFill>
          <a:ln/>
        </p:spPr>
      </p:sp>
      <p:sp>
        <p:nvSpPr>
          <p:cNvPr id="44" name="A4-g"/>
          <p:cNvSpPr/>
          <p:nvPr/>
        </p:nvSpPr>
        <p:spPr>
          <a:xfrm>
            <a:off x="6080760" y="3794760"/>
            <a:ext cx="141732" cy="141732"/>
          </a:xfrm>
          <a:prstGeom prst="roundRect">
            <a:avLst>
              <a:gd name="adj" fmla="val 19355"/>
            </a:avLst>
          </a:prstGeom>
          <a:solidFill>
            <a:srgbClr val="16292A"/>
          </a:solidFill>
          <a:ln/>
        </p:spPr>
      </p:sp>
      <p:sp>
        <p:nvSpPr>
          <p:cNvPr id="45" name="A4-g"/>
          <p:cNvSpPr/>
          <p:nvPr/>
        </p:nvSpPr>
        <p:spPr>
          <a:xfrm>
            <a:off x="6080760" y="3977640"/>
            <a:ext cx="141732" cy="141732"/>
          </a:xfrm>
          <a:prstGeom prst="roundRect">
            <a:avLst>
              <a:gd name="adj" fmla="val 19355"/>
            </a:avLst>
          </a:prstGeom>
          <a:solidFill>
            <a:srgbClr val="067A7A"/>
          </a:solidFill>
          <a:ln/>
        </p:spPr>
      </p:sp>
      <p:sp>
        <p:nvSpPr>
          <p:cNvPr id="46" name="A4-g"/>
          <p:cNvSpPr/>
          <p:nvPr/>
        </p:nvSpPr>
        <p:spPr>
          <a:xfrm>
            <a:off x="6080760" y="4160520"/>
            <a:ext cx="141732" cy="141732"/>
          </a:xfrm>
          <a:prstGeom prst="roundRect">
            <a:avLst>
              <a:gd name="adj" fmla="val 19355"/>
            </a:avLst>
          </a:prstGeom>
          <a:solidFill>
            <a:srgbClr val="067A7A"/>
          </a:solidFill>
          <a:ln/>
        </p:spPr>
      </p:sp>
      <p:sp>
        <p:nvSpPr>
          <p:cNvPr id="47" name="A4-g"/>
          <p:cNvSpPr/>
          <p:nvPr/>
        </p:nvSpPr>
        <p:spPr>
          <a:xfrm>
            <a:off x="6080760" y="4343400"/>
            <a:ext cx="141732" cy="141732"/>
          </a:xfrm>
          <a:prstGeom prst="roundRect">
            <a:avLst>
              <a:gd name="adj" fmla="val 19355"/>
            </a:avLst>
          </a:prstGeom>
          <a:solidFill>
            <a:srgbClr val="16292A"/>
          </a:solidFill>
          <a:ln/>
        </p:spPr>
      </p:sp>
      <p:sp>
        <p:nvSpPr>
          <p:cNvPr id="48" name="A4-g"/>
          <p:cNvSpPr/>
          <p:nvPr/>
        </p:nvSpPr>
        <p:spPr>
          <a:xfrm>
            <a:off x="6263640" y="3611880"/>
            <a:ext cx="141732" cy="141732"/>
          </a:xfrm>
          <a:prstGeom prst="roundRect">
            <a:avLst>
              <a:gd name="adj" fmla="val 19355"/>
            </a:avLst>
          </a:prstGeom>
          <a:solidFill>
            <a:srgbClr val="0B4E50"/>
          </a:solidFill>
          <a:ln/>
        </p:spPr>
      </p:sp>
      <p:sp>
        <p:nvSpPr>
          <p:cNvPr id="49" name="A4-g"/>
          <p:cNvSpPr/>
          <p:nvPr/>
        </p:nvSpPr>
        <p:spPr>
          <a:xfrm>
            <a:off x="6263640" y="3794760"/>
            <a:ext cx="141732" cy="141732"/>
          </a:xfrm>
          <a:prstGeom prst="roundRect">
            <a:avLst>
              <a:gd name="adj" fmla="val 19355"/>
            </a:avLst>
          </a:prstGeom>
          <a:solidFill>
            <a:srgbClr val="067A7A"/>
          </a:solidFill>
          <a:ln/>
        </p:spPr>
      </p:sp>
      <p:sp>
        <p:nvSpPr>
          <p:cNvPr id="50" name="A4-g"/>
          <p:cNvSpPr/>
          <p:nvPr/>
        </p:nvSpPr>
        <p:spPr>
          <a:xfrm>
            <a:off x="6263640" y="3977640"/>
            <a:ext cx="141732" cy="141732"/>
          </a:xfrm>
          <a:prstGeom prst="roundRect">
            <a:avLst>
              <a:gd name="adj" fmla="val 19355"/>
            </a:avLst>
          </a:prstGeom>
          <a:solidFill>
            <a:srgbClr val="16292A"/>
          </a:solidFill>
          <a:ln/>
        </p:spPr>
      </p:sp>
      <p:sp>
        <p:nvSpPr>
          <p:cNvPr id="51" name="A4-g"/>
          <p:cNvSpPr/>
          <p:nvPr/>
        </p:nvSpPr>
        <p:spPr>
          <a:xfrm>
            <a:off x="6263640" y="4160520"/>
            <a:ext cx="141732" cy="141732"/>
          </a:xfrm>
          <a:prstGeom prst="roundRect">
            <a:avLst>
              <a:gd name="adj" fmla="val 19355"/>
            </a:avLst>
          </a:prstGeom>
          <a:solidFill>
            <a:srgbClr val="0B4E50"/>
          </a:solidFill>
          <a:ln/>
        </p:spPr>
      </p:sp>
      <p:sp>
        <p:nvSpPr>
          <p:cNvPr id="52" name="A4-g"/>
          <p:cNvSpPr/>
          <p:nvPr/>
        </p:nvSpPr>
        <p:spPr>
          <a:xfrm>
            <a:off x="6263640" y="4343400"/>
            <a:ext cx="141732" cy="141732"/>
          </a:xfrm>
          <a:prstGeom prst="roundRect">
            <a:avLst>
              <a:gd name="adj" fmla="val 19355"/>
            </a:avLst>
          </a:prstGeom>
          <a:solidFill>
            <a:srgbClr val="0B4E50"/>
          </a:solidFill>
          <a:ln/>
        </p:spPr>
      </p:sp>
      <p:sp>
        <p:nvSpPr>
          <p:cNvPr id="53" name="A4-g"/>
          <p:cNvSpPr/>
          <p:nvPr/>
        </p:nvSpPr>
        <p:spPr>
          <a:xfrm>
            <a:off x="6446520" y="3611880"/>
            <a:ext cx="141732" cy="141732"/>
          </a:xfrm>
          <a:prstGeom prst="roundRect">
            <a:avLst>
              <a:gd name="adj" fmla="val 19355"/>
            </a:avLst>
          </a:prstGeom>
          <a:solidFill>
            <a:srgbClr val="067A7A"/>
          </a:solidFill>
          <a:ln/>
        </p:spPr>
      </p:sp>
      <p:sp>
        <p:nvSpPr>
          <p:cNvPr id="54" name="A4-g"/>
          <p:cNvSpPr/>
          <p:nvPr/>
        </p:nvSpPr>
        <p:spPr>
          <a:xfrm>
            <a:off x="6446520" y="3794760"/>
            <a:ext cx="141732" cy="141732"/>
          </a:xfrm>
          <a:prstGeom prst="roundRect">
            <a:avLst>
              <a:gd name="adj" fmla="val 19355"/>
            </a:avLst>
          </a:prstGeom>
          <a:solidFill>
            <a:srgbClr val="0B4E50"/>
          </a:solidFill>
          <a:ln/>
        </p:spPr>
      </p:sp>
      <p:sp>
        <p:nvSpPr>
          <p:cNvPr id="55" name="A4-g"/>
          <p:cNvSpPr/>
          <p:nvPr/>
        </p:nvSpPr>
        <p:spPr>
          <a:xfrm>
            <a:off x="6446520" y="3977640"/>
            <a:ext cx="141732" cy="141732"/>
          </a:xfrm>
          <a:prstGeom prst="roundRect">
            <a:avLst>
              <a:gd name="adj" fmla="val 19355"/>
            </a:avLst>
          </a:prstGeom>
          <a:solidFill>
            <a:srgbClr val="16292A"/>
          </a:solidFill>
          <a:ln/>
        </p:spPr>
      </p:sp>
      <p:sp>
        <p:nvSpPr>
          <p:cNvPr id="56" name="A4-g"/>
          <p:cNvSpPr/>
          <p:nvPr/>
        </p:nvSpPr>
        <p:spPr>
          <a:xfrm>
            <a:off x="6446520" y="4160520"/>
            <a:ext cx="141732" cy="141732"/>
          </a:xfrm>
          <a:prstGeom prst="roundRect">
            <a:avLst>
              <a:gd name="adj" fmla="val 19355"/>
            </a:avLst>
          </a:prstGeom>
          <a:solidFill>
            <a:srgbClr val="03A5A5"/>
          </a:solidFill>
          <a:ln/>
        </p:spPr>
      </p:sp>
      <p:sp>
        <p:nvSpPr>
          <p:cNvPr id="57" name="A4-g"/>
          <p:cNvSpPr/>
          <p:nvPr/>
        </p:nvSpPr>
        <p:spPr>
          <a:xfrm>
            <a:off x="6446520" y="4343400"/>
            <a:ext cx="141732" cy="141732"/>
          </a:xfrm>
          <a:prstGeom prst="roundRect">
            <a:avLst>
              <a:gd name="adj" fmla="val 19355"/>
            </a:avLst>
          </a:prstGeom>
          <a:solidFill>
            <a:srgbClr val="0B4E50"/>
          </a:solidFill>
          <a:ln/>
        </p:spPr>
      </p:sp>
      <p:sp>
        <p:nvSpPr>
          <p:cNvPr id="58" name="A4-g"/>
          <p:cNvSpPr/>
          <p:nvPr/>
        </p:nvSpPr>
        <p:spPr>
          <a:xfrm>
            <a:off x="6629400" y="3611880"/>
            <a:ext cx="141732" cy="141732"/>
          </a:xfrm>
          <a:prstGeom prst="roundRect">
            <a:avLst>
              <a:gd name="adj" fmla="val 19355"/>
            </a:avLst>
          </a:prstGeom>
          <a:solidFill>
            <a:srgbClr val="0B4E50"/>
          </a:solidFill>
          <a:ln/>
        </p:spPr>
      </p:sp>
      <p:sp>
        <p:nvSpPr>
          <p:cNvPr id="59" name="A4-g"/>
          <p:cNvSpPr/>
          <p:nvPr/>
        </p:nvSpPr>
        <p:spPr>
          <a:xfrm>
            <a:off x="6629400" y="3794760"/>
            <a:ext cx="141732" cy="141732"/>
          </a:xfrm>
          <a:prstGeom prst="roundRect">
            <a:avLst>
              <a:gd name="adj" fmla="val 19355"/>
            </a:avLst>
          </a:prstGeom>
          <a:solidFill>
            <a:srgbClr val="0B4E50"/>
          </a:solidFill>
          <a:ln/>
        </p:spPr>
      </p:sp>
      <p:sp>
        <p:nvSpPr>
          <p:cNvPr id="60" name="A4-g"/>
          <p:cNvSpPr/>
          <p:nvPr/>
        </p:nvSpPr>
        <p:spPr>
          <a:xfrm>
            <a:off x="6629400" y="3977640"/>
            <a:ext cx="141732" cy="141732"/>
          </a:xfrm>
          <a:prstGeom prst="roundRect">
            <a:avLst>
              <a:gd name="adj" fmla="val 19355"/>
            </a:avLst>
          </a:prstGeom>
          <a:solidFill>
            <a:srgbClr val="0B4E50"/>
          </a:solidFill>
          <a:ln/>
        </p:spPr>
      </p:sp>
      <p:sp>
        <p:nvSpPr>
          <p:cNvPr id="61" name="A4-g"/>
          <p:cNvSpPr/>
          <p:nvPr/>
        </p:nvSpPr>
        <p:spPr>
          <a:xfrm>
            <a:off x="6629400" y="4160520"/>
            <a:ext cx="141732" cy="141732"/>
          </a:xfrm>
          <a:prstGeom prst="roundRect">
            <a:avLst>
              <a:gd name="adj" fmla="val 19355"/>
            </a:avLst>
          </a:prstGeom>
          <a:solidFill>
            <a:srgbClr val="16292A"/>
          </a:solidFill>
          <a:ln/>
        </p:spPr>
      </p:sp>
      <p:sp>
        <p:nvSpPr>
          <p:cNvPr id="62" name="A4-g"/>
          <p:cNvSpPr/>
          <p:nvPr/>
        </p:nvSpPr>
        <p:spPr>
          <a:xfrm>
            <a:off x="6629400" y="4343400"/>
            <a:ext cx="141732" cy="141732"/>
          </a:xfrm>
          <a:prstGeom prst="roundRect">
            <a:avLst>
              <a:gd name="adj" fmla="val 19355"/>
            </a:avLst>
          </a:prstGeom>
          <a:solidFill>
            <a:srgbClr val="067A7A"/>
          </a:solidFill>
          <a:ln/>
        </p:spPr>
      </p:sp>
      <p:sp>
        <p:nvSpPr>
          <p:cNvPr id="63" name="A4-g"/>
          <p:cNvSpPr/>
          <p:nvPr/>
        </p:nvSpPr>
        <p:spPr>
          <a:xfrm>
            <a:off x="6812280" y="3611880"/>
            <a:ext cx="141732" cy="141732"/>
          </a:xfrm>
          <a:prstGeom prst="roundRect">
            <a:avLst>
              <a:gd name="adj" fmla="val 19355"/>
            </a:avLst>
          </a:prstGeom>
          <a:solidFill>
            <a:srgbClr val="0B4E50"/>
          </a:solidFill>
          <a:ln/>
        </p:spPr>
      </p:sp>
      <p:sp>
        <p:nvSpPr>
          <p:cNvPr id="64" name="A4-g"/>
          <p:cNvSpPr/>
          <p:nvPr/>
        </p:nvSpPr>
        <p:spPr>
          <a:xfrm>
            <a:off x="6812280" y="3794760"/>
            <a:ext cx="141732" cy="141732"/>
          </a:xfrm>
          <a:prstGeom prst="roundRect">
            <a:avLst>
              <a:gd name="adj" fmla="val 19355"/>
            </a:avLst>
          </a:prstGeom>
          <a:solidFill>
            <a:srgbClr val="0B4E50"/>
          </a:solidFill>
          <a:ln/>
        </p:spPr>
      </p:sp>
      <p:sp>
        <p:nvSpPr>
          <p:cNvPr id="65" name="A4-g"/>
          <p:cNvSpPr/>
          <p:nvPr/>
        </p:nvSpPr>
        <p:spPr>
          <a:xfrm>
            <a:off x="6812280" y="3977640"/>
            <a:ext cx="141732" cy="141732"/>
          </a:xfrm>
          <a:prstGeom prst="roundRect">
            <a:avLst>
              <a:gd name="adj" fmla="val 19355"/>
            </a:avLst>
          </a:prstGeom>
          <a:solidFill>
            <a:srgbClr val="16292A"/>
          </a:solidFill>
          <a:ln/>
        </p:spPr>
      </p:sp>
      <p:sp>
        <p:nvSpPr>
          <p:cNvPr id="66" name="A4-g"/>
          <p:cNvSpPr/>
          <p:nvPr/>
        </p:nvSpPr>
        <p:spPr>
          <a:xfrm>
            <a:off x="6812280" y="4160520"/>
            <a:ext cx="141732" cy="141732"/>
          </a:xfrm>
          <a:prstGeom prst="roundRect">
            <a:avLst>
              <a:gd name="adj" fmla="val 19355"/>
            </a:avLst>
          </a:prstGeom>
          <a:solidFill>
            <a:srgbClr val="03A5A5"/>
          </a:solidFill>
          <a:ln/>
        </p:spPr>
      </p:sp>
      <p:sp>
        <p:nvSpPr>
          <p:cNvPr id="67" name="A4-g"/>
          <p:cNvSpPr/>
          <p:nvPr/>
        </p:nvSpPr>
        <p:spPr>
          <a:xfrm>
            <a:off x="6812280" y="4343400"/>
            <a:ext cx="141732" cy="141732"/>
          </a:xfrm>
          <a:prstGeom prst="roundRect">
            <a:avLst>
              <a:gd name="adj" fmla="val 19355"/>
            </a:avLst>
          </a:prstGeom>
          <a:solidFill>
            <a:srgbClr val="0B4E50"/>
          </a:solidFill>
          <a:ln/>
        </p:spPr>
      </p:sp>
      <p:sp>
        <p:nvSpPr>
          <p:cNvPr id="68" name="A4-g"/>
          <p:cNvSpPr/>
          <p:nvPr/>
        </p:nvSpPr>
        <p:spPr>
          <a:xfrm>
            <a:off x="6995160" y="3611880"/>
            <a:ext cx="141732" cy="141732"/>
          </a:xfrm>
          <a:prstGeom prst="roundRect">
            <a:avLst>
              <a:gd name="adj" fmla="val 19355"/>
            </a:avLst>
          </a:prstGeom>
          <a:solidFill>
            <a:srgbClr val="03A5A5"/>
          </a:solidFill>
          <a:ln/>
        </p:spPr>
      </p:sp>
      <p:sp>
        <p:nvSpPr>
          <p:cNvPr id="69" name="A4-g"/>
          <p:cNvSpPr/>
          <p:nvPr/>
        </p:nvSpPr>
        <p:spPr>
          <a:xfrm>
            <a:off x="6995160" y="3794760"/>
            <a:ext cx="141732" cy="141732"/>
          </a:xfrm>
          <a:prstGeom prst="roundRect">
            <a:avLst>
              <a:gd name="adj" fmla="val 19355"/>
            </a:avLst>
          </a:prstGeom>
          <a:solidFill>
            <a:srgbClr val="067A7A"/>
          </a:solidFill>
          <a:ln/>
        </p:spPr>
      </p:sp>
      <p:sp>
        <p:nvSpPr>
          <p:cNvPr id="70" name="A4-g"/>
          <p:cNvSpPr/>
          <p:nvPr/>
        </p:nvSpPr>
        <p:spPr>
          <a:xfrm>
            <a:off x="6995160" y="3977640"/>
            <a:ext cx="141732" cy="141732"/>
          </a:xfrm>
          <a:prstGeom prst="roundRect">
            <a:avLst>
              <a:gd name="adj" fmla="val 19355"/>
            </a:avLst>
          </a:prstGeom>
          <a:solidFill>
            <a:srgbClr val="0B4E50"/>
          </a:solidFill>
          <a:ln/>
        </p:spPr>
      </p:sp>
      <p:sp>
        <p:nvSpPr>
          <p:cNvPr id="71" name="A4-g"/>
          <p:cNvSpPr/>
          <p:nvPr/>
        </p:nvSpPr>
        <p:spPr>
          <a:xfrm>
            <a:off x="6995160" y="4160520"/>
            <a:ext cx="141732" cy="141732"/>
          </a:xfrm>
          <a:prstGeom prst="roundRect">
            <a:avLst>
              <a:gd name="adj" fmla="val 19355"/>
            </a:avLst>
          </a:prstGeom>
          <a:solidFill>
            <a:srgbClr val="067A7A"/>
          </a:solidFill>
          <a:ln/>
        </p:spPr>
      </p:sp>
      <p:sp>
        <p:nvSpPr>
          <p:cNvPr id="72" name="A4-g"/>
          <p:cNvSpPr/>
          <p:nvPr/>
        </p:nvSpPr>
        <p:spPr>
          <a:xfrm>
            <a:off x="6995160" y="4343400"/>
            <a:ext cx="141732" cy="141732"/>
          </a:xfrm>
          <a:prstGeom prst="roundRect">
            <a:avLst>
              <a:gd name="adj" fmla="val 19355"/>
            </a:avLst>
          </a:prstGeom>
          <a:solidFill>
            <a:srgbClr val="0B4E50"/>
          </a:solidFill>
          <a:ln/>
        </p:spPr>
      </p:sp>
      <p:sp>
        <p:nvSpPr>
          <p:cNvPr id="73" name="A4-g"/>
          <p:cNvSpPr/>
          <p:nvPr/>
        </p:nvSpPr>
        <p:spPr>
          <a:xfrm>
            <a:off x="7178040" y="3611880"/>
            <a:ext cx="141732" cy="141732"/>
          </a:xfrm>
          <a:prstGeom prst="roundRect">
            <a:avLst>
              <a:gd name="adj" fmla="val 19355"/>
            </a:avLst>
          </a:prstGeom>
          <a:solidFill>
            <a:srgbClr val="03A5A5"/>
          </a:solidFill>
          <a:ln/>
        </p:spPr>
      </p:sp>
      <p:sp>
        <p:nvSpPr>
          <p:cNvPr id="74" name="A4-g"/>
          <p:cNvSpPr/>
          <p:nvPr/>
        </p:nvSpPr>
        <p:spPr>
          <a:xfrm>
            <a:off x="7178040" y="3794760"/>
            <a:ext cx="141732" cy="141732"/>
          </a:xfrm>
          <a:prstGeom prst="roundRect">
            <a:avLst>
              <a:gd name="adj" fmla="val 19355"/>
            </a:avLst>
          </a:prstGeom>
          <a:solidFill>
            <a:srgbClr val="067A7A"/>
          </a:solidFill>
          <a:ln/>
        </p:spPr>
      </p:sp>
      <p:sp>
        <p:nvSpPr>
          <p:cNvPr id="75" name="A4-g"/>
          <p:cNvSpPr/>
          <p:nvPr/>
        </p:nvSpPr>
        <p:spPr>
          <a:xfrm>
            <a:off x="7178040" y="3977640"/>
            <a:ext cx="141732" cy="141732"/>
          </a:xfrm>
          <a:prstGeom prst="roundRect">
            <a:avLst>
              <a:gd name="adj" fmla="val 19355"/>
            </a:avLst>
          </a:prstGeom>
          <a:solidFill>
            <a:srgbClr val="0B4E50"/>
          </a:solidFill>
          <a:ln/>
        </p:spPr>
      </p:sp>
      <p:sp>
        <p:nvSpPr>
          <p:cNvPr id="76" name="A4-g"/>
          <p:cNvSpPr/>
          <p:nvPr/>
        </p:nvSpPr>
        <p:spPr>
          <a:xfrm>
            <a:off x="7178040" y="4160520"/>
            <a:ext cx="141732" cy="141732"/>
          </a:xfrm>
          <a:prstGeom prst="roundRect">
            <a:avLst>
              <a:gd name="adj" fmla="val 19355"/>
            </a:avLst>
          </a:prstGeom>
          <a:solidFill>
            <a:srgbClr val="0B4E50"/>
          </a:solidFill>
          <a:ln/>
        </p:spPr>
      </p:sp>
      <p:sp>
        <p:nvSpPr>
          <p:cNvPr id="77" name="A4-g"/>
          <p:cNvSpPr/>
          <p:nvPr/>
        </p:nvSpPr>
        <p:spPr>
          <a:xfrm>
            <a:off x="7178040" y="4343400"/>
            <a:ext cx="141732" cy="141732"/>
          </a:xfrm>
          <a:prstGeom prst="roundRect">
            <a:avLst>
              <a:gd name="adj" fmla="val 19355"/>
            </a:avLst>
          </a:prstGeom>
          <a:solidFill>
            <a:srgbClr val="067A7A"/>
          </a:solidFill>
          <a:ln/>
        </p:spPr>
      </p:sp>
      <p:sp>
        <p:nvSpPr>
          <p:cNvPr id="78" name="A4-g"/>
          <p:cNvSpPr/>
          <p:nvPr/>
        </p:nvSpPr>
        <p:spPr>
          <a:xfrm>
            <a:off x="7360920" y="3611880"/>
            <a:ext cx="141732" cy="141732"/>
          </a:xfrm>
          <a:prstGeom prst="roundRect">
            <a:avLst>
              <a:gd name="adj" fmla="val 19355"/>
            </a:avLst>
          </a:prstGeom>
          <a:solidFill>
            <a:srgbClr val="0B4E50"/>
          </a:solidFill>
          <a:ln/>
        </p:spPr>
      </p:sp>
      <p:sp>
        <p:nvSpPr>
          <p:cNvPr id="79" name="A4-g"/>
          <p:cNvSpPr/>
          <p:nvPr/>
        </p:nvSpPr>
        <p:spPr>
          <a:xfrm>
            <a:off x="7360920" y="3794760"/>
            <a:ext cx="141732" cy="141732"/>
          </a:xfrm>
          <a:prstGeom prst="roundRect">
            <a:avLst>
              <a:gd name="adj" fmla="val 19355"/>
            </a:avLst>
          </a:prstGeom>
          <a:solidFill>
            <a:srgbClr val="0B4E50"/>
          </a:solidFill>
          <a:ln/>
        </p:spPr>
      </p:sp>
      <p:sp>
        <p:nvSpPr>
          <p:cNvPr id="80" name="A4-g"/>
          <p:cNvSpPr/>
          <p:nvPr/>
        </p:nvSpPr>
        <p:spPr>
          <a:xfrm>
            <a:off x="7360920" y="3977640"/>
            <a:ext cx="141732" cy="141732"/>
          </a:xfrm>
          <a:prstGeom prst="roundRect">
            <a:avLst>
              <a:gd name="adj" fmla="val 19355"/>
            </a:avLst>
          </a:prstGeom>
          <a:solidFill>
            <a:srgbClr val="067A7A"/>
          </a:solidFill>
          <a:ln/>
        </p:spPr>
      </p:sp>
      <p:sp>
        <p:nvSpPr>
          <p:cNvPr id="81" name="A4-g"/>
          <p:cNvSpPr/>
          <p:nvPr/>
        </p:nvSpPr>
        <p:spPr>
          <a:xfrm>
            <a:off x="7360920" y="4160520"/>
            <a:ext cx="141732" cy="141732"/>
          </a:xfrm>
          <a:prstGeom prst="roundRect">
            <a:avLst>
              <a:gd name="adj" fmla="val 19355"/>
            </a:avLst>
          </a:prstGeom>
          <a:solidFill>
            <a:srgbClr val="067A7A"/>
          </a:solidFill>
          <a:ln/>
        </p:spPr>
      </p:sp>
      <p:sp>
        <p:nvSpPr>
          <p:cNvPr id="82" name="A4-g"/>
          <p:cNvSpPr/>
          <p:nvPr/>
        </p:nvSpPr>
        <p:spPr>
          <a:xfrm>
            <a:off x="7360920" y="4343400"/>
            <a:ext cx="141732" cy="141732"/>
          </a:xfrm>
          <a:prstGeom prst="roundRect">
            <a:avLst>
              <a:gd name="adj" fmla="val 19355"/>
            </a:avLst>
          </a:prstGeom>
          <a:solidFill>
            <a:srgbClr val="067A7A"/>
          </a:solidFill>
          <a:ln/>
        </p:spPr>
      </p:sp>
      <p:sp>
        <p:nvSpPr>
          <p:cNvPr id="83" name="A4-g"/>
          <p:cNvSpPr/>
          <p:nvPr/>
        </p:nvSpPr>
        <p:spPr>
          <a:xfrm>
            <a:off x="7543800" y="3611880"/>
            <a:ext cx="141732" cy="141732"/>
          </a:xfrm>
          <a:prstGeom prst="roundRect">
            <a:avLst>
              <a:gd name="adj" fmla="val 19355"/>
            </a:avLst>
          </a:prstGeom>
          <a:solidFill>
            <a:srgbClr val="03A5A5"/>
          </a:solidFill>
          <a:ln/>
        </p:spPr>
      </p:sp>
      <p:sp>
        <p:nvSpPr>
          <p:cNvPr id="84" name="A4-g"/>
          <p:cNvSpPr/>
          <p:nvPr/>
        </p:nvSpPr>
        <p:spPr>
          <a:xfrm>
            <a:off x="7543800" y="3794760"/>
            <a:ext cx="141732" cy="141732"/>
          </a:xfrm>
          <a:prstGeom prst="roundRect">
            <a:avLst>
              <a:gd name="adj" fmla="val 19355"/>
            </a:avLst>
          </a:prstGeom>
          <a:solidFill>
            <a:srgbClr val="067A7A"/>
          </a:solidFill>
          <a:ln/>
        </p:spPr>
      </p:sp>
      <p:sp>
        <p:nvSpPr>
          <p:cNvPr id="85" name="A4-g"/>
          <p:cNvSpPr/>
          <p:nvPr/>
        </p:nvSpPr>
        <p:spPr>
          <a:xfrm>
            <a:off x="7543800" y="3977640"/>
            <a:ext cx="141732" cy="141732"/>
          </a:xfrm>
          <a:prstGeom prst="roundRect">
            <a:avLst>
              <a:gd name="adj" fmla="val 19355"/>
            </a:avLst>
          </a:prstGeom>
          <a:solidFill>
            <a:srgbClr val="067A7A"/>
          </a:solidFill>
          <a:ln/>
        </p:spPr>
      </p:sp>
      <p:sp>
        <p:nvSpPr>
          <p:cNvPr id="86" name="A4-g"/>
          <p:cNvSpPr/>
          <p:nvPr/>
        </p:nvSpPr>
        <p:spPr>
          <a:xfrm>
            <a:off x="7543800" y="4160520"/>
            <a:ext cx="141732" cy="141732"/>
          </a:xfrm>
          <a:prstGeom prst="roundRect">
            <a:avLst>
              <a:gd name="adj" fmla="val 19355"/>
            </a:avLst>
          </a:prstGeom>
          <a:solidFill>
            <a:srgbClr val="067A7A"/>
          </a:solidFill>
          <a:ln/>
        </p:spPr>
      </p:sp>
      <p:sp>
        <p:nvSpPr>
          <p:cNvPr id="87" name="A4-g"/>
          <p:cNvSpPr/>
          <p:nvPr/>
        </p:nvSpPr>
        <p:spPr>
          <a:xfrm>
            <a:off x="7543800" y="4343400"/>
            <a:ext cx="141732" cy="141732"/>
          </a:xfrm>
          <a:prstGeom prst="roundRect">
            <a:avLst>
              <a:gd name="adj" fmla="val 19355"/>
            </a:avLst>
          </a:prstGeom>
          <a:solidFill>
            <a:srgbClr val="067A7A"/>
          </a:solidFill>
          <a:ln/>
        </p:spPr>
      </p:sp>
      <p:sp>
        <p:nvSpPr>
          <p:cNvPr id="88" name="A4-g"/>
          <p:cNvSpPr/>
          <p:nvPr/>
        </p:nvSpPr>
        <p:spPr>
          <a:xfrm>
            <a:off x="7726680" y="3611880"/>
            <a:ext cx="141732" cy="141732"/>
          </a:xfrm>
          <a:prstGeom prst="roundRect">
            <a:avLst>
              <a:gd name="adj" fmla="val 19355"/>
            </a:avLst>
          </a:prstGeom>
          <a:solidFill>
            <a:srgbClr val="03A5A5"/>
          </a:solidFill>
          <a:ln/>
        </p:spPr>
      </p:sp>
      <p:sp>
        <p:nvSpPr>
          <p:cNvPr id="89" name="A4-g"/>
          <p:cNvSpPr/>
          <p:nvPr/>
        </p:nvSpPr>
        <p:spPr>
          <a:xfrm>
            <a:off x="7726680" y="3794760"/>
            <a:ext cx="141732" cy="141732"/>
          </a:xfrm>
          <a:prstGeom prst="roundRect">
            <a:avLst>
              <a:gd name="adj" fmla="val 19355"/>
            </a:avLst>
          </a:prstGeom>
          <a:solidFill>
            <a:srgbClr val="067A7A"/>
          </a:solidFill>
          <a:ln/>
        </p:spPr>
      </p:sp>
      <p:sp>
        <p:nvSpPr>
          <p:cNvPr id="90" name="A4-g"/>
          <p:cNvSpPr/>
          <p:nvPr/>
        </p:nvSpPr>
        <p:spPr>
          <a:xfrm>
            <a:off x="7726680" y="3977640"/>
            <a:ext cx="141732" cy="141732"/>
          </a:xfrm>
          <a:prstGeom prst="roundRect">
            <a:avLst>
              <a:gd name="adj" fmla="val 19355"/>
            </a:avLst>
          </a:prstGeom>
          <a:solidFill>
            <a:srgbClr val="067A7A"/>
          </a:solidFill>
          <a:ln/>
        </p:spPr>
      </p:sp>
      <p:sp>
        <p:nvSpPr>
          <p:cNvPr id="91" name="A4-g"/>
          <p:cNvSpPr/>
          <p:nvPr/>
        </p:nvSpPr>
        <p:spPr>
          <a:xfrm>
            <a:off x="7726680" y="4160520"/>
            <a:ext cx="141732" cy="141732"/>
          </a:xfrm>
          <a:prstGeom prst="roundRect">
            <a:avLst>
              <a:gd name="adj" fmla="val 19355"/>
            </a:avLst>
          </a:prstGeom>
          <a:solidFill>
            <a:srgbClr val="067A7A"/>
          </a:solidFill>
          <a:ln/>
        </p:spPr>
      </p:sp>
      <p:sp>
        <p:nvSpPr>
          <p:cNvPr id="92" name="A4-g"/>
          <p:cNvSpPr/>
          <p:nvPr/>
        </p:nvSpPr>
        <p:spPr>
          <a:xfrm>
            <a:off x="7726680" y="4343400"/>
            <a:ext cx="141732" cy="141732"/>
          </a:xfrm>
          <a:prstGeom prst="roundRect">
            <a:avLst>
              <a:gd name="adj" fmla="val 19355"/>
            </a:avLst>
          </a:prstGeom>
          <a:solidFill>
            <a:srgbClr val="0B4E50"/>
          </a:solidFill>
          <a:ln/>
        </p:spPr>
      </p:sp>
      <p:sp>
        <p:nvSpPr>
          <p:cNvPr id="93" name="A4-g"/>
          <p:cNvSpPr/>
          <p:nvPr/>
        </p:nvSpPr>
        <p:spPr>
          <a:xfrm>
            <a:off x="7909560" y="3611880"/>
            <a:ext cx="141732" cy="141732"/>
          </a:xfrm>
          <a:prstGeom prst="roundRect">
            <a:avLst>
              <a:gd name="adj" fmla="val 19355"/>
            </a:avLst>
          </a:prstGeom>
          <a:solidFill>
            <a:srgbClr val="03A5A5"/>
          </a:solidFill>
          <a:ln/>
        </p:spPr>
      </p:sp>
      <p:sp>
        <p:nvSpPr>
          <p:cNvPr id="94" name="A4-g"/>
          <p:cNvSpPr/>
          <p:nvPr/>
        </p:nvSpPr>
        <p:spPr>
          <a:xfrm>
            <a:off x="7909560" y="3794760"/>
            <a:ext cx="141732" cy="141732"/>
          </a:xfrm>
          <a:prstGeom prst="roundRect">
            <a:avLst>
              <a:gd name="adj" fmla="val 19355"/>
            </a:avLst>
          </a:prstGeom>
          <a:solidFill>
            <a:srgbClr val="0B4E50"/>
          </a:solidFill>
          <a:ln/>
        </p:spPr>
      </p:sp>
      <p:sp>
        <p:nvSpPr>
          <p:cNvPr id="95" name="A4-g"/>
          <p:cNvSpPr/>
          <p:nvPr/>
        </p:nvSpPr>
        <p:spPr>
          <a:xfrm>
            <a:off x="7909560" y="3977640"/>
            <a:ext cx="141732" cy="141732"/>
          </a:xfrm>
          <a:prstGeom prst="roundRect">
            <a:avLst>
              <a:gd name="adj" fmla="val 19355"/>
            </a:avLst>
          </a:prstGeom>
          <a:solidFill>
            <a:srgbClr val="067A7A"/>
          </a:solidFill>
          <a:ln/>
        </p:spPr>
      </p:sp>
      <p:sp>
        <p:nvSpPr>
          <p:cNvPr id="96" name="A4-g"/>
          <p:cNvSpPr/>
          <p:nvPr/>
        </p:nvSpPr>
        <p:spPr>
          <a:xfrm>
            <a:off x="7909560" y="4160520"/>
            <a:ext cx="141732" cy="141732"/>
          </a:xfrm>
          <a:prstGeom prst="roundRect">
            <a:avLst>
              <a:gd name="adj" fmla="val 19355"/>
            </a:avLst>
          </a:prstGeom>
          <a:solidFill>
            <a:srgbClr val="03A5A5"/>
          </a:solidFill>
          <a:ln/>
        </p:spPr>
      </p:sp>
      <p:sp>
        <p:nvSpPr>
          <p:cNvPr id="97" name="A4-g"/>
          <p:cNvSpPr/>
          <p:nvPr/>
        </p:nvSpPr>
        <p:spPr>
          <a:xfrm>
            <a:off x="7909560" y="4343400"/>
            <a:ext cx="141732" cy="141732"/>
          </a:xfrm>
          <a:prstGeom prst="roundRect">
            <a:avLst>
              <a:gd name="adj" fmla="val 19355"/>
            </a:avLst>
          </a:prstGeom>
          <a:solidFill>
            <a:srgbClr val="03A5A5"/>
          </a:solidFill>
          <a:ln/>
        </p:spPr>
      </p:sp>
      <p:sp>
        <p:nvSpPr>
          <p:cNvPr id="98" name="A4-g"/>
          <p:cNvSpPr/>
          <p:nvPr/>
        </p:nvSpPr>
        <p:spPr>
          <a:xfrm>
            <a:off x="8092440" y="3611880"/>
            <a:ext cx="141732" cy="141732"/>
          </a:xfrm>
          <a:prstGeom prst="roundRect">
            <a:avLst>
              <a:gd name="adj" fmla="val 19355"/>
            </a:avLst>
          </a:prstGeom>
          <a:solidFill>
            <a:srgbClr val="0CCCCC"/>
          </a:solidFill>
          <a:ln/>
        </p:spPr>
      </p:sp>
      <p:sp>
        <p:nvSpPr>
          <p:cNvPr id="99" name="A4-g"/>
          <p:cNvSpPr/>
          <p:nvPr/>
        </p:nvSpPr>
        <p:spPr>
          <a:xfrm>
            <a:off x="8092440" y="3794760"/>
            <a:ext cx="141732" cy="141732"/>
          </a:xfrm>
          <a:prstGeom prst="roundRect">
            <a:avLst>
              <a:gd name="adj" fmla="val 19355"/>
            </a:avLst>
          </a:prstGeom>
          <a:solidFill>
            <a:srgbClr val="0CCCCC"/>
          </a:solidFill>
          <a:ln/>
        </p:spPr>
      </p:sp>
      <p:sp>
        <p:nvSpPr>
          <p:cNvPr id="100" name="A4-g"/>
          <p:cNvSpPr/>
          <p:nvPr/>
        </p:nvSpPr>
        <p:spPr>
          <a:xfrm>
            <a:off x="8092440" y="3977640"/>
            <a:ext cx="141732" cy="141732"/>
          </a:xfrm>
          <a:prstGeom prst="roundRect">
            <a:avLst>
              <a:gd name="adj" fmla="val 19355"/>
            </a:avLst>
          </a:prstGeom>
          <a:solidFill>
            <a:srgbClr val="0CCCCC"/>
          </a:solidFill>
          <a:ln/>
        </p:spPr>
      </p:sp>
      <p:sp>
        <p:nvSpPr>
          <p:cNvPr id="101" name="A4-g"/>
          <p:cNvSpPr/>
          <p:nvPr/>
        </p:nvSpPr>
        <p:spPr>
          <a:xfrm>
            <a:off x="8092440" y="4160520"/>
            <a:ext cx="141732" cy="141732"/>
          </a:xfrm>
          <a:prstGeom prst="roundRect">
            <a:avLst>
              <a:gd name="adj" fmla="val 19355"/>
            </a:avLst>
          </a:prstGeom>
          <a:solidFill>
            <a:srgbClr val="03A5A5"/>
          </a:solidFill>
          <a:ln/>
        </p:spPr>
      </p:sp>
      <p:sp>
        <p:nvSpPr>
          <p:cNvPr id="102" name="A4-g"/>
          <p:cNvSpPr/>
          <p:nvPr/>
        </p:nvSpPr>
        <p:spPr>
          <a:xfrm>
            <a:off x="8092440" y="4343400"/>
            <a:ext cx="141732" cy="141732"/>
          </a:xfrm>
          <a:prstGeom prst="roundRect">
            <a:avLst>
              <a:gd name="adj" fmla="val 19355"/>
            </a:avLst>
          </a:prstGeom>
          <a:solidFill>
            <a:srgbClr val="03A5A5"/>
          </a:solidFill>
          <a:ln/>
        </p:spPr>
      </p:sp>
      <p:sp>
        <p:nvSpPr>
          <p:cNvPr id="103" name="A4-g"/>
          <p:cNvSpPr/>
          <p:nvPr/>
        </p:nvSpPr>
        <p:spPr>
          <a:xfrm>
            <a:off x="8275320" y="3611880"/>
            <a:ext cx="141732" cy="141732"/>
          </a:xfrm>
          <a:prstGeom prst="roundRect">
            <a:avLst>
              <a:gd name="adj" fmla="val 19355"/>
            </a:avLst>
          </a:prstGeom>
          <a:solidFill>
            <a:srgbClr val="03A5A5"/>
          </a:solidFill>
          <a:ln/>
        </p:spPr>
      </p:sp>
      <p:sp>
        <p:nvSpPr>
          <p:cNvPr id="104" name="A4-g"/>
          <p:cNvSpPr/>
          <p:nvPr/>
        </p:nvSpPr>
        <p:spPr>
          <a:xfrm>
            <a:off x="8275320" y="3794760"/>
            <a:ext cx="141732" cy="141732"/>
          </a:xfrm>
          <a:prstGeom prst="roundRect">
            <a:avLst>
              <a:gd name="adj" fmla="val 19355"/>
            </a:avLst>
          </a:prstGeom>
          <a:solidFill>
            <a:srgbClr val="0B4E50"/>
          </a:solidFill>
          <a:ln/>
        </p:spPr>
      </p:sp>
      <p:sp>
        <p:nvSpPr>
          <p:cNvPr id="105" name="A4-g"/>
          <p:cNvSpPr/>
          <p:nvPr/>
        </p:nvSpPr>
        <p:spPr>
          <a:xfrm>
            <a:off x="8275320" y="3977640"/>
            <a:ext cx="141732" cy="141732"/>
          </a:xfrm>
          <a:prstGeom prst="roundRect">
            <a:avLst>
              <a:gd name="adj" fmla="val 19355"/>
            </a:avLst>
          </a:prstGeom>
          <a:solidFill>
            <a:srgbClr val="067A7A"/>
          </a:solidFill>
          <a:ln/>
        </p:spPr>
      </p:sp>
      <p:sp>
        <p:nvSpPr>
          <p:cNvPr id="106" name="A4-g"/>
          <p:cNvSpPr/>
          <p:nvPr/>
        </p:nvSpPr>
        <p:spPr>
          <a:xfrm>
            <a:off x="8275320" y="4160520"/>
            <a:ext cx="141732" cy="141732"/>
          </a:xfrm>
          <a:prstGeom prst="roundRect">
            <a:avLst>
              <a:gd name="adj" fmla="val 19355"/>
            </a:avLst>
          </a:prstGeom>
          <a:solidFill>
            <a:srgbClr val="067A7A"/>
          </a:solidFill>
          <a:ln/>
        </p:spPr>
      </p:sp>
      <p:sp>
        <p:nvSpPr>
          <p:cNvPr id="107" name="A4-g"/>
          <p:cNvSpPr/>
          <p:nvPr/>
        </p:nvSpPr>
        <p:spPr>
          <a:xfrm>
            <a:off x="8275320" y="4343400"/>
            <a:ext cx="141732" cy="141732"/>
          </a:xfrm>
          <a:prstGeom prst="roundRect">
            <a:avLst>
              <a:gd name="adj" fmla="val 19355"/>
            </a:avLst>
          </a:prstGeom>
          <a:solidFill>
            <a:srgbClr val="067A7A"/>
          </a:solidFill>
          <a:ln/>
        </p:spPr>
      </p:sp>
      <p:sp>
        <p:nvSpPr>
          <p:cNvPr id="108" name="A4-g"/>
          <p:cNvSpPr/>
          <p:nvPr/>
        </p:nvSpPr>
        <p:spPr>
          <a:xfrm>
            <a:off x="8458200" y="3611880"/>
            <a:ext cx="141732" cy="141732"/>
          </a:xfrm>
          <a:prstGeom prst="roundRect">
            <a:avLst>
              <a:gd name="adj" fmla="val 19355"/>
            </a:avLst>
          </a:prstGeom>
          <a:solidFill>
            <a:srgbClr val="03A5A5"/>
          </a:solidFill>
          <a:ln/>
        </p:spPr>
      </p:sp>
      <p:sp>
        <p:nvSpPr>
          <p:cNvPr id="109" name="A4-g"/>
          <p:cNvSpPr/>
          <p:nvPr/>
        </p:nvSpPr>
        <p:spPr>
          <a:xfrm>
            <a:off x="8458200" y="3794760"/>
            <a:ext cx="141732" cy="141732"/>
          </a:xfrm>
          <a:prstGeom prst="roundRect">
            <a:avLst>
              <a:gd name="adj" fmla="val 19355"/>
            </a:avLst>
          </a:prstGeom>
          <a:solidFill>
            <a:srgbClr val="03A5A5"/>
          </a:solidFill>
          <a:ln/>
        </p:spPr>
      </p:sp>
      <p:sp>
        <p:nvSpPr>
          <p:cNvPr id="110" name="A4-g"/>
          <p:cNvSpPr/>
          <p:nvPr/>
        </p:nvSpPr>
        <p:spPr>
          <a:xfrm>
            <a:off x="8458200" y="3977640"/>
            <a:ext cx="141732" cy="141732"/>
          </a:xfrm>
          <a:prstGeom prst="roundRect">
            <a:avLst>
              <a:gd name="adj" fmla="val 19355"/>
            </a:avLst>
          </a:prstGeom>
          <a:solidFill>
            <a:srgbClr val="0CCCCC"/>
          </a:solidFill>
          <a:ln/>
        </p:spPr>
      </p:sp>
      <p:sp>
        <p:nvSpPr>
          <p:cNvPr id="111" name="A4-g"/>
          <p:cNvSpPr/>
          <p:nvPr/>
        </p:nvSpPr>
        <p:spPr>
          <a:xfrm>
            <a:off x="8458200" y="4160520"/>
            <a:ext cx="141732" cy="141732"/>
          </a:xfrm>
          <a:prstGeom prst="roundRect">
            <a:avLst>
              <a:gd name="adj" fmla="val 19355"/>
            </a:avLst>
          </a:prstGeom>
          <a:solidFill>
            <a:srgbClr val="067A7A"/>
          </a:solidFill>
          <a:ln/>
        </p:spPr>
      </p:sp>
      <p:sp>
        <p:nvSpPr>
          <p:cNvPr id="112" name="A4-g"/>
          <p:cNvSpPr/>
          <p:nvPr/>
        </p:nvSpPr>
        <p:spPr>
          <a:xfrm>
            <a:off x="8458200" y="4343400"/>
            <a:ext cx="141732" cy="141732"/>
          </a:xfrm>
          <a:prstGeom prst="roundRect">
            <a:avLst>
              <a:gd name="adj" fmla="val 19355"/>
            </a:avLst>
          </a:prstGeom>
          <a:solidFill>
            <a:srgbClr val="0CCCCC"/>
          </a:solidFill>
          <a:ln/>
        </p:spPr>
      </p:sp>
      <p:sp>
        <p:nvSpPr>
          <p:cNvPr id="113" name="A4-gl"/>
          <p:cNvSpPr txBox="1"/>
          <p:nvPr/>
        </p:nvSpPr>
        <p:spPr>
          <a:xfrm>
            <a:off x="5349240" y="4544568"/>
            <a:ext cx="4023360" cy="228600"/>
          </a:xfrm>
          <a:prstGeom prst="rect">
            <a:avLst/>
          </a:prstGeom>
          <a:noFill/>
          <a:ln/>
        </p:spPr>
        <p:txBody>
          <a:bodyPr wrap="square" lIns="0" tIns="0" rIns="0" bIns="0" rtlCol="0" anchor="t"/>
          <a:lstStyle/>
          <a:p>
            <a:pPr indent="0" marL="0">
              <a:buNone/>
            </a:pPr>
            <a:r>
              <a:rPr lang="en-US" sz="1000" dirty="0">
                <a:solidFill>
                  <a:srgbClr val="6E8282"/>
                </a:solidFill>
                <a:latin typeface="Poppins" pitchFamily="34" charset="0"/>
                <a:ea typeface="Poppins" pitchFamily="34" charset="-122"/>
                <a:cs typeface="Poppins" pitchFamily="34" charset="-120"/>
              </a:rPr>
              <a:t>Commit activity, last 18 weeks</a:t>
            </a:r>
            <a:endParaRPr lang="en-US" sz="1000" dirty="0"/>
          </a:p>
        </p:txBody>
      </p:sp>
      <p:pic>
        <p:nvPicPr>
          <p:cNvPr id="114" name="A5-ck0" descr="preencoded.png">    </p:cNvPr>
          <p:cNvPicPr>
            <a:picLocks noChangeAspect="1"/>
          </p:cNvPicPr>
          <p:nvPr/>
        </p:nvPicPr>
        <p:blipFill>
          <a:blip r:embed="rId4"/>
          <a:stretch>
            <a:fillRect/>
          </a:stretch>
        </p:blipFill>
        <p:spPr>
          <a:xfrm>
            <a:off x="8869680" y="3630168"/>
            <a:ext cx="182880" cy="182880"/>
          </a:xfrm>
          <a:prstGeom prst="rect">
            <a:avLst/>
          </a:prstGeom>
        </p:spPr>
      </p:pic>
      <p:sp>
        <p:nvSpPr>
          <p:cNvPr id="115" name="A5-ckT0"/>
          <p:cNvSpPr txBox="1"/>
          <p:nvPr/>
        </p:nvSpPr>
        <p:spPr>
          <a:xfrm>
            <a:off x="9116568" y="3611880"/>
            <a:ext cx="2240280" cy="237744"/>
          </a:xfrm>
          <a:prstGeom prst="rect">
            <a:avLst/>
          </a:prstGeom>
          <a:noFill/>
          <a:ln/>
        </p:spPr>
        <p:txBody>
          <a:bodyPr wrap="square" lIns="0" tIns="0" rIns="0" bIns="0" rtlCol="0" anchor="ctr"/>
          <a:lstStyle/>
          <a:p>
            <a:pPr indent="0" marL="0">
              <a:buNone/>
            </a:pPr>
            <a:r>
              <a:rPr lang="en-US" sz="1200" dirty="0">
                <a:solidFill>
                  <a:srgbClr val="FFFFFF"/>
                </a:solidFill>
                <a:latin typeface="Poppins" pitchFamily="34" charset="0"/>
                <a:ea typeface="Poppins" pitchFamily="34" charset="-122"/>
                <a:cs typeface="Poppins" pitchFamily="34" charset="-120"/>
              </a:rPr>
              <a:t>README with screenshots</a:t>
            </a:r>
            <a:endParaRPr lang="en-US" sz="1200" dirty="0"/>
          </a:p>
        </p:txBody>
      </p:sp>
      <p:pic>
        <p:nvPicPr>
          <p:cNvPr id="116" name="A5-ck1" descr="preencoded.png">    </p:cNvPr>
          <p:cNvPicPr>
            <a:picLocks noChangeAspect="1"/>
          </p:cNvPicPr>
          <p:nvPr/>
        </p:nvPicPr>
        <p:blipFill>
          <a:blip r:embed="rId5"/>
          <a:stretch>
            <a:fillRect/>
          </a:stretch>
        </p:blipFill>
        <p:spPr>
          <a:xfrm>
            <a:off x="8869680" y="3904488"/>
            <a:ext cx="182880" cy="182880"/>
          </a:xfrm>
          <a:prstGeom prst="rect">
            <a:avLst/>
          </a:prstGeom>
        </p:spPr>
      </p:pic>
      <p:sp>
        <p:nvSpPr>
          <p:cNvPr id="117" name="A5-ckT1"/>
          <p:cNvSpPr txBox="1"/>
          <p:nvPr/>
        </p:nvSpPr>
        <p:spPr>
          <a:xfrm>
            <a:off x="9116568" y="3886200"/>
            <a:ext cx="2240280" cy="237744"/>
          </a:xfrm>
          <a:prstGeom prst="rect">
            <a:avLst/>
          </a:prstGeom>
          <a:noFill/>
          <a:ln/>
        </p:spPr>
        <p:txBody>
          <a:bodyPr wrap="square" lIns="0" tIns="0" rIns="0" bIns="0" rtlCol="0" anchor="ctr"/>
          <a:lstStyle/>
          <a:p>
            <a:pPr indent="0" marL="0">
              <a:buNone/>
            </a:pPr>
            <a:r>
              <a:rPr lang="en-US" sz="1200" dirty="0">
                <a:solidFill>
                  <a:srgbClr val="FFFFFF"/>
                </a:solidFill>
                <a:latin typeface="Poppins" pitchFamily="34" charset="0"/>
                <a:ea typeface="Poppins" pitchFamily="34" charset="-122"/>
                <a:cs typeface="Poppins" pitchFamily="34" charset="-120"/>
              </a:rPr>
              <a:t>Live demo link</a:t>
            </a:r>
            <a:endParaRPr lang="en-US" sz="1200" dirty="0"/>
          </a:p>
        </p:txBody>
      </p:sp>
      <p:pic>
        <p:nvPicPr>
          <p:cNvPr id="118" name="A5-ck2" descr="preencoded.png">    </p:cNvPr>
          <p:cNvPicPr>
            <a:picLocks noChangeAspect="1"/>
          </p:cNvPicPr>
          <p:nvPr/>
        </p:nvPicPr>
        <p:blipFill>
          <a:blip r:embed="rId6"/>
          <a:stretch>
            <a:fillRect/>
          </a:stretch>
        </p:blipFill>
        <p:spPr>
          <a:xfrm>
            <a:off x="8869680" y="4178808"/>
            <a:ext cx="182880" cy="182880"/>
          </a:xfrm>
          <a:prstGeom prst="rect">
            <a:avLst/>
          </a:prstGeom>
        </p:spPr>
      </p:pic>
      <p:sp>
        <p:nvSpPr>
          <p:cNvPr id="119" name="A5-ckT2"/>
          <p:cNvSpPr txBox="1"/>
          <p:nvPr/>
        </p:nvSpPr>
        <p:spPr>
          <a:xfrm>
            <a:off x="9116568" y="4160520"/>
            <a:ext cx="2240280" cy="237744"/>
          </a:xfrm>
          <a:prstGeom prst="rect">
            <a:avLst/>
          </a:prstGeom>
          <a:noFill/>
          <a:ln/>
        </p:spPr>
        <p:txBody>
          <a:bodyPr wrap="square" lIns="0" tIns="0" rIns="0" bIns="0" rtlCol="0" anchor="ctr"/>
          <a:lstStyle/>
          <a:p>
            <a:pPr indent="0" marL="0">
              <a:buNone/>
            </a:pPr>
            <a:r>
              <a:rPr lang="en-US" sz="1200" dirty="0">
                <a:solidFill>
                  <a:srgbClr val="FFFFFF"/>
                </a:solidFill>
                <a:latin typeface="Poppins" pitchFamily="34" charset="0"/>
                <a:ea typeface="Poppins" pitchFamily="34" charset="-122"/>
                <a:cs typeface="Poppins" pitchFamily="34" charset="-120"/>
              </a:rPr>
              <a:t>Tests for core logic</a:t>
            </a:r>
            <a:endParaRPr lang="en-US" sz="1200" dirty="0"/>
          </a:p>
        </p:txBody>
      </p:sp>
      <p:pic>
        <p:nvPicPr>
          <p:cNvPr id="120" name="A5-ck3" descr="preencoded.png">    </p:cNvPr>
          <p:cNvPicPr>
            <a:picLocks noChangeAspect="1"/>
          </p:cNvPicPr>
          <p:nvPr/>
        </p:nvPicPr>
        <p:blipFill>
          <a:blip r:embed="rId7"/>
          <a:stretch>
            <a:fillRect/>
          </a:stretch>
        </p:blipFill>
        <p:spPr>
          <a:xfrm>
            <a:off x="8869680" y="4453128"/>
            <a:ext cx="182880" cy="182880"/>
          </a:xfrm>
          <a:prstGeom prst="rect">
            <a:avLst/>
          </a:prstGeom>
        </p:spPr>
      </p:pic>
      <p:sp>
        <p:nvSpPr>
          <p:cNvPr id="121" name="A5-ckT3"/>
          <p:cNvSpPr txBox="1"/>
          <p:nvPr/>
        </p:nvSpPr>
        <p:spPr>
          <a:xfrm>
            <a:off x="9116568" y="4434840"/>
            <a:ext cx="2240280" cy="237744"/>
          </a:xfrm>
          <a:prstGeom prst="rect">
            <a:avLst/>
          </a:prstGeom>
          <a:noFill/>
          <a:ln/>
        </p:spPr>
        <p:txBody>
          <a:bodyPr wrap="square" lIns="0" tIns="0" rIns="0" bIns="0" rtlCol="0" anchor="ctr"/>
          <a:lstStyle/>
          <a:p>
            <a:pPr indent="0" marL="0">
              <a:buNone/>
            </a:pPr>
            <a:r>
              <a:rPr lang="en-US" sz="1200" dirty="0">
                <a:solidFill>
                  <a:srgbClr val="FFFFFF"/>
                </a:solidFill>
                <a:latin typeface="Poppins" pitchFamily="34" charset="0"/>
                <a:ea typeface="Poppins" pitchFamily="34" charset="-122"/>
                <a:cs typeface="Poppins" pitchFamily="34" charset="-120"/>
              </a:rPr>
              <a:t>Decisions explained</a:t>
            </a:r>
            <a:endParaRPr lang="en-US" sz="1200" dirty="0"/>
          </a:p>
        </p:txBody>
      </p:sp>
      <p:sp>
        <p:nvSpPr>
          <p:cNvPr id="122" name="A6-cl"/>
          <p:cNvSpPr txBox="1"/>
          <p:nvPr/>
        </p:nvSpPr>
        <p:spPr>
          <a:xfrm>
            <a:off x="685800" y="5193792"/>
            <a:ext cx="3291840" cy="228600"/>
          </a:xfrm>
          <a:prstGeom prst="rect">
            <a:avLst/>
          </a:prstGeom>
          <a:noFill/>
          <a:ln/>
        </p:spPr>
        <p:txBody>
          <a:bodyPr wrap="square" lIns="0" tIns="0" rIns="0" bIns="0" rtlCol="0" anchor="t"/>
          <a:lstStyle/>
          <a:p>
            <a:pPr indent="0" marL="0">
              <a:buNone/>
            </a:pPr>
            <a:r>
              <a:rPr lang="en-US" sz="1100" spc="300" kern="0" dirty="0">
                <a:solidFill>
                  <a:srgbClr val="FF4D4D"/>
                </a:solidFill>
                <a:latin typeface="Poppins SemiBold" pitchFamily="34" charset="0"/>
                <a:ea typeface="Poppins SemiBold" pitchFamily="34" charset="-122"/>
                <a:cs typeface="Poppins SemiBold" pitchFamily="34" charset="-120"/>
              </a:rPr>
              <a:t>CERTIFICATE</a:t>
            </a:r>
            <a:endParaRPr lang="en-US" sz="1100" dirty="0"/>
          </a:p>
        </p:txBody>
      </p:sp>
      <p:sp>
        <p:nvSpPr>
          <p:cNvPr id="123" name="A6-ct"/>
          <p:cNvSpPr txBox="1"/>
          <p:nvPr/>
        </p:nvSpPr>
        <p:spPr>
          <a:xfrm>
            <a:off x="685800" y="5440680"/>
            <a:ext cx="3474720" cy="384048"/>
          </a:xfrm>
          <a:prstGeom prst="rect">
            <a:avLst/>
          </a:prstGeom>
          <a:noFill/>
          <a:ln/>
        </p:spPr>
        <p:txBody>
          <a:bodyPr wrap="square" lIns="0" tIns="0" rIns="0" bIns="0" rtlCol="0" anchor="t"/>
          <a:lstStyle/>
          <a:p>
            <a:pPr indent="0" marL="0">
              <a:buNone/>
            </a:pPr>
            <a:r>
              <a:rPr lang="en-US" sz="2000" dirty="0">
                <a:solidFill>
                  <a:srgbClr val="FFFFFF"/>
                </a:solidFill>
                <a:latin typeface="Poppins SemiBold" pitchFamily="34" charset="0"/>
                <a:ea typeface="Poppins SemiBold" pitchFamily="34" charset="-122"/>
                <a:cs typeface="Poppins SemiBold" pitchFamily="34" charset="-120"/>
              </a:rPr>
              <a:t>Says you attended.</a:t>
            </a:r>
            <a:endParaRPr lang="en-US" sz="2000" dirty="0"/>
          </a:p>
        </p:txBody>
      </p:sp>
      <p:sp>
        <p:nvSpPr>
          <p:cNvPr id="124" name="A6-cs"/>
          <p:cNvSpPr txBox="1"/>
          <p:nvPr/>
        </p:nvSpPr>
        <p:spPr>
          <a:xfrm>
            <a:off x="685800" y="5833872"/>
            <a:ext cx="3840480" cy="274320"/>
          </a:xfrm>
          <a:prstGeom prst="rect">
            <a:avLst/>
          </a:prstGeom>
          <a:noFill/>
          <a:ln/>
        </p:spPr>
        <p:txBody>
          <a:bodyPr wrap="square" lIns="0" tIns="0" rIns="0" bIns="0" rtlCol="0" anchor="t"/>
          <a:lstStyle/>
          <a:p>
            <a:pPr indent="0" marL="0">
              <a:buNone/>
            </a:pPr>
            <a:r>
              <a:rPr lang="en-US" sz="1300" dirty="0">
                <a:solidFill>
                  <a:srgbClr val="9FB0B0"/>
                </a:solidFill>
                <a:latin typeface="Poppins" pitchFamily="34" charset="0"/>
                <a:ea typeface="Poppins" pitchFamily="34" charset="-122"/>
                <a:cs typeface="Poppins" pitchFamily="34" charset="-120"/>
              </a:rPr>
              <a:t>Easy to collect. Hard for an employer to judge.</a:t>
            </a:r>
            <a:endParaRPr lang="en-US" sz="1300" dirty="0"/>
          </a:p>
        </p:txBody>
      </p:sp>
      <p:sp>
        <p:nvSpPr>
          <p:cNvPr id="125" name="A7-pl"/>
          <p:cNvSpPr txBox="1"/>
          <p:nvPr/>
        </p:nvSpPr>
        <p:spPr>
          <a:xfrm>
            <a:off x="5074920" y="5193792"/>
            <a:ext cx="2743200" cy="228600"/>
          </a:xfrm>
          <a:prstGeom prst="rect">
            <a:avLst/>
          </a:prstGeom>
          <a:noFill/>
          <a:ln/>
        </p:spPr>
        <p:txBody>
          <a:bodyPr wrap="square" lIns="0" tIns="0" rIns="0" bIns="0" rtlCol="0" anchor="t"/>
          <a:lstStyle/>
          <a:p>
            <a:pPr indent="0" marL="0">
              <a:buNone/>
            </a:pPr>
            <a:r>
              <a:rPr lang="en-US" sz="1100" spc="300" kern="0" dirty="0">
                <a:solidFill>
                  <a:srgbClr val="0CCCCC"/>
                </a:solidFill>
                <a:latin typeface="Poppins SemiBold" pitchFamily="34" charset="0"/>
                <a:ea typeface="Poppins SemiBold" pitchFamily="34" charset="-122"/>
                <a:cs typeface="Poppins SemiBold" pitchFamily="34" charset="-120"/>
              </a:rPr>
              <a:t>PROJECT</a:t>
            </a:r>
            <a:endParaRPr lang="en-US" sz="1100" dirty="0"/>
          </a:p>
        </p:txBody>
      </p:sp>
      <p:sp>
        <p:nvSpPr>
          <p:cNvPr id="126" name="A7-pt"/>
          <p:cNvSpPr txBox="1"/>
          <p:nvPr/>
        </p:nvSpPr>
        <p:spPr>
          <a:xfrm>
            <a:off x="5074920" y="5440680"/>
            <a:ext cx="3657600" cy="384048"/>
          </a:xfrm>
          <a:prstGeom prst="rect">
            <a:avLst/>
          </a:prstGeom>
          <a:noFill/>
          <a:ln/>
        </p:spPr>
        <p:txBody>
          <a:bodyPr wrap="square" lIns="0" tIns="0" rIns="0" bIns="0" rtlCol="0" anchor="t"/>
          <a:lstStyle/>
          <a:p>
            <a:pPr indent="0" marL="0">
              <a:buNone/>
            </a:pPr>
            <a:r>
              <a:rPr lang="en-US" sz="2000" dirty="0">
                <a:solidFill>
                  <a:srgbClr val="FFFFFF"/>
                </a:solidFill>
                <a:latin typeface="Poppins SemiBold" pitchFamily="34" charset="0"/>
                <a:ea typeface="Poppins SemiBold" pitchFamily="34" charset="-122"/>
                <a:cs typeface="Poppins SemiBold" pitchFamily="34" charset="-120"/>
              </a:rPr>
              <a:t>Shows you can build.</a:t>
            </a:r>
            <a:endParaRPr lang="en-US" sz="2000" dirty="0"/>
          </a:p>
        </p:txBody>
      </p:sp>
      <p:sp>
        <p:nvSpPr>
          <p:cNvPr id="127" name="A7-ps"/>
          <p:cNvSpPr txBox="1"/>
          <p:nvPr/>
        </p:nvSpPr>
        <p:spPr>
          <a:xfrm>
            <a:off x="5074920" y="5833872"/>
            <a:ext cx="6428232" cy="274320"/>
          </a:xfrm>
          <a:prstGeom prst="rect">
            <a:avLst/>
          </a:prstGeom>
          <a:noFill/>
          <a:ln/>
        </p:spPr>
        <p:txBody>
          <a:bodyPr wrap="square" lIns="0" tIns="0" rIns="0" bIns="0" rtlCol="0" anchor="t"/>
          <a:lstStyle/>
          <a:p>
            <a:pPr indent="0" marL="0">
              <a:buNone/>
            </a:pPr>
            <a:r>
              <a:rPr lang="en-US" sz="1300" dirty="0">
                <a:solidFill>
                  <a:srgbClr val="0CCCCC"/>
                </a:solidFill>
                <a:latin typeface="Poppins" pitchFamily="34" charset="0"/>
                <a:ea typeface="Poppins" pitchFamily="34" charset="-122"/>
                <a:cs typeface="Poppins" pitchFamily="34" charset="-120"/>
              </a:rPr>
              <a:t>More ideas: clinic queue system · campus used-book marketplace</a:t>
            </a:r>
            <a:endParaRPr lang="en-US" sz="1300" dirty="0"/>
          </a:p>
        </p:txBody>
      </p:sp>
      <p:sp>
        <p:nvSpPr>
          <p:cNvPr id="128" name="Text 1"/>
          <p:cNvSpPr/>
          <p:nvPr>
            <p:ph idx="102" type="title" hasCustomPrompt="1"/>
          </p:nvPr>
        </p:nvSpPr>
        <p:spPr>
          <a:xfrm>
            <a:off x="685800" y="749808"/>
            <a:ext cx="10820095" cy="68580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8282"/>
                </a:solidFill>
                <a:latin typeface="Poppins SemiBold"/>
                <a:ea typeface="Poppins SemiBold"/>
                <a:cs typeface="Poppins SemiBold"/>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8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80"/>
                                        <p:tgtEl>
                                          <p:spTgt spid="4"/>
                                        </p:tgtEl>
                                      </p:cBhvr>
                                    </p:animEffect>
                                  </p:childTnLst>
                                </p:cTn>
                              </p:par>
                              <p:par>
                                <p:cTn id="11" presetID="10" presetClass="entr" presetSubtype="0" fill="hold" grpId="0"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80"/>
                                        <p:tgtEl>
                                          <p:spTgt spid="6"/>
                                        </p:tgtEl>
                                      </p:cBhvr>
                                    </p:animEffect>
                                  </p:childTnLst>
                                </p:cTn>
                              </p:par>
                              <p:par>
                                <p:cTn id="14" presetID="10" presetClass="entr" presetSubtype="0" fill="hold" grpId="0" nodeType="withEffect">
                                  <p:stCondLst>
                                    <p:cond delay="64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80"/>
                                        <p:tgtEl>
                                          <p:spTgt spid="7"/>
                                        </p:tgtEl>
                                      </p:cBhvr>
                                    </p:animEffect>
                                  </p:childTnLst>
                                </p:cTn>
                              </p:par>
                              <p:par>
                                <p:cTn id="17" presetID="10" presetClass="entr" presetSubtype="0" fill="hold" grpId="0" nodeType="withEffect">
                                  <p:stCondLst>
                                    <p:cond delay="6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80"/>
                                        <p:tgtEl>
                                          <p:spTgt spid="8"/>
                                        </p:tgtEl>
                                      </p:cBhvr>
                                    </p:animEffect>
                                  </p:childTnLst>
                                </p:cTn>
                              </p:par>
                              <p:par>
                                <p:cTn id="20" presetID="10" presetClass="entr" presetSubtype="0" fill="hold" grpId="0" nodeType="withEffect">
                                  <p:stCondLst>
                                    <p:cond delay="96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80"/>
                                        <p:tgtEl>
                                          <p:spTgt spid="9"/>
                                        </p:tgtEl>
                                      </p:cBhvr>
                                    </p:animEffect>
                                  </p:childTnLst>
                                </p:cTn>
                              </p:par>
                              <p:par>
                                <p:cTn id="23" presetID="10" presetClass="entr" presetSubtype="0" fill="hold" grpId="0" nodeType="withEffect">
                                  <p:stCondLst>
                                    <p:cond delay="9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80"/>
                                        <p:tgtEl>
                                          <p:spTgt spid="10"/>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80"/>
                                        <p:tgtEl>
                                          <p:spTgt spid="11"/>
                                        </p:tgtEl>
                                      </p:cBhvr>
                                    </p:animEffect>
                                  </p:childTnLst>
                                </p:cTn>
                              </p:par>
                              <p:par>
                                <p:cTn id="29" presetID="10" presetClass="entr" presetSubtype="0" fill="hold" grpId="0" nodeType="withEffect">
                                  <p:stCondLst>
                                    <p:cond delay="96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80"/>
                                        <p:tgtEl>
                                          <p:spTgt spid="12"/>
                                        </p:tgtEl>
                                      </p:cBhvr>
                                    </p:animEffect>
                                  </p:childTnLst>
                                </p:cTn>
                              </p:par>
                              <p:par>
                                <p:cTn id="32" presetID="10" presetClass="entr" presetSubtype="0" fill="hold" grpId="0" nodeType="withEffect">
                                  <p:stCondLst>
                                    <p:cond delay="96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80"/>
                                        <p:tgtEl>
                                          <p:spTgt spid="13"/>
                                        </p:tgtEl>
                                      </p:cBhvr>
                                    </p:animEffect>
                                  </p:childTnLst>
                                </p:cTn>
                              </p:par>
                              <p:par>
                                <p:cTn id="35" presetID="10" presetClass="entr" presetSubtype="0" fill="hold" grpId="0" nodeType="withEffect">
                                  <p:stCondLst>
                                    <p:cond delay="96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80"/>
                                        <p:tgtEl>
                                          <p:spTgt spid="14"/>
                                        </p:tgtEl>
                                      </p:cBhvr>
                                    </p:animEffect>
                                  </p:childTnLst>
                                </p:cTn>
                              </p:par>
                              <p:par>
                                <p:cTn id="38" presetID="10" presetClass="entr" presetSubtype="0" fill="hold" grpId="0" nodeType="withEffect">
                                  <p:stCondLst>
                                    <p:cond delay="96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80"/>
                                        <p:tgtEl>
                                          <p:spTgt spid="15"/>
                                        </p:tgtEl>
                                      </p:cBhvr>
                                    </p:animEffect>
                                  </p:childTnLst>
                                </p:cTn>
                              </p:par>
                              <p:par>
                                <p:cTn id="41" presetID="10" presetClass="entr" presetSubtype="0" fill="hold" grpId="0" nodeType="withEffect">
                                  <p:stCondLst>
                                    <p:cond delay="96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80"/>
                                        <p:tgtEl>
                                          <p:spTgt spid="16"/>
                                        </p:tgtEl>
                                      </p:cBhvr>
                                    </p:animEffect>
                                  </p:childTnLst>
                                </p:cTn>
                              </p:par>
                              <p:par>
                                <p:cTn id="44" presetID="10" presetClass="entr" presetSubtype="0" fill="hold" grpId="0" nodeType="withEffect">
                                  <p:stCondLst>
                                    <p:cond delay="96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80"/>
                                        <p:tgtEl>
                                          <p:spTgt spid="17"/>
                                        </p:tgtEl>
                                      </p:cBhvr>
                                    </p:animEffect>
                                  </p:childTnLst>
                                </p:cTn>
                              </p:par>
                              <p:par>
                                <p:cTn id="47" presetID="10" presetClass="entr" presetSubtype="0" fill="hold" grpId="0" nodeType="withEffect">
                                  <p:stCondLst>
                                    <p:cond delay="96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80"/>
                                        <p:tgtEl>
                                          <p:spTgt spid="18"/>
                                        </p:tgtEl>
                                      </p:cBhvr>
                                    </p:animEffect>
                                  </p:childTnLst>
                                </p:cTn>
                              </p:par>
                              <p:par>
                                <p:cTn id="50" presetID="10" presetClass="entr" presetSubtype="0" fill="hold" grpId="0" nodeType="withEffect">
                                  <p:stCondLst>
                                    <p:cond delay="96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80"/>
                                        <p:tgtEl>
                                          <p:spTgt spid="19"/>
                                        </p:tgtEl>
                                      </p:cBhvr>
                                    </p:animEffect>
                                  </p:childTnLst>
                                </p:cTn>
                              </p:par>
                              <p:par>
                                <p:cTn id="53" presetID="10" presetClass="entr" presetSubtype="0" fill="hold" grpId="0" nodeType="withEffect">
                                  <p:stCondLst>
                                    <p:cond delay="96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80"/>
                                        <p:tgtEl>
                                          <p:spTgt spid="20"/>
                                        </p:tgtEl>
                                      </p:cBhvr>
                                    </p:animEffect>
                                  </p:childTnLst>
                                </p:cTn>
                              </p:par>
                              <p:par>
                                <p:cTn id="56" presetID="10" presetClass="entr" presetSubtype="0" fill="hold" grpId="0" nodeType="withEffect">
                                  <p:stCondLst>
                                    <p:cond delay="96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80"/>
                                        <p:tgtEl>
                                          <p:spTgt spid="21"/>
                                        </p:tgtEl>
                                      </p:cBhvr>
                                    </p:animEffect>
                                  </p:childTnLst>
                                </p:cTn>
                              </p:par>
                              <p:par>
                                <p:cTn id="59" presetID="10" presetClass="entr" presetSubtype="0" fill="hold" grpId="0" nodeType="withEffect">
                                  <p:stCondLst>
                                    <p:cond delay="96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80"/>
                                        <p:tgtEl>
                                          <p:spTgt spid="22"/>
                                        </p:tgtEl>
                                      </p:cBhvr>
                                    </p:animEffect>
                                  </p:childTnLst>
                                </p:cTn>
                              </p:par>
                              <p:par>
                                <p:cTn id="62" presetID="10" presetClass="entr" presetSubtype="0" fill="hold" grpId="0" nodeType="withEffect">
                                  <p:stCondLst>
                                    <p:cond delay="128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80"/>
                                        <p:tgtEl>
                                          <p:spTgt spid="23"/>
                                        </p:tgtEl>
                                      </p:cBhvr>
                                    </p:animEffect>
                                  </p:childTnLst>
                                </p:cTn>
                              </p:par>
                              <p:par>
                                <p:cTn id="65" presetID="10" presetClass="entr" presetSubtype="0" fill="hold" grpId="0" nodeType="withEffect">
                                  <p:stCondLst>
                                    <p:cond delay="128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80"/>
                                        <p:tgtEl>
                                          <p:spTgt spid="24"/>
                                        </p:tgtEl>
                                      </p:cBhvr>
                                    </p:animEffect>
                                  </p:childTnLst>
                                </p:cTn>
                              </p:par>
                              <p:par>
                                <p:cTn id="68" presetID="10" presetClass="entr" presetSubtype="0" fill="hold" grpId="0" nodeType="withEffect">
                                  <p:stCondLst>
                                    <p:cond delay="128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80"/>
                                        <p:tgtEl>
                                          <p:spTgt spid="25"/>
                                        </p:tgtEl>
                                      </p:cBhvr>
                                    </p:animEffect>
                                  </p:childTnLst>
                                </p:cTn>
                              </p:par>
                              <p:par>
                                <p:cTn id="71" presetID="10" presetClass="entr" presetSubtype="0" fill="hold" grpId="0" nodeType="withEffect">
                                  <p:stCondLst>
                                    <p:cond delay="128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80"/>
                                        <p:tgtEl>
                                          <p:spTgt spid="26"/>
                                        </p:tgtEl>
                                      </p:cBhvr>
                                    </p:animEffect>
                                  </p:childTnLst>
                                </p:cTn>
                              </p:par>
                              <p:par>
                                <p:cTn id="74" presetID="10" presetClass="entr" presetSubtype="0" fill="hold" grpId="0" nodeType="withEffect">
                                  <p:stCondLst>
                                    <p:cond delay="128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80"/>
                                        <p:tgtEl>
                                          <p:spTgt spid="27"/>
                                        </p:tgtEl>
                                      </p:cBhvr>
                                    </p:animEffect>
                                  </p:childTnLst>
                                </p:cTn>
                              </p:par>
                              <p:par>
                                <p:cTn id="77" presetID="10" presetClass="entr" presetSubtype="0" fill="hold" grpId="0" nodeType="withEffect">
                                  <p:stCondLst>
                                    <p:cond delay="128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80"/>
                                        <p:tgtEl>
                                          <p:spTgt spid="28"/>
                                        </p:tgtEl>
                                      </p:cBhvr>
                                    </p:animEffect>
                                  </p:childTnLst>
                                </p:cTn>
                              </p:par>
                              <p:par>
                                <p:cTn id="80" presetID="10" presetClass="entr" presetSubtype="0" fill="hold" grpId="0" nodeType="withEffect">
                                  <p:stCondLst>
                                    <p:cond delay="128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80"/>
                                        <p:tgtEl>
                                          <p:spTgt spid="29"/>
                                        </p:tgtEl>
                                      </p:cBhvr>
                                    </p:animEffect>
                                  </p:childTnLst>
                                </p:cTn>
                              </p:par>
                              <p:par>
                                <p:cTn id="83" presetID="10" presetClass="entr" presetSubtype="0" fill="hold" grpId="0" nodeType="withEffect">
                                  <p:stCondLst>
                                    <p:cond delay="128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80"/>
                                        <p:tgtEl>
                                          <p:spTgt spid="30"/>
                                        </p:tgtEl>
                                      </p:cBhvr>
                                    </p:animEffect>
                                  </p:childTnLst>
                                </p:cTn>
                              </p:par>
                              <p:par>
                                <p:cTn id="86" presetID="10" presetClass="entr" presetSubtype="0" fill="hold" grpId="0" nodeType="withEffect">
                                  <p:stCondLst>
                                    <p:cond delay="128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80"/>
                                        <p:tgtEl>
                                          <p:spTgt spid="31"/>
                                        </p:tgtEl>
                                      </p:cBhvr>
                                    </p:animEffect>
                                  </p:childTnLst>
                                </p:cTn>
                              </p:par>
                              <p:par>
                                <p:cTn id="89" presetID="10" presetClass="entr" presetSubtype="0" fill="hold" grpId="0" nodeType="withEffect">
                                  <p:stCondLst>
                                    <p:cond delay="128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80"/>
                                        <p:tgtEl>
                                          <p:spTgt spid="32"/>
                                        </p:tgtEl>
                                      </p:cBhvr>
                                    </p:animEffect>
                                  </p:childTnLst>
                                </p:cTn>
                              </p:par>
                              <p:par>
                                <p:cTn id="92" presetID="10" presetClass="entr" presetSubtype="0" fill="hold" grpId="0" nodeType="withEffect">
                                  <p:stCondLst>
                                    <p:cond delay="128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80"/>
                                        <p:tgtEl>
                                          <p:spTgt spid="33"/>
                                        </p:tgtEl>
                                      </p:cBhvr>
                                    </p:animEffect>
                                  </p:childTnLst>
                                </p:cTn>
                              </p:par>
                              <p:par>
                                <p:cTn id="95" presetID="10" presetClass="entr" presetSubtype="0" fill="hold" grpId="0" nodeType="withEffect">
                                  <p:stCondLst>
                                    <p:cond delay="128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80"/>
                                        <p:tgtEl>
                                          <p:spTgt spid="34"/>
                                        </p:tgtEl>
                                      </p:cBhvr>
                                    </p:animEffect>
                                  </p:childTnLst>
                                </p:cTn>
                              </p:par>
                              <p:par>
                                <p:cTn id="98" presetID="10" presetClass="entr" presetSubtype="0" fill="hold" grpId="0" nodeType="withEffect">
                                  <p:stCondLst>
                                    <p:cond delay="128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80"/>
                                        <p:tgtEl>
                                          <p:spTgt spid="35"/>
                                        </p:tgtEl>
                                      </p:cBhvr>
                                    </p:animEffect>
                                  </p:childTnLst>
                                </p:cTn>
                              </p:par>
                              <p:par>
                                <p:cTn id="101" presetID="10" presetClass="entr" presetSubtype="0" fill="hold" grpId="0" nodeType="withEffect">
                                  <p:stCondLst>
                                    <p:cond delay="128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80"/>
                                        <p:tgtEl>
                                          <p:spTgt spid="36"/>
                                        </p:tgtEl>
                                      </p:cBhvr>
                                    </p:animEffect>
                                  </p:childTnLst>
                                </p:cTn>
                              </p:par>
                              <p:par>
                                <p:cTn id="104" presetID="10" presetClass="entr" presetSubtype="0" fill="hold" grpId="0" nodeType="withEffect">
                                  <p:stCondLst>
                                    <p:cond delay="128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80"/>
                                        <p:tgtEl>
                                          <p:spTgt spid="37"/>
                                        </p:tgtEl>
                                      </p:cBhvr>
                                    </p:animEffect>
                                  </p:childTnLst>
                                </p:cTn>
                              </p:par>
                              <p:par>
                                <p:cTn id="107" presetID="10" presetClass="entr" presetSubtype="0" fill="hold" grpId="0" nodeType="withEffect">
                                  <p:stCondLst>
                                    <p:cond delay="128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480"/>
                                        <p:tgtEl>
                                          <p:spTgt spid="38"/>
                                        </p:tgtEl>
                                      </p:cBhvr>
                                    </p:animEffect>
                                  </p:childTnLst>
                                </p:cTn>
                              </p:par>
                              <p:par>
                                <p:cTn id="110" presetID="10" presetClass="entr" presetSubtype="0" fill="hold" grpId="0" nodeType="withEffect">
                                  <p:stCondLst>
                                    <p:cond delay="128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480"/>
                                        <p:tgtEl>
                                          <p:spTgt spid="39"/>
                                        </p:tgtEl>
                                      </p:cBhvr>
                                    </p:animEffect>
                                  </p:childTnLst>
                                </p:cTn>
                              </p:par>
                              <p:par>
                                <p:cTn id="113" presetID="10" presetClass="entr" presetSubtype="0" fill="hold" grpId="0" nodeType="withEffect">
                                  <p:stCondLst>
                                    <p:cond delay="128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480"/>
                                        <p:tgtEl>
                                          <p:spTgt spid="40"/>
                                        </p:tgtEl>
                                      </p:cBhvr>
                                    </p:animEffect>
                                  </p:childTnLst>
                                </p:cTn>
                              </p:par>
                              <p:par>
                                <p:cTn id="116" presetID="10" presetClass="entr" presetSubtype="0" fill="hold" grpId="0" nodeType="withEffect">
                                  <p:stCondLst>
                                    <p:cond delay="128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480"/>
                                        <p:tgtEl>
                                          <p:spTgt spid="41"/>
                                        </p:tgtEl>
                                      </p:cBhvr>
                                    </p:animEffect>
                                  </p:childTnLst>
                                </p:cTn>
                              </p:par>
                              <p:par>
                                <p:cTn id="119" presetID="10" presetClass="entr" presetSubtype="0" fill="hold" grpId="0" nodeType="withEffect">
                                  <p:stCondLst>
                                    <p:cond delay="128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480"/>
                                        <p:tgtEl>
                                          <p:spTgt spid="42"/>
                                        </p:tgtEl>
                                      </p:cBhvr>
                                    </p:animEffect>
                                  </p:childTnLst>
                                </p:cTn>
                              </p:par>
                              <p:par>
                                <p:cTn id="122" presetID="10" presetClass="entr" presetSubtype="0" fill="hold" grpId="0" nodeType="withEffect">
                                  <p:stCondLst>
                                    <p:cond delay="128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480"/>
                                        <p:tgtEl>
                                          <p:spTgt spid="43"/>
                                        </p:tgtEl>
                                      </p:cBhvr>
                                    </p:animEffect>
                                  </p:childTnLst>
                                </p:cTn>
                              </p:par>
                              <p:par>
                                <p:cTn id="125" presetID="10" presetClass="entr" presetSubtype="0" fill="hold" grpId="0" nodeType="withEffect">
                                  <p:stCondLst>
                                    <p:cond delay="128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480"/>
                                        <p:tgtEl>
                                          <p:spTgt spid="44"/>
                                        </p:tgtEl>
                                      </p:cBhvr>
                                    </p:animEffect>
                                  </p:childTnLst>
                                </p:cTn>
                              </p:par>
                              <p:par>
                                <p:cTn id="128" presetID="10" presetClass="entr" presetSubtype="0" fill="hold" grpId="0" nodeType="withEffect">
                                  <p:stCondLst>
                                    <p:cond delay="1280"/>
                                  </p:stCondLst>
                                  <p:childTnLst>
                                    <p:set>
                                      <p:cBhvr>
                                        <p:cTn id="129" dur="1" fill="hold">
                                          <p:stCondLst>
                                            <p:cond delay="0"/>
                                          </p:stCondLst>
                                        </p:cTn>
                                        <p:tgtEl>
                                          <p:spTgt spid="45"/>
                                        </p:tgtEl>
                                        <p:attrNameLst>
                                          <p:attrName>style.visibility</p:attrName>
                                        </p:attrNameLst>
                                      </p:cBhvr>
                                      <p:to>
                                        <p:strVal val="visible"/>
                                      </p:to>
                                    </p:set>
                                    <p:animEffect transition="in" filter="fade">
                                      <p:cBhvr>
                                        <p:cTn id="130" dur="480"/>
                                        <p:tgtEl>
                                          <p:spTgt spid="45"/>
                                        </p:tgtEl>
                                      </p:cBhvr>
                                    </p:animEffect>
                                  </p:childTnLst>
                                </p:cTn>
                              </p:par>
                              <p:par>
                                <p:cTn id="131" presetID="10" presetClass="entr" presetSubtype="0" fill="hold" grpId="0" nodeType="withEffect">
                                  <p:stCondLst>
                                    <p:cond delay="1280"/>
                                  </p:stCondLst>
                                  <p:childTnLst>
                                    <p:set>
                                      <p:cBhvr>
                                        <p:cTn id="132" dur="1" fill="hold">
                                          <p:stCondLst>
                                            <p:cond delay="0"/>
                                          </p:stCondLst>
                                        </p:cTn>
                                        <p:tgtEl>
                                          <p:spTgt spid="46"/>
                                        </p:tgtEl>
                                        <p:attrNameLst>
                                          <p:attrName>style.visibility</p:attrName>
                                        </p:attrNameLst>
                                      </p:cBhvr>
                                      <p:to>
                                        <p:strVal val="visible"/>
                                      </p:to>
                                    </p:set>
                                    <p:animEffect transition="in" filter="fade">
                                      <p:cBhvr>
                                        <p:cTn id="133" dur="480"/>
                                        <p:tgtEl>
                                          <p:spTgt spid="46"/>
                                        </p:tgtEl>
                                      </p:cBhvr>
                                    </p:animEffect>
                                  </p:childTnLst>
                                </p:cTn>
                              </p:par>
                              <p:par>
                                <p:cTn id="134" presetID="10" presetClass="entr" presetSubtype="0" fill="hold" grpId="0" nodeType="withEffect">
                                  <p:stCondLst>
                                    <p:cond delay="1280"/>
                                  </p:stCondLst>
                                  <p:childTnLst>
                                    <p:set>
                                      <p:cBhvr>
                                        <p:cTn id="135" dur="1" fill="hold">
                                          <p:stCondLst>
                                            <p:cond delay="0"/>
                                          </p:stCondLst>
                                        </p:cTn>
                                        <p:tgtEl>
                                          <p:spTgt spid="47"/>
                                        </p:tgtEl>
                                        <p:attrNameLst>
                                          <p:attrName>style.visibility</p:attrName>
                                        </p:attrNameLst>
                                      </p:cBhvr>
                                      <p:to>
                                        <p:strVal val="visible"/>
                                      </p:to>
                                    </p:set>
                                    <p:animEffect transition="in" filter="fade">
                                      <p:cBhvr>
                                        <p:cTn id="136" dur="480"/>
                                        <p:tgtEl>
                                          <p:spTgt spid="47"/>
                                        </p:tgtEl>
                                      </p:cBhvr>
                                    </p:animEffect>
                                  </p:childTnLst>
                                </p:cTn>
                              </p:par>
                              <p:par>
                                <p:cTn id="137" presetID="10" presetClass="entr" presetSubtype="0" fill="hold" grpId="0" nodeType="withEffect">
                                  <p:stCondLst>
                                    <p:cond delay="1280"/>
                                  </p:stCondLst>
                                  <p:childTnLst>
                                    <p:set>
                                      <p:cBhvr>
                                        <p:cTn id="138" dur="1" fill="hold">
                                          <p:stCondLst>
                                            <p:cond delay="0"/>
                                          </p:stCondLst>
                                        </p:cTn>
                                        <p:tgtEl>
                                          <p:spTgt spid="48"/>
                                        </p:tgtEl>
                                        <p:attrNameLst>
                                          <p:attrName>style.visibility</p:attrName>
                                        </p:attrNameLst>
                                      </p:cBhvr>
                                      <p:to>
                                        <p:strVal val="visible"/>
                                      </p:to>
                                    </p:set>
                                    <p:animEffect transition="in" filter="fade">
                                      <p:cBhvr>
                                        <p:cTn id="139" dur="480"/>
                                        <p:tgtEl>
                                          <p:spTgt spid="48"/>
                                        </p:tgtEl>
                                      </p:cBhvr>
                                    </p:animEffect>
                                  </p:childTnLst>
                                </p:cTn>
                              </p:par>
                              <p:par>
                                <p:cTn id="140" presetID="10" presetClass="entr" presetSubtype="0" fill="hold" grpId="0" nodeType="withEffect">
                                  <p:stCondLst>
                                    <p:cond delay="1280"/>
                                  </p:stCondLst>
                                  <p:childTnLst>
                                    <p:set>
                                      <p:cBhvr>
                                        <p:cTn id="141" dur="1" fill="hold">
                                          <p:stCondLst>
                                            <p:cond delay="0"/>
                                          </p:stCondLst>
                                        </p:cTn>
                                        <p:tgtEl>
                                          <p:spTgt spid="49"/>
                                        </p:tgtEl>
                                        <p:attrNameLst>
                                          <p:attrName>style.visibility</p:attrName>
                                        </p:attrNameLst>
                                      </p:cBhvr>
                                      <p:to>
                                        <p:strVal val="visible"/>
                                      </p:to>
                                    </p:set>
                                    <p:animEffect transition="in" filter="fade">
                                      <p:cBhvr>
                                        <p:cTn id="142" dur="480"/>
                                        <p:tgtEl>
                                          <p:spTgt spid="49"/>
                                        </p:tgtEl>
                                      </p:cBhvr>
                                    </p:animEffect>
                                  </p:childTnLst>
                                </p:cTn>
                              </p:par>
                              <p:par>
                                <p:cTn id="143" presetID="10" presetClass="entr" presetSubtype="0" fill="hold" grpId="0" nodeType="withEffect">
                                  <p:stCondLst>
                                    <p:cond delay="1280"/>
                                  </p:stCondLst>
                                  <p:childTnLst>
                                    <p:set>
                                      <p:cBhvr>
                                        <p:cTn id="144" dur="1" fill="hold">
                                          <p:stCondLst>
                                            <p:cond delay="0"/>
                                          </p:stCondLst>
                                        </p:cTn>
                                        <p:tgtEl>
                                          <p:spTgt spid="50"/>
                                        </p:tgtEl>
                                        <p:attrNameLst>
                                          <p:attrName>style.visibility</p:attrName>
                                        </p:attrNameLst>
                                      </p:cBhvr>
                                      <p:to>
                                        <p:strVal val="visible"/>
                                      </p:to>
                                    </p:set>
                                    <p:animEffect transition="in" filter="fade">
                                      <p:cBhvr>
                                        <p:cTn id="145" dur="480"/>
                                        <p:tgtEl>
                                          <p:spTgt spid="50"/>
                                        </p:tgtEl>
                                      </p:cBhvr>
                                    </p:animEffect>
                                  </p:childTnLst>
                                </p:cTn>
                              </p:par>
                              <p:par>
                                <p:cTn id="146" presetID="10" presetClass="entr" presetSubtype="0" fill="hold" grpId="0" nodeType="withEffect">
                                  <p:stCondLst>
                                    <p:cond delay="1280"/>
                                  </p:stCondLst>
                                  <p:childTnLst>
                                    <p:set>
                                      <p:cBhvr>
                                        <p:cTn id="147" dur="1" fill="hold">
                                          <p:stCondLst>
                                            <p:cond delay="0"/>
                                          </p:stCondLst>
                                        </p:cTn>
                                        <p:tgtEl>
                                          <p:spTgt spid="51"/>
                                        </p:tgtEl>
                                        <p:attrNameLst>
                                          <p:attrName>style.visibility</p:attrName>
                                        </p:attrNameLst>
                                      </p:cBhvr>
                                      <p:to>
                                        <p:strVal val="visible"/>
                                      </p:to>
                                    </p:set>
                                    <p:animEffect transition="in" filter="fade">
                                      <p:cBhvr>
                                        <p:cTn id="148" dur="480"/>
                                        <p:tgtEl>
                                          <p:spTgt spid="51"/>
                                        </p:tgtEl>
                                      </p:cBhvr>
                                    </p:animEffect>
                                  </p:childTnLst>
                                </p:cTn>
                              </p:par>
                              <p:par>
                                <p:cTn id="149" presetID="10" presetClass="entr" presetSubtype="0" fill="hold" grpId="0" nodeType="withEffect">
                                  <p:stCondLst>
                                    <p:cond delay="1280"/>
                                  </p:stCondLst>
                                  <p:childTnLst>
                                    <p:set>
                                      <p:cBhvr>
                                        <p:cTn id="150" dur="1" fill="hold">
                                          <p:stCondLst>
                                            <p:cond delay="0"/>
                                          </p:stCondLst>
                                        </p:cTn>
                                        <p:tgtEl>
                                          <p:spTgt spid="52"/>
                                        </p:tgtEl>
                                        <p:attrNameLst>
                                          <p:attrName>style.visibility</p:attrName>
                                        </p:attrNameLst>
                                      </p:cBhvr>
                                      <p:to>
                                        <p:strVal val="visible"/>
                                      </p:to>
                                    </p:set>
                                    <p:animEffect transition="in" filter="fade">
                                      <p:cBhvr>
                                        <p:cTn id="151" dur="480"/>
                                        <p:tgtEl>
                                          <p:spTgt spid="52"/>
                                        </p:tgtEl>
                                      </p:cBhvr>
                                    </p:animEffect>
                                  </p:childTnLst>
                                </p:cTn>
                              </p:par>
                              <p:par>
                                <p:cTn id="152" presetID="10" presetClass="entr" presetSubtype="0" fill="hold" grpId="0" nodeType="withEffect">
                                  <p:stCondLst>
                                    <p:cond delay="128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480"/>
                                        <p:tgtEl>
                                          <p:spTgt spid="53"/>
                                        </p:tgtEl>
                                      </p:cBhvr>
                                    </p:animEffect>
                                  </p:childTnLst>
                                </p:cTn>
                              </p:par>
                              <p:par>
                                <p:cTn id="155" presetID="10" presetClass="entr" presetSubtype="0" fill="hold" grpId="0" nodeType="withEffect">
                                  <p:stCondLst>
                                    <p:cond delay="128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7" dur="480"/>
                                        <p:tgtEl>
                                          <p:spTgt spid="54"/>
                                        </p:tgtEl>
                                      </p:cBhvr>
                                    </p:animEffect>
                                  </p:childTnLst>
                                </p:cTn>
                              </p:par>
                              <p:par>
                                <p:cTn id="158" presetID="10" presetClass="entr" presetSubtype="0" fill="hold" grpId="0" nodeType="withEffect">
                                  <p:stCondLst>
                                    <p:cond delay="1280"/>
                                  </p:stCondLst>
                                  <p:childTnLst>
                                    <p:set>
                                      <p:cBhvr>
                                        <p:cTn id="159" dur="1" fill="hold">
                                          <p:stCondLst>
                                            <p:cond delay="0"/>
                                          </p:stCondLst>
                                        </p:cTn>
                                        <p:tgtEl>
                                          <p:spTgt spid="55"/>
                                        </p:tgtEl>
                                        <p:attrNameLst>
                                          <p:attrName>style.visibility</p:attrName>
                                        </p:attrNameLst>
                                      </p:cBhvr>
                                      <p:to>
                                        <p:strVal val="visible"/>
                                      </p:to>
                                    </p:set>
                                    <p:animEffect transition="in" filter="fade">
                                      <p:cBhvr>
                                        <p:cTn id="160" dur="480"/>
                                        <p:tgtEl>
                                          <p:spTgt spid="55"/>
                                        </p:tgtEl>
                                      </p:cBhvr>
                                    </p:animEffect>
                                  </p:childTnLst>
                                </p:cTn>
                              </p:par>
                              <p:par>
                                <p:cTn id="161" presetID="10" presetClass="entr" presetSubtype="0" fill="hold" grpId="0" nodeType="withEffect">
                                  <p:stCondLst>
                                    <p:cond delay="1280"/>
                                  </p:stCondLst>
                                  <p:childTnLst>
                                    <p:set>
                                      <p:cBhvr>
                                        <p:cTn id="162" dur="1" fill="hold">
                                          <p:stCondLst>
                                            <p:cond delay="0"/>
                                          </p:stCondLst>
                                        </p:cTn>
                                        <p:tgtEl>
                                          <p:spTgt spid="56"/>
                                        </p:tgtEl>
                                        <p:attrNameLst>
                                          <p:attrName>style.visibility</p:attrName>
                                        </p:attrNameLst>
                                      </p:cBhvr>
                                      <p:to>
                                        <p:strVal val="visible"/>
                                      </p:to>
                                    </p:set>
                                    <p:animEffect transition="in" filter="fade">
                                      <p:cBhvr>
                                        <p:cTn id="163" dur="480"/>
                                        <p:tgtEl>
                                          <p:spTgt spid="56"/>
                                        </p:tgtEl>
                                      </p:cBhvr>
                                    </p:animEffect>
                                  </p:childTnLst>
                                </p:cTn>
                              </p:par>
                              <p:par>
                                <p:cTn id="164" presetID="10" presetClass="entr" presetSubtype="0" fill="hold" grpId="0" nodeType="withEffect">
                                  <p:stCondLst>
                                    <p:cond delay="1280"/>
                                  </p:stCondLst>
                                  <p:childTnLst>
                                    <p:set>
                                      <p:cBhvr>
                                        <p:cTn id="165" dur="1" fill="hold">
                                          <p:stCondLst>
                                            <p:cond delay="0"/>
                                          </p:stCondLst>
                                        </p:cTn>
                                        <p:tgtEl>
                                          <p:spTgt spid="57"/>
                                        </p:tgtEl>
                                        <p:attrNameLst>
                                          <p:attrName>style.visibility</p:attrName>
                                        </p:attrNameLst>
                                      </p:cBhvr>
                                      <p:to>
                                        <p:strVal val="visible"/>
                                      </p:to>
                                    </p:set>
                                    <p:animEffect transition="in" filter="fade">
                                      <p:cBhvr>
                                        <p:cTn id="166" dur="480"/>
                                        <p:tgtEl>
                                          <p:spTgt spid="57"/>
                                        </p:tgtEl>
                                      </p:cBhvr>
                                    </p:animEffect>
                                  </p:childTnLst>
                                </p:cTn>
                              </p:par>
                              <p:par>
                                <p:cTn id="167" presetID="10" presetClass="entr" presetSubtype="0" fill="hold" grpId="0" nodeType="withEffect">
                                  <p:stCondLst>
                                    <p:cond delay="1280"/>
                                  </p:stCondLst>
                                  <p:childTnLst>
                                    <p:set>
                                      <p:cBhvr>
                                        <p:cTn id="168" dur="1" fill="hold">
                                          <p:stCondLst>
                                            <p:cond delay="0"/>
                                          </p:stCondLst>
                                        </p:cTn>
                                        <p:tgtEl>
                                          <p:spTgt spid="58"/>
                                        </p:tgtEl>
                                        <p:attrNameLst>
                                          <p:attrName>style.visibility</p:attrName>
                                        </p:attrNameLst>
                                      </p:cBhvr>
                                      <p:to>
                                        <p:strVal val="visible"/>
                                      </p:to>
                                    </p:set>
                                    <p:animEffect transition="in" filter="fade">
                                      <p:cBhvr>
                                        <p:cTn id="169" dur="480"/>
                                        <p:tgtEl>
                                          <p:spTgt spid="58"/>
                                        </p:tgtEl>
                                      </p:cBhvr>
                                    </p:animEffect>
                                  </p:childTnLst>
                                </p:cTn>
                              </p:par>
                              <p:par>
                                <p:cTn id="170" presetID="10" presetClass="entr" presetSubtype="0" fill="hold" grpId="0" nodeType="withEffect">
                                  <p:stCondLst>
                                    <p:cond delay="1280"/>
                                  </p:stCondLst>
                                  <p:childTnLst>
                                    <p:set>
                                      <p:cBhvr>
                                        <p:cTn id="171" dur="1" fill="hold">
                                          <p:stCondLst>
                                            <p:cond delay="0"/>
                                          </p:stCondLst>
                                        </p:cTn>
                                        <p:tgtEl>
                                          <p:spTgt spid="59"/>
                                        </p:tgtEl>
                                        <p:attrNameLst>
                                          <p:attrName>style.visibility</p:attrName>
                                        </p:attrNameLst>
                                      </p:cBhvr>
                                      <p:to>
                                        <p:strVal val="visible"/>
                                      </p:to>
                                    </p:set>
                                    <p:animEffect transition="in" filter="fade">
                                      <p:cBhvr>
                                        <p:cTn id="172" dur="480"/>
                                        <p:tgtEl>
                                          <p:spTgt spid="59"/>
                                        </p:tgtEl>
                                      </p:cBhvr>
                                    </p:animEffect>
                                  </p:childTnLst>
                                </p:cTn>
                              </p:par>
                              <p:par>
                                <p:cTn id="173" presetID="10" presetClass="entr" presetSubtype="0" fill="hold" grpId="0" nodeType="withEffect">
                                  <p:stCondLst>
                                    <p:cond delay="1280"/>
                                  </p:stCondLst>
                                  <p:childTnLst>
                                    <p:set>
                                      <p:cBhvr>
                                        <p:cTn id="174" dur="1" fill="hold">
                                          <p:stCondLst>
                                            <p:cond delay="0"/>
                                          </p:stCondLst>
                                        </p:cTn>
                                        <p:tgtEl>
                                          <p:spTgt spid="60"/>
                                        </p:tgtEl>
                                        <p:attrNameLst>
                                          <p:attrName>style.visibility</p:attrName>
                                        </p:attrNameLst>
                                      </p:cBhvr>
                                      <p:to>
                                        <p:strVal val="visible"/>
                                      </p:to>
                                    </p:set>
                                    <p:animEffect transition="in" filter="fade">
                                      <p:cBhvr>
                                        <p:cTn id="175" dur="480"/>
                                        <p:tgtEl>
                                          <p:spTgt spid="60"/>
                                        </p:tgtEl>
                                      </p:cBhvr>
                                    </p:animEffect>
                                  </p:childTnLst>
                                </p:cTn>
                              </p:par>
                              <p:par>
                                <p:cTn id="176" presetID="10" presetClass="entr" presetSubtype="0" fill="hold" grpId="0" nodeType="withEffect">
                                  <p:stCondLst>
                                    <p:cond delay="1280"/>
                                  </p:stCondLst>
                                  <p:childTnLst>
                                    <p:set>
                                      <p:cBhvr>
                                        <p:cTn id="177" dur="1" fill="hold">
                                          <p:stCondLst>
                                            <p:cond delay="0"/>
                                          </p:stCondLst>
                                        </p:cTn>
                                        <p:tgtEl>
                                          <p:spTgt spid="61"/>
                                        </p:tgtEl>
                                        <p:attrNameLst>
                                          <p:attrName>style.visibility</p:attrName>
                                        </p:attrNameLst>
                                      </p:cBhvr>
                                      <p:to>
                                        <p:strVal val="visible"/>
                                      </p:to>
                                    </p:set>
                                    <p:animEffect transition="in" filter="fade">
                                      <p:cBhvr>
                                        <p:cTn id="178" dur="480"/>
                                        <p:tgtEl>
                                          <p:spTgt spid="61"/>
                                        </p:tgtEl>
                                      </p:cBhvr>
                                    </p:animEffect>
                                  </p:childTnLst>
                                </p:cTn>
                              </p:par>
                              <p:par>
                                <p:cTn id="179" presetID="10" presetClass="entr" presetSubtype="0" fill="hold" grpId="0" nodeType="withEffect">
                                  <p:stCondLst>
                                    <p:cond delay="1280"/>
                                  </p:stCondLst>
                                  <p:childTnLst>
                                    <p:set>
                                      <p:cBhvr>
                                        <p:cTn id="180" dur="1" fill="hold">
                                          <p:stCondLst>
                                            <p:cond delay="0"/>
                                          </p:stCondLst>
                                        </p:cTn>
                                        <p:tgtEl>
                                          <p:spTgt spid="62"/>
                                        </p:tgtEl>
                                        <p:attrNameLst>
                                          <p:attrName>style.visibility</p:attrName>
                                        </p:attrNameLst>
                                      </p:cBhvr>
                                      <p:to>
                                        <p:strVal val="visible"/>
                                      </p:to>
                                    </p:set>
                                    <p:animEffect transition="in" filter="fade">
                                      <p:cBhvr>
                                        <p:cTn id="181" dur="480"/>
                                        <p:tgtEl>
                                          <p:spTgt spid="62"/>
                                        </p:tgtEl>
                                      </p:cBhvr>
                                    </p:animEffect>
                                  </p:childTnLst>
                                </p:cTn>
                              </p:par>
                              <p:par>
                                <p:cTn id="182" presetID="10" presetClass="entr" presetSubtype="0" fill="hold" grpId="0" nodeType="withEffect">
                                  <p:stCondLst>
                                    <p:cond delay="1280"/>
                                  </p:stCondLst>
                                  <p:childTnLst>
                                    <p:set>
                                      <p:cBhvr>
                                        <p:cTn id="183" dur="1" fill="hold">
                                          <p:stCondLst>
                                            <p:cond delay="0"/>
                                          </p:stCondLst>
                                        </p:cTn>
                                        <p:tgtEl>
                                          <p:spTgt spid="63"/>
                                        </p:tgtEl>
                                        <p:attrNameLst>
                                          <p:attrName>style.visibility</p:attrName>
                                        </p:attrNameLst>
                                      </p:cBhvr>
                                      <p:to>
                                        <p:strVal val="visible"/>
                                      </p:to>
                                    </p:set>
                                    <p:animEffect transition="in" filter="fade">
                                      <p:cBhvr>
                                        <p:cTn id="184" dur="480"/>
                                        <p:tgtEl>
                                          <p:spTgt spid="63"/>
                                        </p:tgtEl>
                                      </p:cBhvr>
                                    </p:animEffect>
                                  </p:childTnLst>
                                </p:cTn>
                              </p:par>
                              <p:par>
                                <p:cTn id="185" presetID="10" presetClass="entr" presetSubtype="0" fill="hold" grpId="0" nodeType="withEffect">
                                  <p:stCondLst>
                                    <p:cond delay="1280"/>
                                  </p:stCondLst>
                                  <p:childTnLst>
                                    <p:set>
                                      <p:cBhvr>
                                        <p:cTn id="186" dur="1" fill="hold">
                                          <p:stCondLst>
                                            <p:cond delay="0"/>
                                          </p:stCondLst>
                                        </p:cTn>
                                        <p:tgtEl>
                                          <p:spTgt spid="64"/>
                                        </p:tgtEl>
                                        <p:attrNameLst>
                                          <p:attrName>style.visibility</p:attrName>
                                        </p:attrNameLst>
                                      </p:cBhvr>
                                      <p:to>
                                        <p:strVal val="visible"/>
                                      </p:to>
                                    </p:set>
                                    <p:animEffect transition="in" filter="fade">
                                      <p:cBhvr>
                                        <p:cTn id="187" dur="480"/>
                                        <p:tgtEl>
                                          <p:spTgt spid="64"/>
                                        </p:tgtEl>
                                      </p:cBhvr>
                                    </p:animEffect>
                                  </p:childTnLst>
                                </p:cTn>
                              </p:par>
                              <p:par>
                                <p:cTn id="188" presetID="10" presetClass="entr" presetSubtype="0" fill="hold" grpId="0" nodeType="withEffect">
                                  <p:stCondLst>
                                    <p:cond delay="1280"/>
                                  </p:stCondLst>
                                  <p:childTnLst>
                                    <p:set>
                                      <p:cBhvr>
                                        <p:cTn id="189" dur="1" fill="hold">
                                          <p:stCondLst>
                                            <p:cond delay="0"/>
                                          </p:stCondLst>
                                        </p:cTn>
                                        <p:tgtEl>
                                          <p:spTgt spid="65"/>
                                        </p:tgtEl>
                                        <p:attrNameLst>
                                          <p:attrName>style.visibility</p:attrName>
                                        </p:attrNameLst>
                                      </p:cBhvr>
                                      <p:to>
                                        <p:strVal val="visible"/>
                                      </p:to>
                                    </p:set>
                                    <p:animEffect transition="in" filter="fade">
                                      <p:cBhvr>
                                        <p:cTn id="190" dur="480"/>
                                        <p:tgtEl>
                                          <p:spTgt spid="65"/>
                                        </p:tgtEl>
                                      </p:cBhvr>
                                    </p:animEffect>
                                  </p:childTnLst>
                                </p:cTn>
                              </p:par>
                              <p:par>
                                <p:cTn id="191" presetID="10" presetClass="entr" presetSubtype="0" fill="hold" grpId="0" nodeType="withEffect">
                                  <p:stCondLst>
                                    <p:cond delay="1280"/>
                                  </p:stCondLst>
                                  <p:childTnLst>
                                    <p:set>
                                      <p:cBhvr>
                                        <p:cTn id="192" dur="1" fill="hold">
                                          <p:stCondLst>
                                            <p:cond delay="0"/>
                                          </p:stCondLst>
                                        </p:cTn>
                                        <p:tgtEl>
                                          <p:spTgt spid="66"/>
                                        </p:tgtEl>
                                        <p:attrNameLst>
                                          <p:attrName>style.visibility</p:attrName>
                                        </p:attrNameLst>
                                      </p:cBhvr>
                                      <p:to>
                                        <p:strVal val="visible"/>
                                      </p:to>
                                    </p:set>
                                    <p:animEffect transition="in" filter="fade">
                                      <p:cBhvr>
                                        <p:cTn id="193" dur="480"/>
                                        <p:tgtEl>
                                          <p:spTgt spid="66"/>
                                        </p:tgtEl>
                                      </p:cBhvr>
                                    </p:animEffect>
                                  </p:childTnLst>
                                </p:cTn>
                              </p:par>
                              <p:par>
                                <p:cTn id="194" presetID="10" presetClass="entr" presetSubtype="0" fill="hold" grpId="0" nodeType="withEffect">
                                  <p:stCondLst>
                                    <p:cond delay="1280"/>
                                  </p:stCondLst>
                                  <p:childTnLst>
                                    <p:set>
                                      <p:cBhvr>
                                        <p:cTn id="195" dur="1" fill="hold">
                                          <p:stCondLst>
                                            <p:cond delay="0"/>
                                          </p:stCondLst>
                                        </p:cTn>
                                        <p:tgtEl>
                                          <p:spTgt spid="67"/>
                                        </p:tgtEl>
                                        <p:attrNameLst>
                                          <p:attrName>style.visibility</p:attrName>
                                        </p:attrNameLst>
                                      </p:cBhvr>
                                      <p:to>
                                        <p:strVal val="visible"/>
                                      </p:to>
                                    </p:set>
                                    <p:animEffect transition="in" filter="fade">
                                      <p:cBhvr>
                                        <p:cTn id="196" dur="480"/>
                                        <p:tgtEl>
                                          <p:spTgt spid="67"/>
                                        </p:tgtEl>
                                      </p:cBhvr>
                                    </p:animEffect>
                                  </p:childTnLst>
                                </p:cTn>
                              </p:par>
                              <p:par>
                                <p:cTn id="197" presetID="10" presetClass="entr" presetSubtype="0" fill="hold" grpId="0" nodeType="withEffect">
                                  <p:stCondLst>
                                    <p:cond delay="1280"/>
                                  </p:stCondLst>
                                  <p:childTnLst>
                                    <p:set>
                                      <p:cBhvr>
                                        <p:cTn id="198" dur="1" fill="hold">
                                          <p:stCondLst>
                                            <p:cond delay="0"/>
                                          </p:stCondLst>
                                        </p:cTn>
                                        <p:tgtEl>
                                          <p:spTgt spid="68"/>
                                        </p:tgtEl>
                                        <p:attrNameLst>
                                          <p:attrName>style.visibility</p:attrName>
                                        </p:attrNameLst>
                                      </p:cBhvr>
                                      <p:to>
                                        <p:strVal val="visible"/>
                                      </p:to>
                                    </p:set>
                                    <p:animEffect transition="in" filter="fade">
                                      <p:cBhvr>
                                        <p:cTn id="199" dur="480"/>
                                        <p:tgtEl>
                                          <p:spTgt spid="68"/>
                                        </p:tgtEl>
                                      </p:cBhvr>
                                    </p:animEffect>
                                  </p:childTnLst>
                                </p:cTn>
                              </p:par>
                              <p:par>
                                <p:cTn id="200" presetID="10" presetClass="entr" presetSubtype="0" fill="hold" grpId="0" nodeType="withEffect">
                                  <p:stCondLst>
                                    <p:cond delay="1280"/>
                                  </p:stCondLst>
                                  <p:childTnLst>
                                    <p:set>
                                      <p:cBhvr>
                                        <p:cTn id="201" dur="1" fill="hold">
                                          <p:stCondLst>
                                            <p:cond delay="0"/>
                                          </p:stCondLst>
                                        </p:cTn>
                                        <p:tgtEl>
                                          <p:spTgt spid="69"/>
                                        </p:tgtEl>
                                        <p:attrNameLst>
                                          <p:attrName>style.visibility</p:attrName>
                                        </p:attrNameLst>
                                      </p:cBhvr>
                                      <p:to>
                                        <p:strVal val="visible"/>
                                      </p:to>
                                    </p:set>
                                    <p:animEffect transition="in" filter="fade">
                                      <p:cBhvr>
                                        <p:cTn id="202" dur="480"/>
                                        <p:tgtEl>
                                          <p:spTgt spid="69"/>
                                        </p:tgtEl>
                                      </p:cBhvr>
                                    </p:animEffect>
                                  </p:childTnLst>
                                </p:cTn>
                              </p:par>
                              <p:par>
                                <p:cTn id="203" presetID="10" presetClass="entr" presetSubtype="0" fill="hold" grpId="0" nodeType="withEffect">
                                  <p:stCondLst>
                                    <p:cond delay="1280"/>
                                  </p:stCondLst>
                                  <p:childTnLst>
                                    <p:set>
                                      <p:cBhvr>
                                        <p:cTn id="204" dur="1" fill="hold">
                                          <p:stCondLst>
                                            <p:cond delay="0"/>
                                          </p:stCondLst>
                                        </p:cTn>
                                        <p:tgtEl>
                                          <p:spTgt spid="70"/>
                                        </p:tgtEl>
                                        <p:attrNameLst>
                                          <p:attrName>style.visibility</p:attrName>
                                        </p:attrNameLst>
                                      </p:cBhvr>
                                      <p:to>
                                        <p:strVal val="visible"/>
                                      </p:to>
                                    </p:set>
                                    <p:animEffect transition="in" filter="fade">
                                      <p:cBhvr>
                                        <p:cTn id="205" dur="480"/>
                                        <p:tgtEl>
                                          <p:spTgt spid="70"/>
                                        </p:tgtEl>
                                      </p:cBhvr>
                                    </p:animEffect>
                                  </p:childTnLst>
                                </p:cTn>
                              </p:par>
                              <p:par>
                                <p:cTn id="206" presetID="10" presetClass="entr" presetSubtype="0" fill="hold" grpId="0" nodeType="withEffect">
                                  <p:stCondLst>
                                    <p:cond delay="1280"/>
                                  </p:stCondLst>
                                  <p:childTnLst>
                                    <p:set>
                                      <p:cBhvr>
                                        <p:cTn id="207" dur="1" fill="hold">
                                          <p:stCondLst>
                                            <p:cond delay="0"/>
                                          </p:stCondLst>
                                        </p:cTn>
                                        <p:tgtEl>
                                          <p:spTgt spid="71"/>
                                        </p:tgtEl>
                                        <p:attrNameLst>
                                          <p:attrName>style.visibility</p:attrName>
                                        </p:attrNameLst>
                                      </p:cBhvr>
                                      <p:to>
                                        <p:strVal val="visible"/>
                                      </p:to>
                                    </p:set>
                                    <p:animEffect transition="in" filter="fade">
                                      <p:cBhvr>
                                        <p:cTn id="208" dur="480"/>
                                        <p:tgtEl>
                                          <p:spTgt spid="71"/>
                                        </p:tgtEl>
                                      </p:cBhvr>
                                    </p:animEffect>
                                  </p:childTnLst>
                                </p:cTn>
                              </p:par>
                              <p:par>
                                <p:cTn id="209" presetID="10" presetClass="entr" presetSubtype="0" fill="hold" grpId="0" nodeType="withEffect">
                                  <p:stCondLst>
                                    <p:cond delay="1280"/>
                                  </p:stCondLst>
                                  <p:childTnLst>
                                    <p:set>
                                      <p:cBhvr>
                                        <p:cTn id="210" dur="1" fill="hold">
                                          <p:stCondLst>
                                            <p:cond delay="0"/>
                                          </p:stCondLst>
                                        </p:cTn>
                                        <p:tgtEl>
                                          <p:spTgt spid="72"/>
                                        </p:tgtEl>
                                        <p:attrNameLst>
                                          <p:attrName>style.visibility</p:attrName>
                                        </p:attrNameLst>
                                      </p:cBhvr>
                                      <p:to>
                                        <p:strVal val="visible"/>
                                      </p:to>
                                    </p:set>
                                    <p:animEffect transition="in" filter="fade">
                                      <p:cBhvr>
                                        <p:cTn id="211" dur="480"/>
                                        <p:tgtEl>
                                          <p:spTgt spid="72"/>
                                        </p:tgtEl>
                                      </p:cBhvr>
                                    </p:animEffect>
                                  </p:childTnLst>
                                </p:cTn>
                              </p:par>
                              <p:par>
                                <p:cTn id="212" presetID="10" presetClass="entr" presetSubtype="0" fill="hold" grpId="0" nodeType="withEffect">
                                  <p:stCondLst>
                                    <p:cond delay="1280"/>
                                  </p:stCondLst>
                                  <p:childTnLst>
                                    <p:set>
                                      <p:cBhvr>
                                        <p:cTn id="213" dur="1" fill="hold">
                                          <p:stCondLst>
                                            <p:cond delay="0"/>
                                          </p:stCondLst>
                                        </p:cTn>
                                        <p:tgtEl>
                                          <p:spTgt spid="73"/>
                                        </p:tgtEl>
                                        <p:attrNameLst>
                                          <p:attrName>style.visibility</p:attrName>
                                        </p:attrNameLst>
                                      </p:cBhvr>
                                      <p:to>
                                        <p:strVal val="visible"/>
                                      </p:to>
                                    </p:set>
                                    <p:animEffect transition="in" filter="fade">
                                      <p:cBhvr>
                                        <p:cTn id="214" dur="480"/>
                                        <p:tgtEl>
                                          <p:spTgt spid="73"/>
                                        </p:tgtEl>
                                      </p:cBhvr>
                                    </p:animEffect>
                                  </p:childTnLst>
                                </p:cTn>
                              </p:par>
                              <p:par>
                                <p:cTn id="215" presetID="10" presetClass="entr" presetSubtype="0" fill="hold" grpId="0" nodeType="withEffect">
                                  <p:stCondLst>
                                    <p:cond delay="1280"/>
                                  </p:stCondLst>
                                  <p:childTnLst>
                                    <p:set>
                                      <p:cBhvr>
                                        <p:cTn id="216" dur="1" fill="hold">
                                          <p:stCondLst>
                                            <p:cond delay="0"/>
                                          </p:stCondLst>
                                        </p:cTn>
                                        <p:tgtEl>
                                          <p:spTgt spid="74"/>
                                        </p:tgtEl>
                                        <p:attrNameLst>
                                          <p:attrName>style.visibility</p:attrName>
                                        </p:attrNameLst>
                                      </p:cBhvr>
                                      <p:to>
                                        <p:strVal val="visible"/>
                                      </p:to>
                                    </p:set>
                                    <p:animEffect transition="in" filter="fade">
                                      <p:cBhvr>
                                        <p:cTn id="217" dur="480"/>
                                        <p:tgtEl>
                                          <p:spTgt spid="74"/>
                                        </p:tgtEl>
                                      </p:cBhvr>
                                    </p:animEffect>
                                  </p:childTnLst>
                                </p:cTn>
                              </p:par>
                              <p:par>
                                <p:cTn id="218" presetID="10" presetClass="entr" presetSubtype="0" fill="hold" grpId="0" nodeType="withEffect">
                                  <p:stCondLst>
                                    <p:cond delay="1280"/>
                                  </p:stCondLst>
                                  <p:childTnLst>
                                    <p:set>
                                      <p:cBhvr>
                                        <p:cTn id="219" dur="1" fill="hold">
                                          <p:stCondLst>
                                            <p:cond delay="0"/>
                                          </p:stCondLst>
                                        </p:cTn>
                                        <p:tgtEl>
                                          <p:spTgt spid="75"/>
                                        </p:tgtEl>
                                        <p:attrNameLst>
                                          <p:attrName>style.visibility</p:attrName>
                                        </p:attrNameLst>
                                      </p:cBhvr>
                                      <p:to>
                                        <p:strVal val="visible"/>
                                      </p:to>
                                    </p:set>
                                    <p:animEffect transition="in" filter="fade">
                                      <p:cBhvr>
                                        <p:cTn id="220" dur="480"/>
                                        <p:tgtEl>
                                          <p:spTgt spid="75"/>
                                        </p:tgtEl>
                                      </p:cBhvr>
                                    </p:animEffect>
                                  </p:childTnLst>
                                </p:cTn>
                              </p:par>
                              <p:par>
                                <p:cTn id="221" presetID="10" presetClass="entr" presetSubtype="0" fill="hold" grpId="0" nodeType="withEffect">
                                  <p:stCondLst>
                                    <p:cond delay="1280"/>
                                  </p:stCondLst>
                                  <p:childTnLst>
                                    <p:set>
                                      <p:cBhvr>
                                        <p:cTn id="222" dur="1" fill="hold">
                                          <p:stCondLst>
                                            <p:cond delay="0"/>
                                          </p:stCondLst>
                                        </p:cTn>
                                        <p:tgtEl>
                                          <p:spTgt spid="76"/>
                                        </p:tgtEl>
                                        <p:attrNameLst>
                                          <p:attrName>style.visibility</p:attrName>
                                        </p:attrNameLst>
                                      </p:cBhvr>
                                      <p:to>
                                        <p:strVal val="visible"/>
                                      </p:to>
                                    </p:set>
                                    <p:animEffect transition="in" filter="fade">
                                      <p:cBhvr>
                                        <p:cTn id="223" dur="480"/>
                                        <p:tgtEl>
                                          <p:spTgt spid="76"/>
                                        </p:tgtEl>
                                      </p:cBhvr>
                                    </p:animEffect>
                                  </p:childTnLst>
                                </p:cTn>
                              </p:par>
                              <p:par>
                                <p:cTn id="224" presetID="10" presetClass="entr" presetSubtype="0" fill="hold" grpId="0" nodeType="withEffect">
                                  <p:stCondLst>
                                    <p:cond delay="1280"/>
                                  </p:stCondLst>
                                  <p:childTnLst>
                                    <p:set>
                                      <p:cBhvr>
                                        <p:cTn id="225" dur="1" fill="hold">
                                          <p:stCondLst>
                                            <p:cond delay="0"/>
                                          </p:stCondLst>
                                        </p:cTn>
                                        <p:tgtEl>
                                          <p:spTgt spid="77"/>
                                        </p:tgtEl>
                                        <p:attrNameLst>
                                          <p:attrName>style.visibility</p:attrName>
                                        </p:attrNameLst>
                                      </p:cBhvr>
                                      <p:to>
                                        <p:strVal val="visible"/>
                                      </p:to>
                                    </p:set>
                                    <p:animEffect transition="in" filter="fade">
                                      <p:cBhvr>
                                        <p:cTn id="226" dur="480"/>
                                        <p:tgtEl>
                                          <p:spTgt spid="77"/>
                                        </p:tgtEl>
                                      </p:cBhvr>
                                    </p:animEffect>
                                  </p:childTnLst>
                                </p:cTn>
                              </p:par>
                              <p:par>
                                <p:cTn id="227" presetID="10" presetClass="entr" presetSubtype="0" fill="hold" grpId="0" nodeType="withEffect">
                                  <p:stCondLst>
                                    <p:cond delay="1280"/>
                                  </p:stCondLst>
                                  <p:childTnLst>
                                    <p:set>
                                      <p:cBhvr>
                                        <p:cTn id="228" dur="1" fill="hold">
                                          <p:stCondLst>
                                            <p:cond delay="0"/>
                                          </p:stCondLst>
                                        </p:cTn>
                                        <p:tgtEl>
                                          <p:spTgt spid="78"/>
                                        </p:tgtEl>
                                        <p:attrNameLst>
                                          <p:attrName>style.visibility</p:attrName>
                                        </p:attrNameLst>
                                      </p:cBhvr>
                                      <p:to>
                                        <p:strVal val="visible"/>
                                      </p:to>
                                    </p:set>
                                    <p:animEffect transition="in" filter="fade">
                                      <p:cBhvr>
                                        <p:cTn id="229" dur="480"/>
                                        <p:tgtEl>
                                          <p:spTgt spid="78"/>
                                        </p:tgtEl>
                                      </p:cBhvr>
                                    </p:animEffect>
                                  </p:childTnLst>
                                </p:cTn>
                              </p:par>
                              <p:par>
                                <p:cTn id="230" presetID="10" presetClass="entr" presetSubtype="0" fill="hold" grpId="0" nodeType="withEffect">
                                  <p:stCondLst>
                                    <p:cond delay="1280"/>
                                  </p:stCondLst>
                                  <p:childTnLst>
                                    <p:set>
                                      <p:cBhvr>
                                        <p:cTn id="231" dur="1" fill="hold">
                                          <p:stCondLst>
                                            <p:cond delay="0"/>
                                          </p:stCondLst>
                                        </p:cTn>
                                        <p:tgtEl>
                                          <p:spTgt spid="79"/>
                                        </p:tgtEl>
                                        <p:attrNameLst>
                                          <p:attrName>style.visibility</p:attrName>
                                        </p:attrNameLst>
                                      </p:cBhvr>
                                      <p:to>
                                        <p:strVal val="visible"/>
                                      </p:to>
                                    </p:set>
                                    <p:animEffect transition="in" filter="fade">
                                      <p:cBhvr>
                                        <p:cTn id="232" dur="480"/>
                                        <p:tgtEl>
                                          <p:spTgt spid="79"/>
                                        </p:tgtEl>
                                      </p:cBhvr>
                                    </p:animEffect>
                                  </p:childTnLst>
                                </p:cTn>
                              </p:par>
                              <p:par>
                                <p:cTn id="233" presetID="10" presetClass="entr" presetSubtype="0" fill="hold" grpId="0" nodeType="withEffect">
                                  <p:stCondLst>
                                    <p:cond delay="1280"/>
                                  </p:stCondLst>
                                  <p:childTnLst>
                                    <p:set>
                                      <p:cBhvr>
                                        <p:cTn id="234" dur="1" fill="hold">
                                          <p:stCondLst>
                                            <p:cond delay="0"/>
                                          </p:stCondLst>
                                        </p:cTn>
                                        <p:tgtEl>
                                          <p:spTgt spid="80"/>
                                        </p:tgtEl>
                                        <p:attrNameLst>
                                          <p:attrName>style.visibility</p:attrName>
                                        </p:attrNameLst>
                                      </p:cBhvr>
                                      <p:to>
                                        <p:strVal val="visible"/>
                                      </p:to>
                                    </p:set>
                                    <p:animEffect transition="in" filter="fade">
                                      <p:cBhvr>
                                        <p:cTn id="235" dur="480"/>
                                        <p:tgtEl>
                                          <p:spTgt spid="80"/>
                                        </p:tgtEl>
                                      </p:cBhvr>
                                    </p:animEffect>
                                  </p:childTnLst>
                                </p:cTn>
                              </p:par>
                              <p:par>
                                <p:cTn id="236" presetID="10" presetClass="entr" presetSubtype="0" fill="hold" grpId="0" nodeType="withEffect">
                                  <p:stCondLst>
                                    <p:cond delay="1280"/>
                                  </p:stCondLst>
                                  <p:childTnLst>
                                    <p:set>
                                      <p:cBhvr>
                                        <p:cTn id="237" dur="1" fill="hold">
                                          <p:stCondLst>
                                            <p:cond delay="0"/>
                                          </p:stCondLst>
                                        </p:cTn>
                                        <p:tgtEl>
                                          <p:spTgt spid="81"/>
                                        </p:tgtEl>
                                        <p:attrNameLst>
                                          <p:attrName>style.visibility</p:attrName>
                                        </p:attrNameLst>
                                      </p:cBhvr>
                                      <p:to>
                                        <p:strVal val="visible"/>
                                      </p:to>
                                    </p:set>
                                    <p:animEffect transition="in" filter="fade">
                                      <p:cBhvr>
                                        <p:cTn id="238" dur="480"/>
                                        <p:tgtEl>
                                          <p:spTgt spid="81"/>
                                        </p:tgtEl>
                                      </p:cBhvr>
                                    </p:animEffect>
                                  </p:childTnLst>
                                </p:cTn>
                              </p:par>
                              <p:par>
                                <p:cTn id="239" presetID="10" presetClass="entr" presetSubtype="0" fill="hold" grpId="0" nodeType="withEffect">
                                  <p:stCondLst>
                                    <p:cond delay="1280"/>
                                  </p:stCondLst>
                                  <p:childTnLst>
                                    <p:set>
                                      <p:cBhvr>
                                        <p:cTn id="240" dur="1" fill="hold">
                                          <p:stCondLst>
                                            <p:cond delay="0"/>
                                          </p:stCondLst>
                                        </p:cTn>
                                        <p:tgtEl>
                                          <p:spTgt spid="82"/>
                                        </p:tgtEl>
                                        <p:attrNameLst>
                                          <p:attrName>style.visibility</p:attrName>
                                        </p:attrNameLst>
                                      </p:cBhvr>
                                      <p:to>
                                        <p:strVal val="visible"/>
                                      </p:to>
                                    </p:set>
                                    <p:animEffect transition="in" filter="fade">
                                      <p:cBhvr>
                                        <p:cTn id="241" dur="480"/>
                                        <p:tgtEl>
                                          <p:spTgt spid="82"/>
                                        </p:tgtEl>
                                      </p:cBhvr>
                                    </p:animEffect>
                                  </p:childTnLst>
                                </p:cTn>
                              </p:par>
                              <p:par>
                                <p:cTn id="242" presetID="10" presetClass="entr" presetSubtype="0" fill="hold" grpId="0" nodeType="withEffect">
                                  <p:stCondLst>
                                    <p:cond delay="1280"/>
                                  </p:stCondLst>
                                  <p:childTnLst>
                                    <p:set>
                                      <p:cBhvr>
                                        <p:cTn id="243" dur="1" fill="hold">
                                          <p:stCondLst>
                                            <p:cond delay="0"/>
                                          </p:stCondLst>
                                        </p:cTn>
                                        <p:tgtEl>
                                          <p:spTgt spid="83"/>
                                        </p:tgtEl>
                                        <p:attrNameLst>
                                          <p:attrName>style.visibility</p:attrName>
                                        </p:attrNameLst>
                                      </p:cBhvr>
                                      <p:to>
                                        <p:strVal val="visible"/>
                                      </p:to>
                                    </p:set>
                                    <p:animEffect transition="in" filter="fade">
                                      <p:cBhvr>
                                        <p:cTn id="244" dur="480"/>
                                        <p:tgtEl>
                                          <p:spTgt spid="83"/>
                                        </p:tgtEl>
                                      </p:cBhvr>
                                    </p:animEffect>
                                  </p:childTnLst>
                                </p:cTn>
                              </p:par>
                              <p:par>
                                <p:cTn id="245" presetID="10" presetClass="entr" presetSubtype="0" fill="hold" grpId="0" nodeType="withEffect">
                                  <p:stCondLst>
                                    <p:cond delay="1280"/>
                                  </p:stCondLst>
                                  <p:childTnLst>
                                    <p:set>
                                      <p:cBhvr>
                                        <p:cTn id="246" dur="1" fill="hold">
                                          <p:stCondLst>
                                            <p:cond delay="0"/>
                                          </p:stCondLst>
                                        </p:cTn>
                                        <p:tgtEl>
                                          <p:spTgt spid="84"/>
                                        </p:tgtEl>
                                        <p:attrNameLst>
                                          <p:attrName>style.visibility</p:attrName>
                                        </p:attrNameLst>
                                      </p:cBhvr>
                                      <p:to>
                                        <p:strVal val="visible"/>
                                      </p:to>
                                    </p:set>
                                    <p:animEffect transition="in" filter="fade">
                                      <p:cBhvr>
                                        <p:cTn id="247" dur="480"/>
                                        <p:tgtEl>
                                          <p:spTgt spid="84"/>
                                        </p:tgtEl>
                                      </p:cBhvr>
                                    </p:animEffect>
                                  </p:childTnLst>
                                </p:cTn>
                              </p:par>
                              <p:par>
                                <p:cTn id="248" presetID="10" presetClass="entr" presetSubtype="0" fill="hold" grpId="0" nodeType="withEffect">
                                  <p:stCondLst>
                                    <p:cond delay="1280"/>
                                  </p:stCondLst>
                                  <p:childTnLst>
                                    <p:set>
                                      <p:cBhvr>
                                        <p:cTn id="249" dur="1" fill="hold">
                                          <p:stCondLst>
                                            <p:cond delay="0"/>
                                          </p:stCondLst>
                                        </p:cTn>
                                        <p:tgtEl>
                                          <p:spTgt spid="85"/>
                                        </p:tgtEl>
                                        <p:attrNameLst>
                                          <p:attrName>style.visibility</p:attrName>
                                        </p:attrNameLst>
                                      </p:cBhvr>
                                      <p:to>
                                        <p:strVal val="visible"/>
                                      </p:to>
                                    </p:set>
                                    <p:animEffect transition="in" filter="fade">
                                      <p:cBhvr>
                                        <p:cTn id="250" dur="480"/>
                                        <p:tgtEl>
                                          <p:spTgt spid="85"/>
                                        </p:tgtEl>
                                      </p:cBhvr>
                                    </p:animEffect>
                                  </p:childTnLst>
                                </p:cTn>
                              </p:par>
                              <p:par>
                                <p:cTn id="251" presetID="10" presetClass="entr" presetSubtype="0" fill="hold" grpId="0" nodeType="withEffect">
                                  <p:stCondLst>
                                    <p:cond delay="1280"/>
                                  </p:stCondLst>
                                  <p:childTnLst>
                                    <p:set>
                                      <p:cBhvr>
                                        <p:cTn id="252" dur="1" fill="hold">
                                          <p:stCondLst>
                                            <p:cond delay="0"/>
                                          </p:stCondLst>
                                        </p:cTn>
                                        <p:tgtEl>
                                          <p:spTgt spid="86"/>
                                        </p:tgtEl>
                                        <p:attrNameLst>
                                          <p:attrName>style.visibility</p:attrName>
                                        </p:attrNameLst>
                                      </p:cBhvr>
                                      <p:to>
                                        <p:strVal val="visible"/>
                                      </p:to>
                                    </p:set>
                                    <p:animEffect transition="in" filter="fade">
                                      <p:cBhvr>
                                        <p:cTn id="253" dur="480"/>
                                        <p:tgtEl>
                                          <p:spTgt spid="86"/>
                                        </p:tgtEl>
                                      </p:cBhvr>
                                    </p:animEffect>
                                  </p:childTnLst>
                                </p:cTn>
                              </p:par>
                              <p:par>
                                <p:cTn id="254" presetID="10" presetClass="entr" presetSubtype="0" fill="hold" grpId="0" nodeType="withEffect">
                                  <p:stCondLst>
                                    <p:cond delay="1280"/>
                                  </p:stCondLst>
                                  <p:childTnLst>
                                    <p:set>
                                      <p:cBhvr>
                                        <p:cTn id="255" dur="1" fill="hold">
                                          <p:stCondLst>
                                            <p:cond delay="0"/>
                                          </p:stCondLst>
                                        </p:cTn>
                                        <p:tgtEl>
                                          <p:spTgt spid="87"/>
                                        </p:tgtEl>
                                        <p:attrNameLst>
                                          <p:attrName>style.visibility</p:attrName>
                                        </p:attrNameLst>
                                      </p:cBhvr>
                                      <p:to>
                                        <p:strVal val="visible"/>
                                      </p:to>
                                    </p:set>
                                    <p:animEffect transition="in" filter="fade">
                                      <p:cBhvr>
                                        <p:cTn id="256" dur="480"/>
                                        <p:tgtEl>
                                          <p:spTgt spid="87"/>
                                        </p:tgtEl>
                                      </p:cBhvr>
                                    </p:animEffect>
                                  </p:childTnLst>
                                </p:cTn>
                              </p:par>
                              <p:par>
                                <p:cTn id="257" presetID="10" presetClass="entr" presetSubtype="0" fill="hold" grpId="0" nodeType="withEffect">
                                  <p:stCondLst>
                                    <p:cond delay="1280"/>
                                  </p:stCondLst>
                                  <p:childTnLst>
                                    <p:set>
                                      <p:cBhvr>
                                        <p:cTn id="258" dur="1" fill="hold">
                                          <p:stCondLst>
                                            <p:cond delay="0"/>
                                          </p:stCondLst>
                                        </p:cTn>
                                        <p:tgtEl>
                                          <p:spTgt spid="88"/>
                                        </p:tgtEl>
                                        <p:attrNameLst>
                                          <p:attrName>style.visibility</p:attrName>
                                        </p:attrNameLst>
                                      </p:cBhvr>
                                      <p:to>
                                        <p:strVal val="visible"/>
                                      </p:to>
                                    </p:set>
                                    <p:animEffect transition="in" filter="fade">
                                      <p:cBhvr>
                                        <p:cTn id="259" dur="480"/>
                                        <p:tgtEl>
                                          <p:spTgt spid="88"/>
                                        </p:tgtEl>
                                      </p:cBhvr>
                                    </p:animEffect>
                                  </p:childTnLst>
                                </p:cTn>
                              </p:par>
                              <p:par>
                                <p:cTn id="260" presetID="10" presetClass="entr" presetSubtype="0" fill="hold" grpId="0" nodeType="withEffect">
                                  <p:stCondLst>
                                    <p:cond delay="1280"/>
                                  </p:stCondLst>
                                  <p:childTnLst>
                                    <p:set>
                                      <p:cBhvr>
                                        <p:cTn id="261" dur="1" fill="hold">
                                          <p:stCondLst>
                                            <p:cond delay="0"/>
                                          </p:stCondLst>
                                        </p:cTn>
                                        <p:tgtEl>
                                          <p:spTgt spid="89"/>
                                        </p:tgtEl>
                                        <p:attrNameLst>
                                          <p:attrName>style.visibility</p:attrName>
                                        </p:attrNameLst>
                                      </p:cBhvr>
                                      <p:to>
                                        <p:strVal val="visible"/>
                                      </p:to>
                                    </p:set>
                                    <p:animEffect transition="in" filter="fade">
                                      <p:cBhvr>
                                        <p:cTn id="262" dur="480"/>
                                        <p:tgtEl>
                                          <p:spTgt spid="89"/>
                                        </p:tgtEl>
                                      </p:cBhvr>
                                    </p:animEffect>
                                  </p:childTnLst>
                                </p:cTn>
                              </p:par>
                              <p:par>
                                <p:cTn id="263" presetID="10" presetClass="entr" presetSubtype="0" fill="hold" grpId="0" nodeType="withEffect">
                                  <p:stCondLst>
                                    <p:cond delay="1280"/>
                                  </p:stCondLst>
                                  <p:childTnLst>
                                    <p:set>
                                      <p:cBhvr>
                                        <p:cTn id="264" dur="1" fill="hold">
                                          <p:stCondLst>
                                            <p:cond delay="0"/>
                                          </p:stCondLst>
                                        </p:cTn>
                                        <p:tgtEl>
                                          <p:spTgt spid="90"/>
                                        </p:tgtEl>
                                        <p:attrNameLst>
                                          <p:attrName>style.visibility</p:attrName>
                                        </p:attrNameLst>
                                      </p:cBhvr>
                                      <p:to>
                                        <p:strVal val="visible"/>
                                      </p:to>
                                    </p:set>
                                    <p:animEffect transition="in" filter="fade">
                                      <p:cBhvr>
                                        <p:cTn id="265" dur="480"/>
                                        <p:tgtEl>
                                          <p:spTgt spid="90"/>
                                        </p:tgtEl>
                                      </p:cBhvr>
                                    </p:animEffect>
                                  </p:childTnLst>
                                </p:cTn>
                              </p:par>
                              <p:par>
                                <p:cTn id="266" presetID="10" presetClass="entr" presetSubtype="0" fill="hold" grpId="0" nodeType="withEffect">
                                  <p:stCondLst>
                                    <p:cond delay="1280"/>
                                  </p:stCondLst>
                                  <p:childTnLst>
                                    <p:set>
                                      <p:cBhvr>
                                        <p:cTn id="267" dur="1" fill="hold">
                                          <p:stCondLst>
                                            <p:cond delay="0"/>
                                          </p:stCondLst>
                                        </p:cTn>
                                        <p:tgtEl>
                                          <p:spTgt spid="91"/>
                                        </p:tgtEl>
                                        <p:attrNameLst>
                                          <p:attrName>style.visibility</p:attrName>
                                        </p:attrNameLst>
                                      </p:cBhvr>
                                      <p:to>
                                        <p:strVal val="visible"/>
                                      </p:to>
                                    </p:set>
                                    <p:animEffect transition="in" filter="fade">
                                      <p:cBhvr>
                                        <p:cTn id="268" dur="480"/>
                                        <p:tgtEl>
                                          <p:spTgt spid="91"/>
                                        </p:tgtEl>
                                      </p:cBhvr>
                                    </p:animEffect>
                                  </p:childTnLst>
                                </p:cTn>
                              </p:par>
                              <p:par>
                                <p:cTn id="269" presetID="10" presetClass="entr" presetSubtype="0" fill="hold" grpId="0" nodeType="withEffect">
                                  <p:stCondLst>
                                    <p:cond delay="1280"/>
                                  </p:stCondLst>
                                  <p:childTnLst>
                                    <p:set>
                                      <p:cBhvr>
                                        <p:cTn id="270" dur="1" fill="hold">
                                          <p:stCondLst>
                                            <p:cond delay="0"/>
                                          </p:stCondLst>
                                        </p:cTn>
                                        <p:tgtEl>
                                          <p:spTgt spid="92"/>
                                        </p:tgtEl>
                                        <p:attrNameLst>
                                          <p:attrName>style.visibility</p:attrName>
                                        </p:attrNameLst>
                                      </p:cBhvr>
                                      <p:to>
                                        <p:strVal val="visible"/>
                                      </p:to>
                                    </p:set>
                                    <p:animEffect transition="in" filter="fade">
                                      <p:cBhvr>
                                        <p:cTn id="271" dur="480"/>
                                        <p:tgtEl>
                                          <p:spTgt spid="92"/>
                                        </p:tgtEl>
                                      </p:cBhvr>
                                    </p:animEffect>
                                  </p:childTnLst>
                                </p:cTn>
                              </p:par>
                              <p:par>
                                <p:cTn id="272" presetID="10" presetClass="entr" presetSubtype="0" fill="hold" grpId="0" nodeType="withEffect">
                                  <p:stCondLst>
                                    <p:cond delay="1280"/>
                                  </p:stCondLst>
                                  <p:childTnLst>
                                    <p:set>
                                      <p:cBhvr>
                                        <p:cTn id="273" dur="1" fill="hold">
                                          <p:stCondLst>
                                            <p:cond delay="0"/>
                                          </p:stCondLst>
                                        </p:cTn>
                                        <p:tgtEl>
                                          <p:spTgt spid="93"/>
                                        </p:tgtEl>
                                        <p:attrNameLst>
                                          <p:attrName>style.visibility</p:attrName>
                                        </p:attrNameLst>
                                      </p:cBhvr>
                                      <p:to>
                                        <p:strVal val="visible"/>
                                      </p:to>
                                    </p:set>
                                    <p:animEffect transition="in" filter="fade">
                                      <p:cBhvr>
                                        <p:cTn id="274" dur="480"/>
                                        <p:tgtEl>
                                          <p:spTgt spid="93"/>
                                        </p:tgtEl>
                                      </p:cBhvr>
                                    </p:animEffect>
                                  </p:childTnLst>
                                </p:cTn>
                              </p:par>
                              <p:par>
                                <p:cTn id="275" presetID="10" presetClass="entr" presetSubtype="0" fill="hold" grpId="0" nodeType="withEffect">
                                  <p:stCondLst>
                                    <p:cond delay="1280"/>
                                  </p:stCondLst>
                                  <p:childTnLst>
                                    <p:set>
                                      <p:cBhvr>
                                        <p:cTn id="276" dur="1" fill="hold">
                                          <p:stCondLst>
                                            <p:cond delay="0"/>
                                          </p:stCondLst>
                                        </p:cTn>
                                        <p:tgtEl>
                                          <p:spTgt spid="94"/>
                                        </p:tgtEl>
                                        <p:attrNameLst>
                                          <p:attrName>style.visibility</p:attrName>
                                        </p:attrNameLst>
                                      </p:cBhvr>
                                      <p:to>
                                        <p:strVal val="visible"/>
                                      </p:to>
                                    </p:set>
                                    <p:animEffect transition="in" filter="fade">
                                      <p:cBhvr>
                                        <p:cTn id="277" dur="480"/>
                                        <p:tgtEl>
                                          <p:spTgt spid="94"/>
                                        </p:tgtEl>
                                      </p:cBhvr>
                                    </p:animEffect>
                                  </p:childTnLst>
                                </p:cTn>
                              </p:par>
                              <p:par>
                                <p:cTn id="278" presetID="10" presetClass="entr" presetSubtype="0" fill="hold" grpId="0" nodeType="withEffect">
                                  <p:stCondLst>
                                    <p:cond delay="1280"/>
                                  </p:stCondLst>
                                  <p:childTnLst>
                                    <p:set>
                                      <p:cBhvr>
                                        <p:cTn id="279" dur="1" fill="hold">
                                          <p:stCondLst>
                                            <p:cond delay="0"/>
                                          </p:stCondLst>
                                        </p:cTn>
                                        <p:tgtEl>
                                          <p:spTgt spid="95"/>
                                        </p:tgtEl>
                                        <p:attrNameLst>
                                          <p:attrName>style.visibility</p:attrName>
                                        </p:attrNameLst>
                                      </p:cBhvr>
                                      <p:to>
                                        <p:strVal val="visible"/>
                                      </p:to>
                                    </p:set>
                                    <p:animEffect transition="in" filter="fade">
                                      <p:cBhvr>
                                        <p:cTn id="280" dur="480"/>
                                        <p:tgtEl>
                                          <p:spTgt spid="95"/>
                                        </p:tgtEl>
                                      </p:cBhvr>
                                    </p:animEffect>
                                  </p:childTnLst>
                                </p:cTn>
                              </p:par>
                              <p:par>
                                <p:cTn id="281" presetID="10" presetClass="entr" presetSubtype="0" fill="hold" grpId="0" nodeType="withEffect">
                                  <p:stCondLst>
                                    <p:cond delay="1280"/>
                                  </p:stCondLst>
                                  <p:childTnLst>
                                    <p:set>
                                      <p:cBhvr>
                                        <p:cTn id="282" dur="1" fill="hold">
                                          <p:stCondLst>
                                            <p:cond delay="0"/>
                                          </p:stCondLst>
                                        </p:cTn>
                                        <p:tgtEl>
                                          <p:spTgt spid="96"/>
                                        </p:tgtEl>
                                        <p:attrNameLst>
                                          <p:attrName>style.visibility</p:attrName>
                                        </p:attrNameLst>
                                      </p:cBhvr>
                                      <p:to>
                                        <p:strVal val="visible"/>
                                      </p:to>
                                    </p:set>
                                    <p:animEffect transition="in" filter="fade">
                                      <p:cBhvr>
                                        <p:cTn id="283" dur="480"/>
                                        <p:tgtEl>
                                          <p:spTgt spid="96"/>
                                        </p:tgtEl>
                                      </p:cBhvr>
                                    </p:animEffect>
                                  </p:childTnLst>
                                </p:cTn>
                              </p:par>
                              <p:par>
                                <p:cTn id="284" presetID="10" presetClass="entr" presetSubtype="0" fill="hold" grpId="0" nodeType="withEffect">
                                  <p:stCondLst>
                                    <p:cond delay="1280"/>
                                  </p:stCondLst>
                                  <p:childTnLst>
                                    <p:set>
                                      <p:cBhvr>
                                        <p:cTn id="285" dur="1" fill="hold">
                                          <p:stCondLst>
                                            <p:cond delay="0"/>
                                          </p:stCondLst>
                                        </p:cTn>
                                        <p:tgtEl>
                                          <p:spTgt spid="97"/>
                                        </p:tgtEl>
                                        <p:attrNameLst>
                                          <p:attrName>style.visibility</p:attrName>
                                        </p:attrNameLst>
                                      </p:cBhvr>
                                      <p:to>
                                        <p:strVal val="visible"/>
                                      </p:to>
                                    </p:set>
                                    <p:animEffect transition="in" filter="fade">
                                      <p:cBhvr>
                                        <p:cTn id="286" dur="480"/>
                                        <p:tgtEl>
                                          <p:spTgt spid="97"/>
                                        </p:tgtEl>
                                      </p:cBhvr>
                                    </p:animEffect>
                                  </p:childTnLst>
                                </p:cTn>
                              </p:par>
                              <p:par>
                                <p:cTn id="287" presetID="10" presetClass="entr" presetSubtype="0" fill="hold" grpId="0" nodeType="withEffect">
                                  <p:stCondLst>
                                    <p:cond delay="1280"/>
                                  </p:stCondLst>
                                  <p:childTnLst>
                                    <p:set>
                                      <p:cBhvr>
                                        <p:cTn id="288" dur="1" fill="hold">
                                          <p:stCondLst>
                                            <p:cond delay="0"/>
                                          </p:stCondLst>
                                        </p:cTn>
                                        <p:tgtEl>
                                          <p:spTgt spid="98"/>
                                        </p:tgtEl>
                                        <p:attrNameLst>
                                          <p:attrName>style.visibility</p:attrName>
                                        </p:attrNameLst>
                                      </p:cBhvr>
                                      <p:to>
                                        <p:strVal val="visible"/>
                                      </p:to>
                                    </p:set>
                                    <p:animEffect transition="in" filter="fade">
                                      <p:cBhvr>
                                        <p:cTn id="289" dur="480"/>
                                        <p:tgtEl>
                                          <p:spTgt spid="98"/>
                                        </p:tgtEl>
                                      </p:cBhvr>
                                    </p:animEffect>
                                  </p:childTnLst>
                                </p:cTn>
                              </p:par>
                              <p:par>
                                <p:cTn id="290" presetID="10" presetClass="entr" presetSubtype="0" fill="hold" grpId="0" nodeType="withEffect">
                                  <p:stCondLst>
                                    <p:cond delay="1280"/>
                                  </p:stCondLst>
                                  <p:childTnLst>
                                    <p:set>
                                      <p:cBhvr>
                                        <p:cTn id="291" dur="1" fill="hold">
                                          <p:stCondLst>
                                            <p:cond delay="0"/>
                                          </p:stCondLst>
                                        </p:cTn>
                                        <p:tgtEl>
                                          <p:spTgt spid="99"/>
                                        </p:tgtEl>
                                        <p:attrNameLst>
                                          <p:attrName>style.visibility</p:attrName>
                                        </p:attrNameLst>
                                      </p:cBhvr>
                                      <p:to>
                                        <p:strVal val="visible"/>
                                      </p:to>
                                    </p:set>
                                    <p:animEffect transition="in" filter="fade">
                                      <p:cBhvr>
                                        <p:cTn id="292" dur="480"/>
                                        <p:tgtEl>
                                          <p:spTgt spid="99"/>
                                        </p:tgtEl>
                                      </p:cBhvr>
                                    </p:animEffect>
                                  </p:childTnLst>
                                </p:cTn>
                              </p:par>
                              <p:par>
                                <p:cTn id="293" presetID="10" presetClass="entr" presetSubtype="0" fill="hold" grpId="0" nodeType="withEffect">
                                  <p:stCondLst>
                                    <p:cond delay="1280"/>
                                  </p:stCondLst>
                                  <p:childTnLst>
                                    <p:set>
                                      <p:cBhvr>
                                        <p:cTn id="294" dur="1" fill="hold">
                                          <p:stCondLst>
                                            <p:cond delay="0"/>
                                          </p:stCondLst>
                                        </p:cTn>
                                        <p:tgtEl>
                                          <p:spTgt spid="100"/>
                                        </p:tgtEl>
                                        <p:attrNameLst>
                                          <p:attrName>style.visibility</p:attrName>
                                        </p:attrNameLst>
                                      </p:cBhvr>
                                      <p:to>
                                        <p:strVal val="visible"/>
                                      </p:to>
                                    </p:set>
                                    <p:animEffect transition="in" filter="fade">
                                      <p:cBhvr>
                                        <p:cTn id="295" dur="480"/>
                                        <p:tgtEl>
                                          <p:spTgt spid="100"/>
                                        </p:tgtEl>
                                      </p:cBhvr>
                                    </p:animEffect>
                                  </p:childTnLst>
                                </p:cTn>
                              </p:par>
                              <p:par>
                                <p:cTn id="296" presetID="10" presetClass="entr" presetSubtype="0" fill="hold" grpId="0" nodeType="withEffect">
                                  <p:stCondLst>
                                    <p:cond delay="1280"/>
                                  </p:stCondLst>
                                  <p:childTnLst>
                                    <p:set>
                                      <p:cBhvr>
                                        <p:cTn id="297" dur="1" fill="hold">
                                          <p:stCondLst>
                                            <p:cond delay="0"/>
                                          </p:stCondLst>
                                        </p:cTn>
                                        <p:tgtEl>
                                          <p:spTgt spid="101"/>
                                        </p:tgtEl>
                                        <p:attrNameLst>
                                          <p:attrName>style.visibility</p:attrName>
                                        </p:attrNameLst>
                                      </p:cBhvr>
                                      <p:to>
                                        <p:strVal val="visible"/>
                                      </p:to>
                                    </p:set>
                                    <p:animEffect transition="in" filter="fade">
                                      <p:cBhvr>
                                        <p:cTn id="298" dur="480"/>
                                        <p:tgtEl>
                                          <p:spTgt spid="101"/>
                                        </p:tgtEl>
                                      </p:cBhvr>
                                    </p:animEffect>
                                  </p:childTnLst>
                                </p:cTn>
                              </p:par>
                              <p:par>
                                <p:cTn id="299" presetID="10" presetClass="entr" presetSubtype="0" fill="hold" grpId="0" nodeType="withEffect">
                                  <p:stCondLst>
                                    <p:cond delay="1280"/>
                                  </p:stCondLst>
                                  <p:childTnLst>
                                    <p:set>
                                      <p:cBhvr>
                                        <p:cTn id="300" dur="1" fill="hold">
                                          <p:stCondLst>
                                            <p:cond delay="0"/>
                                          </p:stCondLst>
                                        </p:cTn>
                                        <p:tgtEl>
                                          <p:spTgt spid="102"/>
                                        </p:tgtEl>
                                        <p:attrNameLst>
                                          <p:attrName>style.visibility</p:attrName>
                                        </p:attrNameLst>
                                      </p:cBhvr>
                                      <p:to>
                                        <p:strVal val="visible"/>
                                      </p:to>
                                    </p:set>
                                    <p:animEffect transition="in" filter="fade">
                                      <p:cBhvr>
                                        <p:cTn id="301" dur="480"/>
                                        <p:tgtEl>
                                          <p:spTgt spid="102"/>
                                        </p:tgtEl>
                                      </p:cBhvr>
                                    </p:animEffect>
                                  </p:childTnLst>
                                </p:cTn>
                              </p:par>
                              <p:par>
                                <p:cTn id="302" presetID="10" presetClass="entr" presetSubtype="0" fill="hold" grpId="0" nodeType="withEffect">
                                  <p:stCondLst>
                                    <p:cond delay="1280"/>
                                  </p:stCondLst>
                                  <p:childTnLst>
                                    <p:set>
                                      <p:cBhvr>
                                        <p:cTn id="303" dur="1" fill="hold">
                                          <p:stCondLst>
                                            <p:cond delay="0"/>
                                          </p:stCondLst>
                                        </p:cTn>
                                        <p:tgtEl>
                                          <p:spTgt spid="103"/>
                                        </p:tgtEl>
                                        <p:attrNameLst>
                                          <p:attrName>style.visibility</p:attrName>
                                        </p:attrNameLst>
                                      </p:cBhvr>
                                      <p:to>
                                        <p:strVal val="visible"/>
                                      </p:to>
                                    </p:set>
                                    <p:animEffect transition="in" filter="fade">
                                      <p:cBhvr>
                                        <p:cTn id="304" dur="480"/>
                                        <p:tgtEl>
                                          <p:spTgt spid="103"/>
                                        </p:tgtEl>
                                      </p:cBhvr>
                                    </p:animEffect>
                                  </p:childTnLst>
                                </p:cTn>
                              </p:par>
                              <p:par>
                                <p:cTn id="305" presetID="10" presetClass="entr" presetSubtype="0" fill="hold" grpId="0" nodeType="withEffect">
                                  <p:stCondLst>
                                    <p:cond delay="1280"/>
                                  </p:stCondLst>
                                  <p:childTnLst>
                                    <p:set>
                                      <p:cBhvr>
                                        <p:cTn id="306" dur="1" fill="hold">
                                          <p:stCondLst>
                                            <p:cond delay="0"/>
                                          </p:stCondLst>
                                        </p:cTn>
                                        <p:tgtEl>
                                          <p:spTgt spid="104"/>
                                        </p:tgtEl>
                                        <p:attrNameLst>
                                          <p:attrName>style.visibility</p:attrName>
                                        </p:attrNameLst>
                                      </p:cBhvr>
                                      <p:to>
                                        <p:strVal val="visible"/>
                                      </p:to>
                                    </p:set>
                                    <p:animEffect transition="in" filter="fade">
                                      <p:cBhvr>
                                        <p:cTn id="307" dur="480"/>
                                        <p:tgtEl>
                                          <p:spTgt spid="104"/>
                                        </p:tgtEl>
                                      </p:cBhvr>
                                    </p:animEffect>
                                  </p:childTnLst>
                                </p:cTn>
                              </p:par>
                              <p:par>
                                <p:cTn id="308" presetID="10" presetClass="entr" presetSubtype="0" fill="hold" grpId="0" nodeType="withEffect">
                                  <p:stCondLst>
                                    <p:cond delay="1280"/>
                                  </p:stCondLst>
                                  <p:childTnLst>
                                    <p:set>
                                      <p:cBhvr>
                                        <p:cTn id="309" dur="1" fill="hold">
                                          <p:stCondLst>
                                            <p:cond delay="0"/>
                                          </p:stCondLst>
                                        </p:cTn>
                                        <p:tgtEl>
                                          <p:spTgt spid="105"/>
                                        </p:tgtEl>
                                        <p:attrNameLst>
                                          <p:attrName>style.visibility</p:attrName>
                                        </p:attrNameLst>
                                      </p:cBhvr>
                                      <p:to>
                                        <p:strVal val="visible"/>
                                      </p:to>
                                    </p:set>
                                    <p:animEffect transition="in" filter="fade">
                                      <p:cBhvr>
                                        <p:cTn id="310" dur="480"/>
                                        <p:tgtEl>
                                          <p:spTgt spid="105"/>
                                        </p:tgtEl>
                                      </p:cBhvr>
                                    </p:animEffect>
                                  </p:childTnLst>
                                </p:cTn>
                              </p:par>
                              <p:par>
                                <p:cTn id="311" presetID="10" presetClass="entr" presetSubtype="0" fill="hold" grpId="0" nodeType="withEffect">
                                  <p:stCondLst>
                                    <p:cond delay="1280"/>
                                  </p:stCondLst>
                                  <p:childTnLst>
                                    <p:set>
                                      <p:cBhvr>
                                        <p:cTn id="312" dur="1" fill="hold">
                                          <p:stCondLst>
                                            <p:cond delay="0"/>
                                          </p:stCondLst>
                                        </p:cTn>
                                        <p:tgtEl>
                                          <p:spTgt spid="106"/>
                                        </p:tgtEl>
                                        <p:attrNameLst>
                                          <p:attrName>style.visibility</p:attrName>
                                        </p:attrNameLst>
                                      </p:cBhvr>
                                      <p:to>
                                        <p:strVal val="visible"/>
                                      </p:to>
                                    </p:set>
                                    <p:animEffect transition="in" filter="fade">
                                      <p:cBhvr>
                                        <p:cTn id="313" dur="480"/>
                                        <p:tgtEl>
                                          <p:spTgt spid="106"/>
                                        </p:tgtEl>
                                      </p:cBhvr>
                                    </p:animEffect>
                                  </p:childTnLst>
                                </p:cTn>
                              </p:par>
                              <p:par>
                                <p:cTn id="314" presetID="10" presetClass="entr" presetSubtype="0" fill="hold" grpId="0" nodeType="withEffect">
                                  <p:stCondLst>
                                    <p:cond delay="1280"/>
                                  </p:stCondLst>
                                  <p:childTnLst>
                                    <p:set>
                                      <p:cBhvr>
                                        <p:cTn id="315" dur="1" fill="hold">
                                          <p:stCondLst>
                                            <p:cond delay="0"/>
                                          </p:stCondLst>
                                        </p:cTn>
                                        <p:tgtEl>
                                          <p:spTgt spid="107"/>
                                        </p:tgtEl>
                                        <p:attrNameLst>
                                          <p:attrName>style.visibility</p:attrName>
                                        </p:attrNameLst>
                                      </p:cBhvr>
                                      <p:to>
                                        <p:strVal val="visible"/>
                                      </p:to>
                                    </p:set>
                                    <p:animEffect transition="in" filter="fade">
                                      <p:cBhvr>
                                        <p:cTn id="316" dur="480"/>
                                        <p:tgtEl>
                                          <p:spTgt spid="107"/>
                                        </p:tgtEl>
                                      </p:cBhvr>
                                    </p:animEffect>
                                  </p:childTnLst>
                                </p:cTn>
                              </p:par>
                              <p:par>
                                <p:cTn id="317" presetID="10" presetClass="entr" presetSubtype="0" fill="hold" grpId="0" nodeType="withEffect">
                                  <p:stCondLst>
                                    <p:cond delay="1280"/>
                                  </p:stCondLst>
                                  <p:childTnLst>
                                    <p:set>
                                      <p:cBhvr>
                                        <p:cTn id="318" dur="1" fill="hold">
                                          <p:stCondLst>
                                            <p:cond delay="0"/>
                                          </p:stCondLst>
                                        </p:cTn>
                                        <p:tgtEl>
                                          <p:spTgt spid="108"/>
                                        </p:tgtEl>
                                        <p:attrNameLst>
                                          <p:attrName>style.visibility</p:attrName>
                                        </p:attrNameLst>
                                      </p:cBhvr>
                                      <p:to>
                                        <p:strVal val="visible"/>
                                      </p:to>
                                    </p:set>
                                    <p:animEffect transition="in" filter="fade">
                                      <p:cBhvr>
                                        <p:cTn id="319" dur="480"/>
                                        <p:tgtEl>
                                          <p:spTgt spid="108"/>
                                        </p:tgtEl>
                                      </p:cBhvr>
                                    </p:animEffect>
                                  </p:childTnLst>
                                </p:cTn>
                              </p:par>
                              <p:par>
                                <p:cTn id="320" presetID="10" presetClass="entr" presetSubtype="0" fill="hold" grpId="0" nodeType="withEffect">
                                  <p:stCondLst>
                                    <p:cond delay="1280"/>
                                  </p:stCondLst>
                                  <p:childTnLst>
                                    <p:set>
                                      <p:cBhvr>
                                        <p:cTn id="321" dur="1" fill="hold">
                                          <p:stCondLst>
                                            <p:cond delay="0"/>
                                          </p:stCondLst>
                                        </p:cTn>
                                        <p:tgtEl>
                                          <p:spTgt spid="109"/>
                                        </p:tgtEl>
                                        <p:attrNameLst>
                                          <p:attrName>style.visibility</p:attrName>
                                        </p:attrNameLst>
                                      </p:cBhvr>
                                      <p:to>
                                        <p:strVal val="visible"/>
                                      </p:to>
                                    </p:set>
                                    <p:animEffect transition="in" filter="fade">
                                      <p:cBhvr>
                                        <p:cTn id="322" dur="480"/>
                                        <p:tgtEl>
                                          <p:spTgt spid="109"/>
                                        </p:tgtEl>
                                      </p:cBhvr>
                                    </p:animEffect>
                                  </p:childTnLst>
                                </p:cTn>
                              </p:par>
                              <p:par>
                                <p:cTn id="323" presetID="10" presetClass="entr" presetSubtype="0" fill="hold" grpId="0" nodeType="withEffect">
                                  <p:stCondLst>
                                    <p:cond delay="1280"/>
                                  </p:stCondLst>
                                  <p:childTnLst>
                                    <p:set>
                                      <p:cBhvr>
                                        <p:cTn id="324" dur="1" fill="hold">
                                          <p:stCondLst>
                                            <p:cond delay="0"/>
                                          </p:stCondLst>
                                        </p:cTn>
                                        <p:tgtEl>
                                          <p:spTgt spid="110"/>
                                        </p:tgtEl>
                                        <p:attrNameLst>
                                          <p:attrName>style.visibility</p:attrName>
                                        </p:attrNameLst>
                                      </p:cBhvr>
                                      <p:to>
                                        <p:strVal val="visible"/>
                                      </p:to>
                                    </p:set>
                                    <p:animEffect transition="in" filter="fade">
                                      <p:cBhvr>
                                        <p:cTn id="325" dur="480"/>
                                        <p:tgtEl>
                                          <p:spTgt spid="110"/>
                                        </p:tgtEl>
                                      </p:cBhvr>
                                    </p:animEffect>
                                  </p:childTnLst>
                                </p:cTn>
                              </p:par>
                              <p:par>
                                <p:cTn id="326" presetID="10" presetClass="entr" presetSubtype="0" fill="hold" grpId="0" nodeType="withEffect">
                                  <p:stCondLst>
                                    <p:cond delay="1280"/>
                                  </p:stCondLst>
                                  <p:childTnLst>
                                    <p:set>
                                      <p:cBhvr>
                                        <p:cTn id="327" dur="1" fill="hold">
                                          <p:stCondLst>
                                            <p:cond delay="0"/>
                                          </p:stCondLst>
                                        </p:cTn>
                                        <p:tgtEl>
                                          <p:spTgt spid="111"/>
                                        </p:tgtEl>
                                        <p:attrNameLst>
                                          <p:attrName>style.visibility</p:attrName>
                                        </p:attrNameLst>
                                      </p:cBhvr>
                                      <p:to>
                                        <p:strVal val="visible"/>
                                      </p:to>
                                    </p:set>
                                    <p:animEffect transition="in" filter="fade">
                                      <p:cBhvr>
                                        <p:cTn id="328" dur="480"/>
                                        <p:tgtEl>
                                          <p:spTgt spid="111"/>
                                        </p:tgtEl>
                                      </p:cBhvr>
                                    </p:animEffect>
                                  </p:childTnLst>
                                </p:cTn>
                              </p:par>
                              <p:par>
                                <p:cTn id="329" presetID="10" presetClass="entr" presetSubtype="0" fill="hold" grpId="0" nodeType="withEffect">
                                  <p:stCondLst>
                                    <p:cond delay="1280"/>
                                  </p:stCondLst>
                                  <p:childTnLst>
                                    <p:set>
                                      <p:cBhvr>
                                        <p:cTn id="330" dur="1" fill="hold">
                                          <p:stCondLst>
                                            <p:cond delay="0"/>
                                          </p:stCondLst>
                                        </p:cTn>
                                        <p:tgtEl>
                                          <p:spTgt spid="112"/>
                                        </p:tgtEl>
                                        <p:attrNameLst>
                                          <p:attrName>style.visibility</p:attrName>
                                        </p:attrNameLst>
                                      </p:cBhvr>
                                      <p:to>
                                        <p:strVal val="visible"/>
                                      </p:to>
                                    </p:set>
                                    <p:animEffect transition="in" filter="fade">
                                      <p:cBhvr>
                                        <p:cTn id="331" dur="480"/>
                                        <p:tgtEl>
                                          <p:spTgt spid="112"/>
                                        </p:tgtEl>
                                      </p:cBhvr>
                                    </p:animEffect>
                                  </p:childTnLst>
                                </p:cTn>
                              </p:par>
                              <p:par>
                                <p:cTn id="332" presetID="10" presetClass="entr" presetSubtype="0" fill="hold" grpId="0" nodeType="withEffect">
                                  <p:stCondLst>
                                    <p:cond delay="1280"/>
                                  </p:stCondLst>
                                  <p:childTnLst>
                                    <p:set>
                                      <p:cBhvr>
                                        <p:cTn id="333" dur="1" fill="hold">
                                          <p:stCondLst>
                                            <p:cond delay="0"/>
                                          </p:stCondLst>
                                        </p:cTn>
                                        <p:tgtEl>
                                          <p:spTgt spid="113"/>
                                        </p:tgtEl>
                                        <p:attrNameLst>
                                          <p:attrName>style.visibility</p:attrName>
                                        </p:attrNameLst>
                                      </p:cBhvr>
                                      <p:to>
                                        <p:strVal val="visible"/>
                                      </p:to>
                                    </p:set>
                                    <p:animEffect transition="in" filter="fade">
                                      <p:cBhvr>
                                        <p:cTn id="334" dur="480"/>
                                        <p:tgtEl>
                                          <p:spTgt spid="113"/>
                                        </p:tgtEl>
                                      </p:cBhvr>
                                    </p:animEffect>
                                  </p:childTnLst>
                                </p:cTn>
                              </p:par>
                              <p:par>
                                <p:cTn id="335" presetID="10" presetClass="entr" presetSubtype="0" fill="hold" grpId="0" nodeType="withEffect">
                                  <p:stCondLst>
                                    <p:cond delay="1600"/>
                                  </p:stCondLst>
                                  <p:childTnLst>
                                    <p:set>
                                      <p:cBhvr>
                                        <p:cTn id="336" dur="1" fill="hold">
                                          <p:stCondLst>
                                            <p:cond delay="0"/>
                                          </p:stCondLst>
                                        </p:cTn>
                                        <p:tgtEl>
                                          <p:spTgt spid="114"/>
                                        </p:tgtEl>
                                        <p:attrNameLst>
                                          <p:attrName>style.visibility</p:attrName>
                                        </p:attrNameLst>
                                      </p:cBhvr>
                                      <p:to>
                                        <p:strVal val="visible"/>
                                      </p:to>
                                    </p:set>
                                    <p:animEffect transition="in" filter="fade">
                                      <p:cBhvr>
                                        <p:cTn id="337" dur="480"/>
                                        <p:tgtEl>
                                          <p:spTgt spid="114"/>
                                        </p:tgtEl>
                                      </p:cBhvr>
                                    </p:animEffect>
                                  </p:childTnLst>
                                </p:cTn>
                              </p:par>
                              <p:par>
                                <p:cTn id="338" presetID="10" presetClass="entr" presetSubtype="0" fill="hold" grpId="0" nodeType="withEffect">
                                  <p:stCondLst>
                                    <p:cond delay="1600"/>
                                  </p:stCondLst>
                                  <p:childTnLst>
                                    <p:set>
                                      <p:cBhvr>
                                        <p:cTn id="339" dur="1" fill="hold">
                                          <p:stCondLst>
                                            <p:cond delay="0"/>
                                          </p:stCondLst>
                                        </p:cTn>
                                        <p:tgtEl>
                                          <p:spTgt spid="115"/>
                                        </p:tgtEl>
                                        <p:attrNameLst>
                                          <p:attrName>style.visibility</p:attrName>
                                        </p:attrNameLst>
                                      </p:cBhvr>
                                      <p:to>
                                        <p:strVal val="visible"/>
                                      </p:to>
                                    </p:set>
                                    <p:animEffect transition="in" filter="fade">
                                      <p:cBhvr>
                                        <p:cTn id="340" dur="480"/>
                                        <p:tgtEl>
                                          <p:spTgt spid="115"/>
                                        </p:tgtEl>
                                      </p:cBhvr>
                                    </p:animEffect>
                                  </p:childTnLst>
                                </p:cTn>
                              </p:par>
                              <p:par>
                                <p:cTn id="341" presetID="10" presetClass="entr" presetSubtype="0" fill="hold" grpId="0" nodeType="withEffect">
                                  <p:stCondLst>
                                    <p:cond delay="1600"/>
                                  </p:stCondLst>
                                  <p:childTnLst>
                                    <p:set>
                                      <p:cBhvr>
                                        <p:cTn id="342" dur="1" fill="hold">
                                          <p:stCondLst>
                                            <p:cond delay="0"/>
                                          </p:stCondLst>
                                        </p:cTn>
                                        <p:tgtEl>
                                          <p:spTgt spid="116"/>
                                        </p:tgtEl>
                                        <p:attrNameLst>
                                          <p:attrName>style.visibility</p:attrName>
                                        </p:attrNameLst>
                                      </p:cBhvr>
                                      <p:to>
                                        <p:strVal val="visible"/>
                                      </p:to>
                                    </p:set>
                                    <p:animEffect transition="in" filter="fade">
                                      <p:cBhvr>
                                        <p:cTn id="343" dur="480"/>
                                        <p:tgtEl>
                                          <p:spTgt spid="116"/>
                                        </p:tgtEl>
                                      </p:cBhvr>
                                    </p:animEffect>
                                  </p:childTnLst>
                                </p:cTn>
                              </p:par>
                              <p:par>
                                <p:cTn id="344" presetID="10" presetClass="entr" presetSubtype="0" fill="hold" grpId="0" nodeType="withEffect">
                                  <p:stCondLst>
                                    <p:cond delay="1600"/>
                                  </p:stCondLst>
                                  <p:childTnLst>
                                    <p:set>
                                      <p:cBhvr>
                                        <p:cTn id="345" dur="1" fill="hold">
                                          <p:stCondLst>
                                            <p:cond delay="0"/>
                                          </p:stCondLst>
                                        </p:cTn>
                                        <p:tgtEl>
                                          <p:spTgt spid="117"/>
                                        </p:tgtEl>
                                        <p:attrNameLst>
                                          <p:attrName>style.visibility</p:attrName>
                                        </p:attrNameLst>
                                      </p:cBhvr>
                                      <p:to>
                                        <p:strVal val="visible"/>
                                      </p:to>
                                    </p:set>
                                    <p:animEffect transition="in" filter="fade">
                                      <p:cBhvr>
                                        <p:cTn id="346" dur="480"/>
                                        <p:tgtEl>
                                          <p:spTgt spid="117"/>
                                        </p:tgtEl>
                                      </p:cBhvr>
                                    </p:animEffect>
                                  </p:childTnLst>
                                </p:cTn>
                              </p:par>
                              <p:par>
                                <p:cTn id="347" presetID="10" presetClass="entr" presetSubtype="0" fill="hold" grpId="0" nodeType="withEffect">
                                  <p:stCondLst>
                                    <p:cond delay="1600"/>
                                  </p:stCondLst>
                                  <p:childTnLst>
                                    <p:set>
                                      <p:cBhvr>
                                        <p:cTn id="348" dur="1" fill="hold">
                                          <p:stCondLst>
                                            <p:cond delay="0"/>
                                          </p:stCondLst>
                                        </p:cTn>
                                        <p:tgtEl>
                                          <p:spTgt spid="118"/>
                                        </p:tgtEl>
                                        <p:attrNameLst>
                                          <p:attrName>style.visibility</p:attrName>
                                        </p:attrNameLst>
                                      </p:cBhvr>
                                      <p:to>
                                        <p:strVal val="visible"/>
                                      </p:to>
                                    </p:set>
                                    <p:animEffect transition="in" filter="fade">
                                      <p:cBhvr>
                                        <p:cTn id="349" dur="480"/>
                                        <p:tgtEl>
                                          <p:spTgt spid="118"/>
                                        </p:tgtEl>
                                      </p:cBhvr>
                                    </p:animEffect>
                                  </p:childTnLst>
                                </p:cTn>
                              </p:par>
                              <p:par>
                                <p:cTn id="350" presetID="10" presetClass="entr" presetSubtype="0" fill="hold" grpId="0" nodeType="withEffect">
                                  <p:stCondLst>
                                    <p:cond delay="1600"/>
                                  </p:stCondLst>
                                  <p:childTnLst>
                                    <p:set>
                                      <p:cBhvr>
                                        <p:cTn id="351" dur="1" fill="hold">
                                          <p:stCondLst>
                                            <p:cond delay="0"/>
                                          </p:stCondLst>
                                        </p:cTn>
                                        <p:tgtEl>
                                          <p:spTgt spid="119"/>
                                        </p:tgtEl>
                                        <p:attrNameLst>
                                          <p:attrName>style.visibility</p:attrName>
                                        </p:attrNameLst>
                                      </p:cBhvr>
                                      <p:to>
                                        <p:strVal val="visible"/>
                                      </p:to>
                                    </p:set>
                                    <p:animEffect transition="in" filter="fade">
                                      <p:cBhvr>
                                        <p:cTn id="352" dur="480"/>
                                        <p:tgtEl>
                                          <p:spTgt spid="119"/>
                                        </p:tgtEl>
                                      </p:cBhvr>
                                    </p:animEffect>
                                  </p:childTnLst>
                                </p:cTn>
                              </p:par>
                              <p:par>
                                <p:cTn id="353" presetID="10" presetClass="entr" presetSubtype="0" fill="hold" grpId="0" nodeType="withEffect">
                                  <p:stCondLst>
                                    <p:cond delay="1600"/>
                                  </p:stCondLst>
                                  <p:childTnLst>
                                    <p:set>
                                      <p:cBhvr>
                                        <p:cTn id="354" dur="1" fill="hold">
                                          <p:stCondLst>
                                            <p:cond delay="0"/>
                                          </p:stCondLst>
                                        </p:cTn>
                                        <p:tgtEl>
                                          <p:spTgt spid="120"/>
                                        </p:tgtEl>
                                        <p:attrNameLst>
                                          <p:attrName>style.visibility</p:attrName>
                                        </p:attrNameLst>
                                      </p:cBhvr>
                                      <p:to>
                                        <p:strVal val="visible"/>
                                      </p:to>
                                    </p:set>
                                    <p:animEffect transition="in" filter="fade">
                                      <p:cBhvr>
                                        <p:cTn id="355" dur="480"/>
                                        <p:tgtEl>
                                          <p:spTgt spid="120"/>
                                        </p:tgtEl>
                                      </p:cBhvr>
                                    </p:animEffect>
                                  </p:childTnLst>
                                </p:cTn>
                              </p:par>
                              <p:par>
                                <p:cTn id="356" presetID="10" presetClass="entr" presetSubtype="0" fill="hold" grpId="0" nodeType="withEffect">
                                  <p:stCondLst>
                                    <p:cond delay="1600"/>
                                  </p:stCondLst>
                                  <p:childTnLst>
                                    <p:set>
                                      <p:cBhvr>
                                        <p:cTn id="357" dur="1" fill="hold">
                                          <p:stCondLst>
                                            <p:cond delay="0"/>
                                          </p:stCondLst>
                                        </p:cTn>
                                        <p:tgtEl>
                                          <p:spTgt spid="121"/>
                                        </p:tgtEl>
                                        <p:attrNameLst>
                                          <p:attrName>style.visibility</p:attrName>
                                        </p:attrNameLst>
                                      </p:cBhvr>
                                      <p:to>
                                        <p:strVal val="visible"/>
                                      </p:to>
                                    </p:set>
                                    <p:animEffect transition="in" filter="fade">
                                      <p:cBhvr>
                                        <p:cTn id="358" dur="480"/>
                                        <p:tgtEl>
                                          <p:spTgt spid="121"/>
                                        </p:tgtEl>
                                      </p:cBhvr>
                                    </p:animEffect>
                                  </p:childTnLst>
                                </p:cTn>
                              </p:par>
                              <p:par>
                                <p:cTn id="359" presetID="10" presetClass="entr" presetSubtype="0" fill="hold" grpId="0" nodeType="withEffect">
                                  <p:stCondLst>
                                    <p:cond delay="1920"/>
                                  </p:stCondLst>
                                  <p:childTnLst>
                                    <p:set>
                                      <p:cBhvr>
                                        <p:cTn id="360" dur="1" fill="hold">
                                          <p:stCondLst>
                                            <p:cond delay="0"/>
                                          </p:stCondLst>
                                        </p:cTn>
                                        <p:tgtEl>
                                          <p:spTgt spid="122"/>
                                        </p:tgtEl>
                                        <p:attrNameLst>
                                          <p:attrName>style.visibility</p:attrName>
                                        </p:attrNameLst>
                                      </p:cBhvr>
                                      <p:to>
                                        <p:strVal val="visible"/>
                                      </p:to>
                                    </p:set>
                                    <p:animEffect transition="in" filter="fade">
                                      <p:cBhvr>
                                        <p:cTn id="361" dur="480"/>
                                        <p:tgtEl>
                                          <p:spTgt spid="122"/>
                                        </p:tgtEl>
                                      </p:cBhvr>
                                    </p:animEffect>
                                  </p:childTnLst>
                                </p:cTn>
                              </p:par>
                              <p:par>
                                <p:cTn id="362" presetID="10" presetClass="entr" presetSubtype="0" fill="hold" grpId="0" nodeType="withEffect">
                                  <p:stCondLst>
                                    <p:cond delay="1920"/>
                                  </p:stCondLst>
                                  <p:childTnLst>
                                    <p:set>
                                      <p:cBhvr>
                                        <p:cTn id="363" dur="1" fill="hold">
                                          <p:stCondLst>
                                            <p:cond delay="0"/>
                                          </p:stCondLst>
                                        </p:cTn>
                                        <p:tgtEl>
                                          <p:spTgt spid="123"/>
                                        </p:tgtEl>
                                        <p:attrNameLst>
                                          <p:attrName>style.visibility</p:attrName>
                                        </p:attrNameLst>
                                      </p:cBhvr>
                                      <p:to>
                                        <p:strVal val="visible"/>
                                      </p:to>
                                    </p:set>
                                    <p:animEffect transition="in" filter="fade">
                                      <p:cBhvr>
                                        <p:cTn id="364" dur="480"/>
                                        <p:tgtEl>
                                          <p:spTgt spid="123"/>
                                        </p:tgtEl>
                                      </p:cBhvr>
                                    </p:animEffect>
                                  </p:childTnLst>
                                </p:cTn>
                              </p:par>
                              <p:par>
                                <p:cTn id="365" presetID="10" presetClass="entr" presetSubtype="0" fill="hold" grpId="0" nodeType="withEffect">
                                  <p:stCondLst>
                                    <p:cond delay="1920"/>
                                  </p:stCondLst>
                                  <p:childTnLst>
                                    <p:set>
                                      <p:cBhvr>
                                        <p:cTn id="366" dur="1" fill="hold">
                                          <p:stCondLst>
                                            <p:cond delay="0"/>
                                          </p:stCondLst>
                                        </p:cTn>
                                        <p:tgtEl>
                                          <p:spTgt spid="124"/>
                                        </p:tgtEl>
                                        <p:attrNameLst>
                                          <p:attrName>style.visibility</p:attrName>
                                        </p:attrNameLst>
                                      </p:cBhvr>
                                      <p:to>
                                        <p:strVal val="visible"/>
                                      </p:to>
                                    </p:set>
                                    <p:animEffect transition="in" filter="fade">
                                      <p:cBhvr>
                                        <p:cTn id="367" dur="480"/>
                                        <p:tgtEl>
                                          <p:spTgt spid="124"/>
                                        </p:tgtEl>
                                      </p:cBhvr>
                                    </p:animEffect>
                                  </p:childTnLst>
                                </p:cTn>
                              </p:par>
                              <p:par>
                                <p:cTn id="368" presetID="10" presetClass="entr" presetSubtype="0" fill="hold" grpId="0" nodeType="withEffect">
                                  <p:stCondLst>
                                    <p:cond delay="2240"/>
                                  </p:stCondLst>
                                  <p:childTnLst>
                                    <p:set>
                                      <p:cBhvr>
                                        <p:cTn id="369" dur="1" fill="hold">
                                          <p:stCondLst>
                                            <p:cond delay="0"/>
                                          </p:stCondLst>
                                        </p:cTn>
                                        <p:tgtEl>
                                          <p:spTgt spid="125"/>
                                        </p:tgtEl>
                                        <p:attrNameLst>
                                          <p:attrName>style.visibility</p:attrName>
                                        </p:attrNameLst>
                                      </p:cBhvr>
                                      <p:to>
                                        <p:strVal val="visible"/>
                                      </p:to>
                                    </p:set>
                                    <p:animEffect transition="in" filter="fade">
                                      <p:cBhvr>
                                        <p:cTn id="370" dur="480"/>
                                        <p:tgtEl>
                                          <p:spTgt spid="125"/>
                                        </p:tgtEl>
                                      </p:cBhvr>
                                    </p:animEffect>
                                  </p:childTnLst>
                                </p:cTn>
                              </p:par>
                              <p:par>
                                <p:cTn id="371" presetID="10" presetClass="entr" presetSubtype="0" fill="hold" grpId="0" nodeType="withEffect">
                                  <p:stCondLst>
                                    <p:cond delay="2240"/>
                                  </p:stCondLst>
                                  <p:childTnLst>
                                    <p:set>
                                      <p:cBhvr>
                                        <p:cTn id="372" dur="1" fill="hold">
                                          <p:stCondLst>
                                            <p:cond delay="0"/>
                                          </p:stCondLst>
                                        </p:cTn>
                                        <p:tgtEl>
                                          <p:spTgt spid="126"/>
                                        </p:tgtEl>
                                        <p:attrNameLst>
                                          <p:attrName>style.visibility</p:attrName>
                                        </p:attrNameLst>
                                      </p:cBhvr>
                                      <p:to>
                                        <p:strVal val="visible"/>
                                      </p:to>
                                    </p:set>
                                    <p:animEffect transition="in" filter="fade">
                                      <p:cBhvr>
                                        <p:cTn id="373" dur="480"/>
                                        <p:tgtEl>
                                          <p:spTgt spid="126"/>
                                        </p:tgtEl>
                                      </p:cBhvr>
                                    </p:animEffect>
                                  </p:childTnLst>
                                </p:cTn>
                              </p:par>
                              <p:par>
                                <p:cTn id="374" presetID="10" presetClass="entr" presetSubtype="0" fill="hold" grpId="0" nodeType="withEffect">
                                  <p:stCondLst>
                                    <p:cond delay="2240"/>
                                  </p:stCondLst>
                                  <p:childTnLst>
                                    <p:set>
                                      <p:cBhvr>
                                        <p:cTn id="375" dur="1" fill="hold">
                                          <p:stCondLst>
                                            <p:cond delay="0"/>
                                          </p:stCondLst>
                                        </p:cTn>
                                        <p:tgtEl>
                                          <p:spTgt spid="127"/>
                                        </p:tgtEl>
                                        <p:attrNameLst>
                                          <p:attrName>style.visibility</p:attrName>
                                        </p:attrNameLst>
                                      </p:cBhvr>
                                      <p:to>
                                        <p:strVal val="visible"/>
                                      </p:to>
                                    </p:set>
                                    <p:animEffect transition="in" filter="fade">
                                      <p:cBhvr>
                                        <p:cTn id="376" dur="48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5" grpId="0" animBg="1"/>
      <p:bldP spid="117" grpId="0" animBg="1"/>
      <p:bldP spid="119" grpId="0" animBg="1"/>
      <p:bldP spid="121" grpId="0" animBg="1"/>
      <p:bldP spid="122" grpId="0" animBg="1"/>
      <p:bldP spid="123" grpId="0" animBg="1"/>
      <p:bldP spid="124" grpId="0" animBg="1"/>
      <p:bldP spid="125" grpId="0" animBg="1"/>
      <p:bldP spid="126" grpId="0" animBg="1"/>
      <p:bldP spid="12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ivate/tmp/claude-501/-Users-swibit-skillture/f1e62dc3-dfc1-4d04-897a-70d066cdcef5/scratchpad/deck/img/pat_right.png">    </p:cNvPr>
          <p:cNvPicPr>
            <a:picLocks noChangeAspect="1"/>
          </p:cNvPicPr>
          <p:nvPr/>
        </p:nvPicPr>
        <p:blipFill>
          <a:blip r:embed="rId1"/>
          <a:stretch>
            <a:fillRect/>
          </a:stretch>
        </p:blipFill>
        <p:spPr>
          <a:xfrm>
            <a:off x="0" y="0"/>
            <a:ext cx="12191695" cy="6858000"/>
          </a:xfrm>
          <a:prstGeom prst="rect">
            <a:avLst/>
          </a:prstGeom>
        </p:spPr>
      </p:pic>
      <p:sp>
        <p:nvSpPr>
          <p:cNvPr id="4" name="A0-eyebrow"/>
          <p:cNvSpPr txBox="1"/>
          <p:nvPr/>
        </p:nvSpPr>
        <p:spPr>
          <a:xfrm>
            <a:off x="685800" y="457200"/>
            <a:ext cx="8229600" cy="274320"/>
          </a:xfrm>
          <a:prstGeom prst="rect">
            <a:avLst/>
          </a:prstGeom>
          <a:noFill/>
          <a:ln/>
        </p:spPr>
        <p:txBody>
          <a:bodyPr wrap="square" lIns="0" tIns="0" rIns="0" bIns="0" rtlCol="0" anchor="t"/>
          <a:lstStyle/>
          <a:p>
            <a:pPr indent="0" marL="0">
              <a:buNone/>
            </a:pPr>
            <a:r>
              <a:rPr lang="en-US" sz="1200" spc="300" kern="0" dirty="0">
                <a:solidFill>
                  <a:srgbClr val="0CCCCC"/>
                </a:solidFill>
                <a:latin typeface="Poppins SemiBold" pitchFamily="34" charset="0"/>
                <a:ea typeface="Poppins SemiBold" pitchFamily="34" charset="-122"/>
                <a:cs typeface="Poppins SemiBold" pitchFamily="34" charset="-120"/>
              </a:rPr>
              <a:t>04  ·  AI AS YOUR COLLABORATOR</a:t>
            </a:r>
            <a:endParaRPr lang="en-US" sz="1200" dirty="0"/>
          </a:p>
        </p:txBody>
      </p:sp>
      <p:sp>
        <p:nvSpPr>
          <p:cNvPr id="5" name="Text 1"/>
          <p:cNvSpPr/>
          <p:nvPr>
            <p:ph idx="102" type="title" hasCustomPrompt="1"/>
          </p:nvPr>
        </p:nvSpPr>
        <p:spPr>
          <a:xfrm>
            <a:off x="685800" y="749808"/>
            <a:ext cx="10820095" cy="685800"/>
          </a:xfrm>
          <a:prstGeom prst="rect">
            <a:avLst/>
          </a:prstGeom>
          <a:noFill/>
          <a:ln/>
        </p:spPr>
        <p:txBody>
          <a:bodyPr wrap="square" lIns="0" tIns="0" rIns="0" bIns="0" rtlCol="0" anchor="t"/>
          <a:lstStyle/>
          <a:p>
            <a:pPr algn="l" indent="0" marL="0">
              <a:buNone/>
            </a:pPr>
            <a:r>
              <a:rPr lang="en-US" sz="3600" dirty="0">
                <a:solidFill>
                  <a:srgbClr val="FFFFFF"/>
                </a:solidFill>
                <a:latin typeface="Poppins ExtraBold" pitchFamily="34" charset="0"/>
                <a:ea typeface="Poppins ExtraBold" pitchFamily="34" charset="-122"/>
                <a:cs typeface="Poppins ExtraBold" pitchFamily="34" charset="-120"/>
              </a:rPr>
              <a:t>Your New Superpower: AI</a:t>
            </a:r>
            <a:endParaRPr lang="en-US" sz="3600" dirty="0"/>
          </a:p>
        </p:txBody>
      </p:sp>
      <p:sp>
        <p:nvSpPr>
          <p:cNvPr id="6" name="A1-sub"/>
          <p:cNvSpPr txBox="1"/>
          <p:nvPr/>
        </p:nvSpPr>
        <p:spPr>
          <a:xfrm>
            <a:off x="685800" y="1481328"/>
            <a:ext cx="5760720" cy="640080"/>
          </a:xfrm>
          <a:prstGeom prst="rect">
            <a:avLst/>
          </a:prstGeom>
          <a:noFill/>
          <a:ln/>
        </p:spPr>
        <p:txBody>
          <a:bodyPr wrap="square" lIns="0" tIns="0" rIns="0" bIns="0" rtlCol="0" anchor="t"/>
          <a:lstStyle/>
          <a:p>
            <a:pPr indent="0" marL="0">
              <a:buNone/>
            </a:pPr>
            <a:r>
              <a:rPr lang="en-US" sz="1700" dirty="0">
                <a:solidFill>
                  <a:srgbClr val="9FB0B0"/>
                </a:solidFill>
                <a:latin typeface="Poppins" pitchFamily="34" charset="0"/>
                <a:ea typeface="Poppins" pitchFamily="34" charset="-122"/>
                <a:cs typeface="Poppins" pitchFamily="34" charset="-120"/>
              </a:rPr>
              <a:t>Treat AI like a brilliant intern: fast, tireless, and sometimes confidently wrong.</a:t>
            </a:r>
            <a:endParaRPr lang="en-US" sz="1700" dirty="0"/>
          </a:p>
        </p:txBody>
      </p:sp>
      <p:sp>
        <p:nvSpPr>
          <p:cNvPr id="7" name="A2-bg"/>
          <p:cNvSpPr/>
          <p:nvPr/>
        </p:nvSpPr>
        <p:spPr>
          <a:xfrm>
            <a:off x="685800" y="2331720"/>
            <a:ext cx="5760720" cy="640080"/>
          </a:xfrm>
          <a:prstGeom prst="roundRect">
            <a:avLst>
              <a:gd name="adj" fmla="val 20000"/>
            </a:avLst>
          </a:prstGeom>
          <a:solidFill>
            <a:srgbClr val="0D1617"/>
          </a:solidFill>
          <a:ln w="9525">
            <a:solidFill>
              <a:srgbClr val="1F3537"/>
            </a:solidFill>
            <a:prstDash val="solid"/>
          </a:ln>
        </p:spPr>
      </p:sp>
      <p:sp>
        <p:nvSpPr>
          <p:cNvPr id="8" name="A2-pill"/>
          <p:cNvSpPr/>
          <p:nvPr/>
        </p:nvSpPr>
        <p:spPr>
          <a:xfrm>
            <a:off x="850392" y="2496312"/>
            <a:ext cx="566928" cy="310896"/>
          </a:xfrm>
          <a:prstGeom prst="roundRect">
            <a:avLst>
              <a:gd name="adj" fmla="val 50000"/>
            </a:avLst>
          </a:prstGeom>
          <a:solidFill>
            <a:srgbClr val="FFFFFF"/>
          </a:solidFill>
          <a:ln/>
        </p:spPr>
      </p:sp>
      <p:sp>
        <p:nvSpPr>
          <p:cNvPr id="9" name="A2-who"/>
          <p:cNvSpPr txBox="1"/>
          <p:nvPr/>
        </p:nvSpPr>
        <p:spPr>
          <a:xfrm>
            <a:off x="850392" y="2496312"/>
            <a:ext cx="566928" cy="310896"/>
          </a:xfrm>
          <a:prstGeom prst="rect">
            <a:avLst/>
          </a:prstGeom>
          <a:noFill/>
          <a:ln/>
        </p:spPr>
        <p:txBody>
          <a:bodyPr wrap="square" lIns="0" tIns="0" rIns="0" bIns="0" rtlCol="0" anchor="ctr"/>
          <a:lstStyle/>
          <a:p>
            <a:pPr algn="ctr" indent="0" marL="0">
              <a:buNone/>
            </a:pPr>
            <a:r>
              <a:rPr lang="en-US" sz="1100" dirty="0">
                <a:solidFill>
                  <a:srgbClr val="000000"/>
                </a:solidFill>
                <a:latin typeface="Poppins ExtraBold" pitchFamily="34" charset="0"/>
                <a:ea typeface="Poppins ExtraBold" pitchFamily="34" charset="-122"/>
                <a:cs typeface="Poppins ExtraBold" pitchFamily="34" charset="-120"/>
              </a:rPr>
              <a:t>YOU</a:t>
            </a:r>
            <a:endParaRPr lang="en-US" sz="1100" dirty="0"/>
          </a:p>
        </p:txBody>
      </p:sp>
      <p:sp>
        <p:nvSpPr>
          <p:cNvPr id="10" name="A2-t"/>
          <p:cNvSpPr txBox="1"/>
          <p:nvPr/>
        </p:nvSpPr>
        <p:spPr>
          <a:xfrm>
            <a:off x="1600200" y="2386584"/>
            <a:ext cx="4663440"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1  Frame the problem</a:t>
            </a:r>
            <a:endParaRPr lang="en-US" sz="1600" dirty="0"/>
          </a:p>
        </p:txBody>
      </p:sp>
      <p:sp>
        <p:nvSpPr>
          <p:cNvPr id="11" name="A2-d"/>
          <p:cNvSpPr txBox="1"/>
          <p:nvPr/>
        </p:nvSpPr>
        <p:spPr>
          <a:xfrm>
            <a:off x="1600200" y="2670048"/>
            <a:ext cx="4754880" cy="256032"/>
          </a:xfrm>
          <a:prstGeom prst="rect">
            <a:avLst/>
          </a:prstGeom>
          <a:noFill/>
          <a:ln/>
        </p:spPr>
        <p:txBody>
          <a:bodyPr wrap="square" lIns="0" tIns="0" rIns="0" bIns="0" rtlCol="0" anchor="t"/>
          <a:lstStyle/>
          <a:p>
            <a:pPr indent="0" marL="0">
              <a:buNone/>
            </a:pPr>
            <a:r>
              <a:rPr lang="en-US" sz="1200" dirty="0">
                <a:solidFill>
                  <a:srgbClr val="9FB0B0"/>
                </a:solidFill>
                <a:latin typeface="Poppins" pitchFamily="34" charset="0"/>
                <a:ea typeface="Poppins" pitchFamily="34" charset="-122"/>
                <a:cs typeface="Poppins" pitchFamily="34" charset="-120"/>
              </a:rPr>
              <a:t>Context, constraints, an example of what good looks like.</a:t>
            </a:r>
            <a:endParaRPr lang="en-US" sz="1200" dirty="0"/>
          </a:p>
        </p:txBody>
      </p:sp>
      <p:sp>
        <p:nvSpPr>
          <p:cNvPr id="12" name="A3-bg"/>
          <p:cNvSpPr/>
          <p:nvPr/>
        </p:nvSpPr>
        <p:spPr>
          <a:xfrm>
            <a:off x="685800" y="3081528"/>
            <a:ext cx="5760720" cy="640080"/>
          </a:xfrm>
          <a:prstGeom prst="roundRect">
            <a:avLst>
              <a:gd name="adj" fmla="val 20000"/>
            </a:avLst>
          </a:prstGeom>
          <a:solidFill>
            <a:srgbClr val="0B2E30"/>
          </a:solidFill>
          <a:ln w="9525">
            <a:solidFill>
              <a:srgbClr val="01A3A3"/>
            </a:solidFill>
            <a:prstDash val="solid"/>
          </a:ln>
        </p:spPr>
      </p:sp>
      <p:sp>
        <p:nvSpPr>
          <p:cNvPr id="13" name="A3-pill"/>
          <p:cNvSpPr/>
          <p:nvPr/>
        </p:nvSpPr>
        <p:spPr>
          <a:xfrm>
            <a:off x="850392" y="3246120"/>
            <a:ext cx="566928" cy="310896"/>
          </a:xfrm>
          <a:prstGeom prst="roundRect">
            <a:avLst>
              <a:gd name="adj" fmla="val 50000"/>
            </a:avLst>
          </a:prstGeom>
          <a:solidFill>
            <a:srgbClr val="0CCCCC"/>
          </a:solidFill>
          <a:ln/>
        </p:spPr>
      </p:sp>
      <p:sp>
        <p:nvSpPr>
          <p:cNvPr id="14" name="A3-who"/>
          <p:cNvSpPr txBox="1"/>
          <p:nvPr/>
        </p:nvSpPr>
        <p:spPr>
          <a:xfrm>
            <a:off x="850392" y="3246120"/>
            <a:ext cx="566928" cy="310896"/>
          </a:xfrm>
          <a:prstGeom prst="rect">
            <a:avLst/>
          </a:prstGeom>
          <a:noFill/>
          <a:ln/>
        </p:spPr>
        <p:txBody>
          <a:bodyPr wrap="square" lIns="0" tIns="0" rIns="0" bIns="0" rtlCol="0" anchor="ctr"/>
          <a:lstStyle/>
          <a:p>
            <a:pPr algn="ctr" indent="0" marL="0">
              <a:buNone/>
            </a:pPr>
            <a:r>
              <a:rPr lang="en-US" sz="1100" dirty="0">
                <a:solidFill>
                  <a:srgbClr val="000000"/>
                </a:solidFill>
                <a:latin typeface="Poppins ExtraBold" pitchFamily="34" charset="0"/>
                <a:ea typeface="Poppins ExtraBold" pitchFamily="34" charset="-122"/>
                <a:cs typeface="Poppins ExtraBold" pitchFamily="34" charset="-120"/>
              </a:rPr>
              <a:t>AI</a:t>
            </a:r>
            <a:endParaRPr lang="en-US" sz="1100" dirty="0"/>
          </a:p>
        </p:txBody>
      </p:sp>
      <p:sp>
        <p:nvSpPr>
          <p:cNvPr id="15" name="A3-t"/>
          <p:cNvSpPr txBox="1"/>
          <p:nvPr/>
        </p:nvSpPr>
        <p:spPr>
          <a:xfrm>
            <a:off x="1600200" y="3136392"/>
            <a:ext cx="4663440"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2  Draft</a:t>
            </a:r>
            <a:endParaRPr lang="en-US" sz="1600" dirty="0"/>
          </a:p>
        </p:txBody>
      </p:sp>
      <p:sp>
        <p:nvSpPr>
          <p:cNvPr id="16" name="A3-d"/>
          <p:cNvSpPr txBox="1"/>
          <p:nvPr/>
        </p:nvSpPr>
        <p:spPr>
          <a:xfrm>
            <a:off x="1600200" y="3419856"/>
            <a:ext cx="4754880" cy="256032"/>
          </a:xfrm>
          <a:prstGeom prst="rect">
            <a:avLst/>
          </a:prstGeom>
          <a:noFill/>
          <a:ln/>
        </p:spPr>
        <p:txBody>
          <a:bodyPr wrap="square" lIns="0" tIns="0" rIns="0" bIns="0" rtlCol="0" anchor="t"/>
          <a:lstStyle/>
          <a:p>
            <a:pPr indent="0" marL="0">
              <a:buNone/>
            </a:pPr>
            <a:r>
              <a:rPr lang="en-US" sz="1200" dirty="0">
                <a:solidFill>
                  <a:srgbClr val="9FB0B0"/>
                </a:solidFill>
                <a:latin typeface="Poppins" pitchFamily="34" charset="0"/>
                <a:ea typeface="Poppins" pitchFamily="34" charset="-122"/>
                <a:cs typeface="Poppins" pitchFamily="34" charset="-120"/>
              </a:rPr>
              <a:t>Code, schema, test cases, explanations, options.</a:t>
            </a:r>
            <a:endParaRPr lang="en-US" sz="1200" dirty="0"/>
          </a:p>
        </p:txBody>
      </p:sp>
      <p:sp>
        <p:nvSpPr>
          <p:cNvPr id="17" name="A4-bg"/>
          <p:cNvSpPr/>
          <p:nvPr/>
        </p:nvSpPr>
        <p:spPr>
          <a:xfrm>
            <a:off x="685800" y="3831336"/>
            <a:ext cx="5760720" cy="640080"/>
          </a:xfrm>
          <a:prstGeom prst="roundRect">
            <a:avLst>
              <a:gd name="adj" fmla="val 20000"/>
            </a:avLst>
          </a:prstGeom>
          <a:solidFill>
            <a:srgbClr val="0D1617"/>
          </a:solidFill>
          <a:ln w="9525">
            <a:solidFill>
              <a:srgbClr val="1F3537"/>
            </a:solidFill>
            <a:prstDash val="solid"/>
          </a:ln>
        </p:spPr>
      </p:sp>
      <p:sp>
        <p:nvSpPr>
          <p:cNvPr id="18" name="A4-pill"/>
          <p:cNvSpPr/>
          <p:nvPr/>
        </p:nvSpPr>
        <p:spPr>
          <a:xfrm>
            <a:off x="850392" y="3995928"/>
            <a:ext cx="566928" cy="310896"/>
          </a:xfrm>
          <a:prstGeom prst="roundRect">
            <a:avLst>
              <a:gd name="adj" fmla="val 50000"/>
            </a:avLst>
          </a:prstGeom>
          <a:solidFill>
            <a:srgbClr val="FFFFFF"/>
          </a:solidFill>
          <a:ln/>
        </p:spPr>
      </p:sp>
      <p:sp>
        <p:nvSpPr>
          <p:cNvPr id="19" name="A4-who"/>
          <p:cNvSpPr txBox="1"/>
          <p:nvPr/>
        </p:nvSpPr>
        <p:spPr>
          <a:xfrm>
            <a:off x="850392" y="3995928"/>
            <a:ext cx="566928" cy="310896"/>
          </a:xfrm>
          <a:prstGeom prst="rect">
            <a:avLst/>
          </a:prstGeom>
          <a:noFill/>
          <a:ln/>
        </p:spPr>
        <p:txBody>
          <a:bodyPr wrap="square" lIns="0" tIns="0" rIns="0" bIns="0" rtlCol="0" anchor="ctr"/>
          <a:lstStyle/>
          <a:p>
            <a:pPr algn="ctr" indent="0" marL="0">
              <a:buNone/>
            </a:pPr>
            <a:r>
              <a:rPr lang="en-US" sz="1100" dirty="0">
                <a:solidFill>
                  <a:srgbClr val="000000"/>
                </a:solidFill>
                <a:latin typeface="Poppins ExtraBold" pitchFamily="34" charset="0"/>
                <a:ea typeface="Poppins ExtraBold" pitchFamily="34" charset="-122"/>
                <a:cs typeface="Poppins ExtraBold" pitchFamily="34" charset="-120"/>
              </a:rPr>
              <a:t>YOU</a:t>
            </a:r>
            <a:endParaRPr lang="en-US" sz="1100" dirty="0"/>
          </a:p>
        </p:txBody>
      </p:sp>
      <p:sp>
        <p:nvSpPr>
          <p:cNvPr id="20" name="A4-t"/>
          <p:cNvSpPr txBox="1"/>
          <p:nvPr/>
        </p:nvSpPr>
        <p:spPr>
          <a:xfrm>
            <a:off x="1600200" y="3886200"/>
            <a:ext cx="4663440"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3  Verify</a:t>
            </a:r>
            <a:endParaRPr lang="en-US" sz="1600" dirty="0"/>
          </a:p>
        </p:txBody>
      </p:sp>
      <p:sp>
        <p:nvSpPr>
          <p:cNvPr id="21" name="A4-d"/>
          <p:cNvSpPr txBox="1"/>
          <p:nvPr/>
        </p:nvSpPr>
        <p:spPr>
          <a:xfrm>
            <a:off x="1600200" y="4169664"/>
            <a:ext cx="4754880" cy="256032"/>
          </a:xfrm>
          <a:prstGeom prst="rect">
            <a:avLst/>
          </a:prstGeom>
          <a:noFill/>
          <a:ln/>
        </p:spPr>
        <p:txBody>
          <a:bodyPr wrap="square" lIns="0" tIns="0" rIns="0" bIns="0" rtlCol="0" anchor="t"/>
          <a:lstStyle/>
          <a:p>
            <a:pPr indent="0" marL="0">
              <a:buNone/>
            </a:pPr>
            <a:r>
              <a:rPr lang="en-US" sz="1200" dirty="0">
                <a:solidFill>
                  <a:srgbClr val="9FB0B0"/>
                </a:solidFill>
                <a:latin typeface="Poppins" pitchFamily="34" charset="0"/>
                <a:ea typeface="Poppins" pitchFamily="34" charset="-122"/>
                <a:cs typeface="Poppins" pitchFamily="34" charset="-120"/>
              </a:rPr>
              <a:t>Run it, test it, read every line you will ship.</a:t>
            </a:r>
            <a:endParaRPr lang="en-US" sz="1200" dirty="0"/>
          </a:p>
        </p:txBody>
      </p:sp>
      <p:sp>
        <p:nvSpPr>
          <p:cNvPr id="22" name="A5-bg"/>
          <p:cNvSpPr/>
          <p:nvPr/>
        </p:nvSpPr>
        <p:spPr>
          <a:xfrm>
            <a:off x="685800" y="4581144"/>
            <a:ext cx="5760720" cy="640080"/>
          </a:xfrm>
          <a:prstGeom prst="roundRect">
            <a:avLst>
              <a:gd name="adj" fmla="val 20000"/>
            </a:avLst>
          </a:prstGeom>
          <a:solidFill>
            <a:srgbClr val="0D1617"/>
          </a:solidFill>
          <a:ln w="9525">
            <a:solidFill>
              <a:srgbClr val="1F3537"/>
            </a:solidFill>
            <a:prstDash val="solid"/>
          </a:ln>
        </p:spPr>
      </p:sp>
      <p:sp>
        <p:nvSpPr>
          <p:cNvPr id="23" name="A5-pill"/>
          <p:cNvSpPr/>
          <p:nvPr/>
        </p:nvSpPr>
        <p:spPr>
          <a:xfrm>
            <a:off x="850392" y="4745736"/>
            <a:ext cx="566928" cy="310896"/>
          </a:xfrm>
          <a:prstGeom prst="roundRect">
            <a:avLst>
              <a:gd name="adj" fmla="val 50000"/>
            </a:avLst>
          </a:prstGeom>
          <a:solidFill>
            <a:srgbClr val="FFFFFF"/>
          </a:solidFill>
          <a:ln/>
        </p:spPr>
      </p:sp>
      <p:sp>
        <p:nvSpPr>
          <p:cNvPr id="24" name="A5-who"/>
          <p:cNvSpPr txBox="1"/>
          <p:nvPr/>
        </p:nvSpPr>
        <p:spPr>
          <a:xfrm>
            <a:off x="850392" y="4745736"/>
            <a:ext cx="566928" cy="310896"/>
          </a:xfrm>
          <a:prstGeom prst="rect">
            <a:avLst/>
          </a:prstGeom>
          <a:noFill/>
          <a:ln/>
        </p:spPr>
        <p:txBody>
          <a:bodyPr wrap="square" lIns="0" tIns="0" rIns="0" bIns="0" rtlCol="0" anchor="ctr"/>
          <a:lstStyle/>
          <a:p>
            <a:pPr algn="ctr" indent="0" marL="0">
              <a:buNone/>
            </a:pPr>
            <a:r>
              <a:rPr lang="en-US" sz="1100" dirty="0">
                <a:solidFill>
                  <a:srgbClr val="000000"/>
                </a:solidFill>
                <a:latin typeface="Poppins ExtraBold" pitchFamily="34" charset="0"/>
                <a:ea typeface="Poppins ExtraBold" pitchFamily="34" charset="-122"/>
                <a:cs typeface="Poppins ExtraBold" pitchFamily="34" charset="-120"/>
              </a:rPr>
              <a:t>YOU</a:t>
            </a:r>
            <a:endParaRPr lang="en-US" sz="1100" dirty="0"/>
          </a:p>
        </p:txBody>
      </p:sp>
      <p:sp>
        <p:nvSpPr>
          <p:cNvPr id="25" name="A5-t"/>
          <p:cNvSpPr txBox="1"/>
          <p:nvPr/>
        </p:nvSpPr>
        <p:spPr>
          <a:xfrm>
            <a:off x="1600200" y="4636008"/>
            <a:ext cx="4663440"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4  Decide</a:t>
            </a:r>
            <a:endParaRPr lang="en-US" sz="1600" dirty="0"/>
          </a:p>
        </p:txBody>
      </p:sp>
      <p:sp>
        <p:nvSpPr>
          <p:cNvPr id="26" name="A5-d"/>
          <p:cNvSpPr txBox="1"/>
          <p:nvPr/>
        </p:nvSpPr>
        <p:spPr>
          <a:xfrm>
            <a:off x="1600200" y="4919472"/>
            <a:ext cx="4754880" cy="256032"/>
          </a:xfrm>
          <a:prstGeom prst="rect">
            <a:avLst/>
          </a:prstGeom>
          <a:noFill/>
          <a:ln/>
        </p:spPr>
        <p:txBody>
          <a:bodyPr wrap="square" lIns="0" tIns="0" rIns="0" bIns="0" rtlCol="0" anchor="t"/>
          <a:lstStyle/>
          <a:p>
            <a:pPr indent="0" marL="0">
              <a:buNone/>
            </a:pPr>
            <a:r>
              <a:rPr lang="en-US" sz="1200" dirty="0">
                <a:solidFill>
                  <a:srgbClr val="9FB0B0"/>
                </a:solidFill>
                <a:latin typeface="Poppins" pitchFamily="34" charset="0"/>
                <a:ea typeface="Poppins" pitchFamily="34" charset="-122"/>
                <a:cs typeface="Poppins" pitchFamily="34" charset="-120"/>
              </a:rPr>
              <a:t>Accept, edit, or throw it away. You own the result.</a:t>
            </a:r>
            <a:endParaRPr lang="en-US" sz="1200" dirty="0"/>
          </a:p>
        </p:txBody>
      </p:sp>
      <p:sp>
        <p:nvSpPr>
          <p:cNvPr id="27" name="A6-demo"/>
          <p:cNvSpPr/>
          <p:nvPr/>
        </p:nvSpPr>
        <p:spPr>
          <a:xfrm>
            <a:off x="685800" y="5440680"/>
            <a:ext cx="5760720" cy="658368"/>
          </a:xfrm>
          <a:prstGeom prst="roundRect">
            <a:avLst>
              <a:gd name="adj" fmla="val 19444"/>
            </a:avLst>
          </a:prstGeom>
          <a:solidFill>
            <a:srgbClr val="0B2E30"/>
          </a:solidFill>
          <a:ln/>
        </p:spPr>
      </p:sp>
      <p:pic>
        <p:nvPicPr>
          <p:cNvPr id="28" name="A6-demoI" descr="preencoded.png">    </p:cNvPr>
          <p:cNvPicPr>
            <a:picLocks noChangeAspect="1"/>
          </p:cNvPicPr>
          <p:nvPr/>
        </p:nvPicPr>
        <p:blipFill>
          <a:blip r:embed="rId2"/>
          <a:stretch>
            <a:fillRect/>
          </a:stretch>
        </p:blipFill>
        <p:spPr>
          <a:xfrm>
            <a:off x="886968" y="5605272"/>
            <a:ext cx="329184" cy="329184"/>
          </a:xfrm>
          <a:prstGeom prst="rect">
            <a:avLst/>
          </a:prstGeom>
        </p:spPr>
      </p:pic>
      <p:sp>
        <p:nvSpPr>
          <p:cNvPr id="29" name="A6-demoT"/>
          <p:cNvSpPr txBox="1"/>
          <p:nvPr/>
        </p:nvSpPr>
        <p:spPr>
          <a:xfrm>
            <a:off x="1371600" y="5440680"/>
            <a:ext cx="4937760" cy="658368"/>
          </a:xfrm>
          <a:prstGeom prst="rect">
            <a:avLst/>
          </a:prstGeom>
          <a:noFill/>
          <a:ln/>
        </p:spPr>
        <p:txBody>
          <a:bodyPr wrap="square" lIns="0" tIns="0" rIns="0" bIns="0" rtlCol="0" anchor="ctr"/>
          <a:lstStyle/>
          <a:p>
            <a:pPr indent="0" marL="0">
              <a:buNone/>
            </a:pPr>
            <a:r>
              <a:rPr lang="en-US" sz="1300" spc="200" kern="0" dirty="0">
                <a:solidFill>
                  <a:srgbClr val="0CCCCC"/>
                </a:solidFill>
                <a:latin typeface="Poppins SemiBold" pitchFamily="34" charset="0"/>
                <a:ea typeface="Poppins SemiBold" pitchFamily="34" charset="-122"/>
                <a:cs typeface="Poppins SemiBold" pitchFamily="34" charset="-120"/>
              </a:rPr>
              <a:t>LIVE DEMO  </a:t>
            </a:r>
            <a:pPr indent="0" marL="0">
              <a:buNone/>
            </a:pPr>
            <a:r>
              <a:rPr lang="en-US" sz="1300" dirty="0">
                <a:solidFill>
                  <a:srgbClr val="FFFFFF"/>
                </a:solidFill>
                <a:latin typeface="Poppins" pitchFamily="34" charset="0"/>
                <a:ea typeface="Poppins" pitchFamily="34" charset="-122"/>
                <a:cs typeface="Poppins" pitchFamily="34" charset="-120"/>
              </a:rPr>
              <a:t>Paste a real bug. Ask AI to explain it, then make it prove the fix with a test.</a:t>
            </a:r>
            <a:endParaRPr lang="en-US" sz="1300" dirty="0"/>
          </a:p>
        </p:txBody>
      </p:sp>
      <p:pic>
        <p:nvPicPr>
          <p:cNvPr id="30" name="Image 2" descr="/private/tmp/claude-501/-Users-swibit-skillture/f1e62dc3-dfc1-4d04-897a-70d066cdcef5/scratchpad/deck/img/glow_turq.png">    </p:cNvPr>
          <p:cNvPicPr>
            <a:picLocks noChangeAspect="1"/>
          </p:cNvPicPr>
          <p:nvPr/>
        </p:nvPicPr>
        <p:blipFill>
          <a:blip r:embed="rId3">
            <a:alphaModFix amt="60000"/>
          </a:blip>
          <a:stretch>
            <a:fillRect/>
          </a:stretch>
        </p:blipFill>
        <p:spPr>
          <a:xfrm>
            <a:off x="6583680" y="822960"/>
            <a:ext cx="5394960" cy="5394960"/>
          </a:xfrm>
          <a:prstGeom prst="rect">
            <a:avLst/>
          </a:prstGeom>
        </p:spPr>
      </p:pic>
      <p:pic>
        <p:nvPicPr>
          <p:cNvPr id="31" name="A1-orb" descr="3D AI orb">    </p:cNvPr>
          <p:cNvPicPr>
            <a:picLocks noChangeAspect="1"/>
          </p:cNvPicPr>
          <p:nvPr/>
        </p:nvPicPr>
        <p:blipFill>
          <a:blip r:embed="rId4"/>
          <a:stretch>
            <a:fillRect/>
          </a:stretch>
        </p:blipFill>
        <p:spPr>
          <a:xfrm>
            <a:off x="7314665" y="1554480"/>
            <a:ext cx="3932989" cy="4114800"/>
          </a:xfrm>
          <a:prstGeom prst="rect">
            <a:avLst/>
          </a:prstGeom>
        </p:spPr>
      </p:pic>
      <p:sp>
        <p:nvSpPr>
          <p:cNvPr id="32" name="A7-chip0"/>
          <p:cNvSpPr/>
          <p:nvPr/>
        </p:nvSpPr>
        <p:spPr>
          <a:xfrm>
            <a:off x="6720840" y="1691640"/>
            <a:ext cx="1550822" cy="365760"/>
          </a:xfrm>
          <a:prstGeom prst="roundRect">
            <a:avLst>
              <a:gd name="adj" fmla="val 50000"/>
            </a:avLst>
          </a:prstGeom>
          <a:solidFill>
            <a:srgbClr val="0B1A1B"/>
          </a:solidFill>
          <a:ln w="9525">
            <a:solidFill>
              <a:srgbClr val="01A3A3"/>
            </a:solidFill>
            <a:prstDash val="solid"/>
          </a:ln>
        </p:spPr>
      </p:sp>
      <p:sp>
        <p:nvSpPr>
          <p:cNvPr id="33" name="A7-dot0"/>
          <p:cNvSpPr/>
          <p:nvPr/>
        </p:nvSpPr>
        <p:spPr>
          <a:xfrm>
            <a:off x="6867144" y="1828800"/>
            <a:ext cx="91440" cy="91440"/>
          </a:xfrm>
          <a:prstGeom prst="ellipse">
            <a:avLst/>
          </a:prstGeom>
          <a:solidFill>
            <a:srgbClr val="0CCCCC"/>
          </a:solidFill>
          <a:ln/>
        </p:spPr>
      </p:sp>
      <p:sp>
        <p:nvSpPr>
          <p:cNvPr id="34" name="A7-chipT0"/>
          <p:cNvSpPr txBox="1"/>
          <p:nvPr/>
        </p:nvSpPr>
        <p:spPr>
          <a:xfrm>
            <a:off x="7031736" y="1691640"/>
            <a:ext cx="1185062" cy="365760"/>
          </a:xfrm>
          <a:prstGeom prst="rect">
            <a:avLst/>
          </a:prstGeom>
          <a:noFill/>
          <a:ln/>
        </p:spPr>
        <p:txBody>
          <a:bodyPr wrap="square" lIns="0" tIns="0" rIns="0" bIns="0" rtlCol="0" anchor="ctr"/>
          <a:lstStyle/>
          <a:p>
            <a:pPr indent="0" marL="0">
              <a:buNone/>
            </a:pPr>
            <a:r>
              <a:rPr lang="en-US" sz="1200" dirty="0">
                <a:solidFill>
                  <a:srgbClr val="FFFFFF"/>
                </a:solidFill>
                <a:latin typeface="Poppins Medium" pitchFamily="34" charset="0"/>
                <a:ea typeface="Poppins Medium" pitchFamily="34" charset="-122"/>
                <a:cs typeface="Poppins Medium" pitchFamily="34" charset="-120"/>
              </a:rPr>
              <a:t>Explains code</a:t>
            </a:r>
            <a:endParaRPr lang="en-US" sz="1200" dirty="0"/>
          </a:p>
        </p:txBody>
      </p:sp>
      <p:sp>
        <p:nvSpPr>
          <p:cNvPr id="35" name="A7-chip1"/>
          <p:cNvSpPr/>
          <p:nvPr/>
        </p:nvSpPr>
        <p:spPr>
          <a:xfrm>
            <a:off x="9509760" y="1417320"/>
            <a:ext cx="1971446" cy="365760"/>
          </a:xfrm>
          <a:prstGeom prst="roundRect">
            <a:avLst>
              <a:gd name="adj" fmla="val 50000"/>
            </a:avLst>
          </a:prstGeom>
          <a:solidFill>
            <a:srgbClr val="0B1A1B"/>
          </a:solidFill>
          <a:ln w="9525">
            <a:solidFill>
              <a:srgbClr val="01A3A3"/>
            </a:solidFill>
            <a:prstDash val="solid"/>
          </a:ln>
        </p:spPr>
      </p:sp>
      <p:sp>
        <p:nvSpPr>
          <p:cNvPr id="36" name="A7-dot1"/>
          <p:cNvSpPr/>
          <p:nvPr/>
        </p:nvSpPr>
        <p:spPr>
          <a:xfrm>
            <a:off x="9656064" y="1554480"/>
            <a:ext cx="91440" cy="91440"/>
          </a:xfrm>
          <a:prstGeom prst="ellipse">
            <a:avLst/>
          </a:prstGeom>
          <a:solidFill>
            <a:srgbClr val="0CCCCC"/>
          </a:solidFill>
          <a:ln/>
        </p:spPr>
      </p:sp>
      <p:sp>
        <p:nvSpPr>
          <p:cNvPr id="37" name="A7-chipT1"/>
          <p:cNvSpPr txBox="1"/>
          <p:nvPr/>
        </p:nvSpPr>
        <p:spPr>
          <a:xfrm>
            <a:off x="9820656" y="1417320"/>
            <a:ext cx="1605686" cy="365760"/>
          </a:xfrm>
          <a:prstGeom prst="rect">
            <a:avLst/>
          </a:prstGeom>
          <a:noFill/>
          <a:ln/>
        </p:spPr>
        <p:txBody>
          <a:bodyPr wrap="square" lIns="0" tIns="0" rIns="0" bIns="0" rtlCol="0" anchor="ctr"/>
          <a:lstStyle/>
          <a:p>
            <a:pPr indent="0" marL="0">
              <a:buNone/>
            </a:pPr>
            <a:r>
              <a:rPr lang="en-US" sz="1200" dirty="0">
                <a:solidFill>
                  <a:srgbClr val="FFFFFF"/>
                </a:solidFill>
                <a:latin typeface="Poppins Medium" pitchFamily="34" charset="0"/>
                <a:ea typeface="Poppins Medium" pitchFamily="34" charset="-122"/>
                <a:cs typeface="Poppins Medium" pitchFamily="34" charset="-120"/>
              </a:rPr>
              <a:t>Drafts boilerplate</a:t>
            </a:r>
            <a:endParaRPr lang="en-US" sz="1200" dirty="0"/>
          </a:p>
        </p:txBody>
      </p:sp>
      <p:sp>
        <p:nvSpPr>
          <p:cNvPr id="38" name="A7-chip2"/>
          <p:cNvSpPr/>
          <p:nvPr/>
        </p:nvSpPr>
        <p:spPr>
          <a:xfrm>
            <a:off x="9555480" y="5440680"/>
            <a:ext cx="1887322" cy="365760"/>
          </a:xfrm>
          <a:prstGeom prst="roundRect">
            <a:avLst>
              <a:gd name="adj" fmla="val 50000"/>
            </a:avLst>
          </a:prstGeom>
          <a:solidFill>
            <a:srgbClr val="0B1A1B"/>
          </a:solidFill>
          <a:ln w="9525">
            <a:solidFill>
              <a:srgbClr val="01A3A3"/>
            </a:solidFill>
            <a:prstDash val="solid"/>
          </a:ln>
        </p:spPr>
      </p:sp>
      <p:sp>
        <p:nvSpPr>
          <p:cNvPr id="39" name="A7-dot2"/>
          <p:cNvSpPr/>
          <p:nvPr/>
        </p:nvSpPr>
        <p:spPr>
          <a:xfrm>
            <a:off x="9701784" y="5577840"/>
            <a:ext cx="91440" cy="91440"/>
          </a:xfrm>
          <a:prstGeom prst="ellipse">
            <a:avLst/>
          </a:prstGeom>
          <a:solidFill>
            <a:srgbClr val="0CCCCC"/>
          </a:solidFill>
          <a:ln/>
        </p:spPr>
      </p:sp>
      <p:sp>
        <p:nvSpPr>
          <p:cNvPr id="40" name="A7-chipT2"/>
          <p:cNvSpPr txBox="1"/>
          <p:nvPr/>
        </p:nvSpPr>
        <p:spPr>
          <a:xfrm>
            <a:off x="9866376" y="5440680"/>
            <a:ext cx="1521562" cy="365760"/>
          </a:xfrm>
          <a:prstGeom prst="rect">
            <a:avLst/>
          </a:prstGeom>
          <a:noFill/>
          <a:ln/>
        </p:spPr>
        <p:txBody>
          <a:bodyPr wrap="square" lIns="0" tIns="0" rIns="0" bIns="0" rtlCol="0" anchor="ctr"/>
          <a:lstStyle/>
          <a:p>
            <a:pPr indent="0" marL="0">
              <a:buNone/>
            </a:pPr>
            <a:r>
              <a:rPr lang="en-US" sz="1200" dirty="0">
                <a:solidFill>
                  <a:srgbClr val="FFFFFF"/>
                </a:solidFill>
                <a:latin typeface="Poppins Medium" pitchFamily="34" charset="0"/>
                <a:ea typeface="Poppins Medium" pitchFamily="34" charset="-122"/>
                <a:cs typeface="Poppins Medium" pitchFamily="34" charset="-120"/>
              </a:rPr>
              <a:t>Writes test cases</a:t>
            </a:r>
            <a:endParaRPr lang="en-US" sz="1200" dirty="0"/>
          </a:p>
        </p:txBody>
      </p:sp>
      <p:sp>
        <p:nvSpPr>
          <p:cNvPr id="41" name="A7-chip3"/>
          <p:cNvSpPr/>
          <p:nvPr/>
        </p:nvSpPr>
        <p:spPr>
          <a:xfrm>
            <a:off x="6583680" y="5257800"/>
            <a:ext cx="1887322" cy="365760"/>
          </a:xfrm>
          <a:prstGeom prst="roundRect">
            <a:avLst>
              <a:gd name="adj" fmla="val 50000"/>
            </a:avLst>
          </a:prstGeom>
          <a:solidFill>
            <a:srgbClr val="0B1A1B"/>
          </a:solidFill>
          <a:ln w="9525">
            <a:solidFill>
              <a:srgbClr val="01A3A3"/>
            </a:solidFill>
            <a:prstDash val="solid"/>
          </a:ln>
        </p:spPr>
      </p:sp>
      <p:sp>
        <p:nvSpPr>
          <p:cNvPr id="42" name="A7-dot3"/>
          <p:cNvSpPr/>
          <p:nvPr/>
        </p:nvSpPr>
        <p:spPr>
          <a:xfrm>
            <a:off x="6729984" y="5394960"/>
            <a:ext cx="91440" cy="91440"/>
          </a:xfrm>
          <a:prstGeom prst="ellipse">
            <a:avLst/>
          </a:prstGeom>
          <a:solidFill>
            <a:srgbClr val="0CCCCC"/>
          </a:solidFill>
          <a:ln/>
        </p:spPr>
      </p:sp>
      <p:sp>
        <p:nvSpPr>
          <p:cNvPr id="43" name="A7-chipT3"/>
          <p:cNvSpPr txBox="1"/>
          <p:nvPr/>
        </p:nvSpPr>
        <p:spPr>
          <a:xfrm>
            <a:off x="6894576" y="5257800"/>
            <a:ext cx="1521562" cy="365760"/>
          </a:xfrm>
          <a:prstGeom prst="rect">
            <a:avLst/>
          </a:prstGeom>
          <a:noFill/>
          <a:ln/>
        </p:spPr>
        <p:txBody>
          <a:bodyPr wrap="square" lIns="0" tIns="0" rIns="0" bIns="0" rtlCol="0" anchor="ctr"/>
          <a:lstStyle/>
          <a:p>
            <a:pPr indent="0" marL="0">
              <a:buNone/>
            </a:pPr>
            <a:r>
              <a:rPr lang="en-US" sz="1200" dirty="0">
                <a:solidFill>
                  <a:srgbClr val="FFFFFF"/>
                </a:solidFill>
                <a:latin typeface="Poppins Medium" pitchFamily="34" charset="0"/>
                <a:ea typeface="Poppins Medium" pitchFamily="34" charset="-122"/>
                <a:cs typeface="Poppins Medium" pitchFamily="34" charset="-120"/>
              </a:rPr>
              <a:t>Reviews your work</a:t>
            </a:r>
            <a:endParaRPr lang="en-US" sz="1200" dirty="0"/>
          </a:p>
        </p:txBody>
      </p:sp>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8282"/>
                </a:solidFill>
                <a:latin typeface="Poppins SemiBold"/>
                <a:ea typeface="Poppins SemiBold"/>
                <a:cs typeface="Poppins SemiBold"/>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80"/>
                                        <p:tgtEl>
                                          <p:spTgt spid="4"/>
                                        </p:tgtEl>
                                      </p:cBhvr>
                                    </p:animEffect>
                                  </p:childTnLst>
                                </p:cTn>
                              </p:par>
                              <p:par>
                                <p:cTn id="8" presetID="10" presetClass="entr" presetSubtype="0" fill="hold" grpId="0" nodeType="withEffect">
                                  <p:stCondLst>
                                    <p:cond delay="32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80"/>
                                        <p:tgtEl>
                                          <p:spTgt spid="6"/>
                                        </p:tgtEl>
                                      </p:cBhvr>
                                    </p:animEffect>
                                  </p:childTnLst>
                                </p:cTn>
                              </p:par>
                              <p:par>
                                <p:cTn id="11" presetID="10" presetClass="entr" presetSubtype="0" fill="hold" grpId="0" nodeType="withEffect">
                                  <p:stCondLst>
                                    <p:cond delay="32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480"/>
                                        <p:tgtEl>
                                          <p:spTgt spid="31"/>
                                        </p:tgtEl>
                                      </p:cBhvr>
                                    </p:animEffect>
                                  </p:childTnLst>
                                </p:cTn>
                              </p:par>
                              <p:par>
                                <p:cTn id="14" presetID="10" presetClass="entr" presetSubtype="0" fill="hold" grpId="0" nodeType="withEffect">
                                  <p:stCondLst>
                                    <p:cond delay="64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80"/>
                                        <p:tgtEl>
                                          <p:spTgt spid="7"/>
                                        </p:tgtEl>
                                      </p:cBhvr>
                                    </p:animEffect>
                                  </p:childTnLst>
                                </p:cTn>
                              </p:par>
                              <p:par>
                                <p:cTn id="17" presetID="10" presetClass="entr" presetSubtype="0" fill="hold" grpId="0" nodeType="withEffect">
                                  <p:stCondLst>
                                    <p:cond delay="6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80"/>
                                        <p:tgtEl>
                                          <p:spTgt spid="8"/>
                                        </p:tgtEl>
                                      </p:cBhvr>
                                    </p:animEffect>
                                  </p:childTnLst>
                                </p:cTn>
                              </p:par>
                              <p:par>
                                <p:cTn id="20" presetID="10" presetClass="entr" presetSubtype="0" fill="hold" grpId="0" nodeType="withEffect">
                                  <p:stCondLst>
                                    <p:cond delay="64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80"/>
                                        <p:tgtEl>
                                          <p:spTgt spid="9"/>
                                        </p:tgtEl>
                                      </p:cBhvr>
                                    </p:animEffect>
                                  </p:childTnLst>
                                </p:cTn>
                              </p:par>
                              <p:par>
                                <p:cTn id="23" presetID="10" presetClass="entr" presetSubtype="0" fill="hold" grpId="0" nodeType="withEffect">
                                  <p:stCondLst>
                                    <p:cond delay="64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80"/>
                                        <p:tgtEl>
                                          <p:spTgt spid="10"/>
                                        </p:tgtEl>
                                      </p:cBhvr>
                                    </p:animEffect>
                                  </p:childTnLst>
                                </p:cTn>
                              </p:par>
                              <p:par>
                                <p:cTn id="26" presetID="10" presetClass="entr" presetSubtype="0" fill="hold" grpId="0" nodeType="withEffect">
                                  <p:stCondLst>
                                    <p:cond delay="64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80"/>
                                        <p:tgtEl>
                                          <p:spTgt spid="11"/>
                                        </p:tgtEl>
                                      </p:cBhvr>
                                    </p:animEffect>
                                  </p:childTnLst>
                                </p:cTn>
                              </p:par>
                              <p:par>
                                <p:cTn id="29" presetID="10" presetClass="entr" presetSubtype="0" fill="hold" grpId="0" nodeType="withEffect">
                                  <p:stCondLst>
                                    <p:cond delay="96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80"/>
                                        <p:tgtEl>
                                          <p:spTgt spid="12"/>
                                        </p:tgtEl>
                                      </p:cBhvr>
                                    </p:animEffect>
                                  </p:childTnLst>
                                </p:cTn>
                              </p:par>
                              <p:par>
                                <p:cTn id="32" presetID="10" presetClass="entr" presetSubtype="0" fill="hold" grpId="0" nodeType="withEffect">
                                  <p:stCondLst>
                                    <p:cond delay="96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80"/>
                                        <p:tgtEl>
                                          <p:spTgt spid="13"/>
                                        </p:tgtEl>
                                      </p:cBhvr>
                                    </p:animEffect>
                                  </p:childTnLst>
                                </p:cTn>
                              </p:par>
                              <p:par>
                                <p:cTn id="35" presetID="10" presetClass="entr" presetSubtype="0" fill="hold" grpId="0" nodeType="withEffect">
                                  <p:stCondLst>
                                    <p:cond delay="96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80"/>
                                        <p:tgtEl>
                                          <p:spTgt spid="14"/>
                                        </p:tgtEl>
                                      </p:cBhvr>
                                    </p:animEffect>
                                  </p:childTnLst>
                                </p:cTn>
                              </p:par>
                              <p:par>
                                <p:cTn id="38" presetID="10" presetClass="entr" presetSubtype="0" fill="hold" grpId="0" nodeType="withEffect">
                                  <p:stCondLst>
                                    <p:cond delay="96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80"/>
                                        <p:tgtEl>
                                          <p:spTgt spid="15"/>
                                        </p:tgtEl>
                                      </p:cBhvr>
                                    </p:animEffect>
                                  </p:childTnLst>
                                </p:cTn>
                              </p:par>
                              <p:par>
                                <p:cTn id="41" presetID="10" presetClass="entr" presetSubtype="0" fill="hold" grpId="0" nodeType="withEffect">
                                  <p:stCondLst>
                                    <p:cond delay="96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80"/>
                                        <p:tgtEl>
                                          <p:spTgt spid="16"/>
                                        </p:tgtEl>
                                      </p:cBhvr>
                                    </p:animEffect>
                                  </p:childTnLst>
                                </p:cTn>
                              </p:par>
                              <p:par>
                                <p:cTn id="44" presetID="10" presetClass="entr" presetSubtype="0" fill="hold" grpId="0" nodeType="withEffect">
                                  <p:stCondLst>
                                    <p:cond delay="12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80"/>
                                        <p:tgtEl>
                                          <p:spTgt spid="17"/>
                                        </p:tgtEl>
                                      </p:cBhvr>
                                    </p:animEffect>
                                  </p:childTnLst>
                                </p:cTn>
                              </p:par>
                              <p:par>
                                <p:cTn id="47" presetID="10" presetClass="entr" presetSubtype="0" fill="hold" grpId="0" nodeType="withEffect">
                                  <p:stCondLst>
                                    <p:cond delay="128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80"/>
                                        <p:tgtEl>
                                          <p:spTgt spid="18"/>
                                        </p:tgtEl>
                                      </p:cBhvr>
                                    </p:animEffect>
                                  </p:childTnLst>
                                </p:cTn>
                              </p:par>
                              <p:par>
                                <p:cTn id="50" presetID="10" presetClass="entr" presetSubtype="0" fill="hold" grpId="0" nodeType="withEffect">
                                  <p:stCondLst>
                                    <p:cond delay="128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80"/>
                                        <p:tgtEl>
                                          <p:spTgt spid="19"/>
                                        </p:tgtEl>
                                      </p:cBhvr>
                                    </p:animEffect>
                                  </p:childTnLst>
                                </p:cTn>
                              </p:par>
                              <p:par>
                                <p:cTn id="53" presetID="10" presetClass="entr" presetSubtype="0" fill="hold" grpId="0" nodeType="withEffect">
                                  <p:stCondLst>
                                    <p:cond delay="128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80"/>
                                        <p:tgtEl>
                                          <p:spTgt spid="20"/>
                                        </p:tgtEl>
                                      </p:cBhvr>
                                    </p:animEffect>
                                  </p:childTnLst>
                                </p:cTn>
                              </p:par>
                              <p:par>
                                <p:cTn id="56" presetID="10" presetClass="entr" presetSubtype="0" fill="hold" grpId="0" nodeType="withEffect">
                                  <p:stCondLst>
                                    <p:cond delay="128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80"/>
                                        <p:tgtEl>
                                          <p:spTgt spid="21"/>
                                        </p:tgtEl>
                                      </p:cBhvr>
                                    </p:animEffect>
                                  </p:childTnLst>
                                </p:cTn>
                              </p:par>
                              <p:par>
                                <p:cTn id="59" presetID="10" presetClass="entr" presetSubtype="0" fill="hold" grpId="0" nodeType="withEffect">
                                  <p:stCondLst>
                                    <p:cond delay="160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80"/>
                                        <p:tgtEl>
                                          <p:spTgt spid="22"/>
                                        </p:tgtEl>
                                      </p:cBhvr>
                                    </p:animEffect>
                                  </p:childTnLst>
                                </p:cTn>
                              </p:par>
                              <p:par>
                                <p:cTn id="62" presetID="10" presetClass="entr" presetSubtype="0" fill="hold" grpId="0" nodeType="withEffect">
                                  <p:stCondLst>
                                    <p:cond delay="160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80"/>
                                        <p:tgtEl>
                                          <p:spTgt spid="23"/>
                                        </p:tgtEl>
                                      </p:cBhvr>
                                    </p:animEffect>
                                  </p:childTnLst>
                                </p:cTn>
                              </p:par>
                              <p:par>
                                <p:cTn id="65" presetID="10" presetClass="entr" presetSubtype="0" fill="hold" grpId="0" nodeType="withEffect">
                                  <p:stCondLst>
                                    <p:cond delay="16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80"/>
                                        <p:tgtEl>
                                          <p:spTgt spid="24"/>
                                        </p:tgtEl>
                                      </p:cBhvr>
                                    </p:animEffect>
                                  </p:childTnLst>
                                </p:cTn>
                              </p:par>
                              <p:par>
                                <p:cTn id="68" presetID="10" presetClass="entr" presetSubtype="0" fill="hold" grpId="0" nodeType="withEffect">
                                  <p:stCondLst>
                                    <p:cond delay="160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80"/>
                                        <p:tgtEl>
                                          <p:spTgt spid="25"/>
                                        </p:tgtEl>
                                      </p:cBhvr>
                                    </p:animEffect>
                                  </p:childTnLst>
                                </p:cTn>
                              </p:par>
                              <p:par>
                                <p:cTn id="71" presetID="10" presetClass="entr" presetSubtype="0" fill="hold" grpId="0" nodeType="withEffect">
                                  <p:stCondLst>
                                    <p:cond delay="160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80"/>
                                        <p:tgtEl>
                                          <p:spTgt spid="26"/>
                                        </p:tgtEl>
                                      </p:cBhvr>
                                    </p:animEffect>
                                  </p:childTnLst>
                                </p:cTn>
                              </p:par>
                              <p:par>
                                <p:cTn id="74" presetID="10" presetClass="entr" presetSubtype="0" fill="hold" grpId="0" nodeType="withEffect">
                                  <p:stCondLst>
                                    <p:cond delay="192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80"/>
                                        <p:tgtEl>
                                          <p:spTgt spid="27"/>
                                        </p:tgtEl>
                                      </p:cBhvr>
                                    </p:animEffect>
                                  </p:childTnLst>
                                </p:cTn>
                              </p:par>
                              <p:par>
                                <p:cTn id="77" presetID="10" presetClass="entr" presetSubtype="0" fill="hold" grpId="0" nodeType="withEffect">
                                  <p:stCondLst>
                                    <p:cond delay="19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80"/>
                                        <p:tgtEl>
                                          <p:spTgt spid="28"/>
                                        </p:tgtEl>
                                      </p:cBhvr>
                                    </p:animEffect>
                                  </p:childTnLst>
                                </p:cTn>
                              </p:par>
                              <p:par>
                                <p:cTn id="80" presetID="10" presetClass="entr" presetSubtype="0" fill="hold" grpId="0" nodeType="withEffect">
                                  <p:stCondLst>
                                    <p:cond delay="192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80"/>
                                        <p:tgtEl>
                                          <p:spTgt spid="29"/>
                                        </p:tgtEl>
                                      </p:cBhvr>
                                    </p:animEffect>
                                  </p:childTnLst>
                                </p:cTn>
                              </p:par>
                              <p:par>
                                <p:cTn id="83" presetID="10" presetClass="entr" presetSubtype="0" fill="hold" grpId="0" nodeType="withEffect">
                                  <p:stCondLst>
                                    <p:cond delay="224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80"/>
                                        <p:tgtEl>
                                          <p:spTgt spid="32"/>
                                        </p:tgtEl>
                                      </p:cBhvr>
                                    </p:animEffect>
                                  </p:childTnLst>
                                </p:cTn>
                              </p:par>
                              <p:par>
                                <p:cTn id="86" presetID="10" presetClass="entr" presetSubtype="0" fill="hold" grpId="0" nodeType="withEffect">
                                  <p:stCondLst>
                                    <p:cond delay="224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80"/>
                                        <p:tgtEl>
                                          <p:spTgt spid="33"/>
                                        </p:tgtEl>
                                      </p:cBhvr>
                                    </p:animEffect>
                                  </p:childTnLst>
                                </p:cTn>
                              </p:par>
                              <p:par>
                                <p:cTn id="89" presetID="10" presetClass="entr" presetSubtype="0" fill="hold" grpId="0" nodeType="withEffect">
                                  <p:stCondLst>
                                    <p:cond delay="224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80"/>
                                        <p:tgtEl>
                                          <p:spTgt spid="34"/>
                                        </p:tgtEl>
                                      </p:cBhvr>
                                    </p:animEffect>
                                  </p:childTnLst>
                                </p:cTn>
                              </p:par>
                              <p:par>
                                <p:cTn id="92" presetID="10" presetClass="entr" presetSubtype="0" fill="hold" grpId="0" nodeType="withEffect">
                                  <p:stCondLst>
                                    <p:cond delay="224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80"/>
                                        <p:tgtEl>
                                          <p:spTgt spid="35"/>
                                        </p:tgtEl>
                                      </p:cBhvr>
                                    </p:animEffect>
                                  </p:childTnLst>
                                </p:cTn>
                              </p:par>
                              <p:par>
                                <p:cTn id="95" presetID="10" presetClass="entr" presetSubtype="0" fill="hold" grpId="0" nodeType="withEffect">
                                  <p:stCondLst>
                                    <p:cond delay="224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80"/>
                                        <p:tgtEl>
                                          <p:spTgt spid="36"/>
                                        </p:tgtEl>
                                      </p:cBhvr>
                                    </p:animEffect>
                                  </p:childTnLst>
                                </p:cTn>
                              </p:par>
                              <p:par>
                                <p:cTn id="98" presetID="10" presetClass="entr" presetSubtype="0" fill="hold" grpId="0" nodeType="withEffect">
                                  <p:stCondLst>
                                    <p:cond delay="224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80"/>
                                        <p:tgtEl>
                                          <p:spTgt spid="37"/>
                                        </p:tgtEl>
                                      </p:cBhvr>
                                    </p:animEffect>
                                  </p:childTnLst>
                                </p:cTn>
                              </p:par>
                              <p:par>
                                <p:cTn id="101" presetID="10" presetClass="entr" presetSubtype="0" fill="hold" grpId="0" nodeType="withEffect">
                                  <p:stCondLst>
                                    <p:cond delay="224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80"/>
                                        <p:tgtEl>
                                          <p:spTgt spid="38"/>
                                        </p:tgtEl>
                                      </p:cBhvr>
                                    </p:animEffect>
                                  </p:childTnLst>
                                </p:cTn>
                              </p:par>
                              <p:par>
                                <p:cTn id="104" presetID="10" presetClass="entr" presetSubtype="0" fill="hold" grpId="0" nodeType="withEffect">
                                  <p:stCondLst>
                                    <p:cond delay="224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80"/>
                                        <p:tgtEl>
                                          <p:spTgt spid="39"/>
                                        </p:tgtEl>
                                      </p:cBhvr>
                                    </p:animEffect>
                                  </p:childTnLst>
                                </p:cTn>
                              </p:par>
                              <p:par>
                                <p:cTn id="107" presetID="10" presetClass="entr" presetSubtype="0" fill="hold" grpId="0" nodeType="withEffect">
                                  <p:stCondLst>
                                    <p:cond delay="224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80"/>
                                        <p:tgtEl>
                                          <p:spTgt spid="40"/>
                                        </p:tgtEl>
                                      </p:cBhvr>
                                    </p:animEffect>
                                  </p:childTnLst>
                                </p:cTn>
                              </p:par>
                              <p:par>
                                <p:cTn id="110" presetID="10" presetClass="entr" presetSubtype="0" fill="hold" grpId="0" nodeType="withEffect">
                                  <p:stCondLst>
                                    <p:cond delay="224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80"/>
                                        <p:tgtEl>
                                          <p:spTgt spid="41"/>
                                        </p:tgtEl>
                                      </p:cBhvr>
                                    </p:animEffect>
                                  </p:childTnLst>
                                </p:cTn>
                              </p:par>
                              <p:par>
                                <p:cTn id="113" presetID="10" presetClass="entr" presetSubtype="0" fill="hold" grpId="0" nodeType="withEffect">
                                  <p:stCondLst>
                                    <p:cond delay="224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80"/>
                                        <p:tgtEl>
                                          <p:spTgt spid="42"/>
                                        </p:tgtEl>
                                      </p:cBhvr>
                                    </p:animEffect>
                                  </p:childTnLst>
                                </p:cTn>
                              </p:par>
                              <p:par>
                                <p:cTn id="116" presetID="10" presetClass="entr" presetSubtype="0" fill="hold" grpId="0" nodeType="withEffect">
                                  <p:stCondLst>
                                    <p:cond delay="224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8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9"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A0-eyebrow"/>
          <p:cNvSpPr txBox="1"/>
          <p:nvPr/>
        </p:nvSpPr>
        <p:spPr>
          <a:xfrm>
            <a:off x="685800" y="457200"/>
            <a:ext cx="8229600" cy="274320"/>
          </a:xfrm>
          <a:prstGeom prst="rect">
            <a:avLst/>
          </a:prstGeom>
          <a:noFill/>
          <a:ln/>
        </p:spPr>
        <p:txBody>
          <a:bodyPr wrap="square" lIns="0" tIns="0" rIns="0" bIns="0" rtlCol="0" anchor="t"/>
          <a:lstStyle/>
          <a:p>
            <a:pPr indent="0" marL="0">
              <a:buNone/>
            </a:pPr>
            <a:r>
              <a:rPr lang="en-US" sz="1200" spc="300" kern="0" dirty="0">
                <a:solidFill>
                  <a:srgbClr val="0CCCCC"/>
                </a:solidFill>
                <a:latin typeface="Poppins SemiBold" pitchFamily="34" charset="0"/>
                <a:ea typeface="Poppins SemiBold" pitchFamily="34" charset="-122"/>
                <a:cs typeface="Poppins SemiBold" pitchFamily="34" charset="-120"/>
              </a:rPr>
              <a:t>05  ·  THE BUILD WORKFLOW</a:t>
            </a:r>
            <a:endParaRPr lang="en-US" sz="1200" dirty="0"/>
          </a:p>
        </p:txBody>
      </p:sp>
      <p:sp>
        <p:nvSpPr>
          <p:cNvPr id="4" name="Text 1"/>
          <p:cNvSpPr/>
          <p:nvPr>
            <p:ph idx="102" type="title" hasCustomPrompt="1"/>
          </p:nvPr>
        </p:nvSpPr>
        <p:spPr>
          <a:xfrm>
            <a:off x="685800" y="749808"/>
            <a:ext cx="10820095" cy="685800"/>
          </a:xfrm>
          <a:prstGeom prst="rect">
            <a:avLst/>
          </a:prstGeom>
          <a:noFill/>
          <a:ln/>
        </p:spPr>
        <p:txBody>
          <a:bodyPr wrap="square" lIns="0" tIns="0" rIns="0" bIns="0" rtlCol="0" anchor="t"/>
          <a:lstStyle/>
          <a:p>
            <a:pPr algn="l" indent="0" marL="0">
              <a:buNone/>
            </a:pPr>
            <a:r>
              <a:rPr lang="en-US" sz="3600" dirty="0">
                <a:solidFill>
                  <a:srgbClr val="FFFFFF"/>
                </a:solidFill>
                <a:latin typeface="Poppins ExtraBold" pitchFamily="34" charset="0"/>
                <a:ea typeface="Poppins ExtraBold" pitchFamily="34" charset="-122"/>
                <a:cs typeface="Poppins ExtraBold" pitchFamily="34" charset="-120"/>
              </a:rPr>
              <a:t>From Idea to Real Product</a:t>
            </a:r>
            <a:endParaRPr lang="en-US" sz="3600" dirty="0"/>
          </a:p>
        </p:txBody>
      </p:sp>
      <p:sp>
        <p:nvSpPr>
          <p:cNvPr id="5" name="A1-l1"/>
          <p:cNvSpPr txBox="1"/>
          <p:nvPr/>
        </p:nvSpPr>
        <p:spPr>
          <a:xfrm>
            <a:off x="685800" y="1572768"/>
            <a:ext cx="3657600" cy="228600"/>
          </a:xfrm>
          <a:prstGeom prst="rect">
            <a:avLst/>
          </a:prstGeom>
          <a:noFill/>
          <a:ln/>
        </p:spPr>
        <p:txBody>
          <a:bodyPr wrap="square" lIns="0" tIns="0" rIns="0" bIns="0" rtlCol="0" anchor="t"/>
          <a:lstStyle/>
          <a:p>
            <a:pPr indent="0" marL="0">
              <a:buNone/>
            </a:pPr>
            <a:r>
              <a:rPr lang="en-US" sz="1100" spc="300" kern="0" dirty="0">
                <a:solidFill>
                  <a:srgbClr val="0CCCCC"/>
                </a:solidFill>
                <a:latin typeface="Poppins SemiBold" pitchFamily="34" charset="0"/>
                <a:ea typeface="Poppins SemiBold" pitchFamily="34" charset="-122"/>
                <a:cs typeface="Poppins SemiBold" pitchFamily="34" charset="-120"/>
              </a:rPr>
              <a:t>WHERE AI ASSISTS</a:t>
            </a:r>
            <a:endParaRPr lang="en-US" sz="1100" dirty="0"/>
          </a:p>
        </p:txBody>
      </p:sp>
      <p:sp>
        <p:nvSpPr>
          <p:cNvPr id="6" name="A9-l2"/>
          <p:cNvSpPr txBox="1"/>
          <p:nvPr/>
        </p:nvSpPr>
        <p:spPr>
          <a:xfrm>
            <a:off x="685800" y="4160520"/>
            <a:ext cx="3657600" cy="228600"/>
          </a:xfrm>
          <a:prstGeom prst="rect">
            <a:avLst/>
          </a:prstGeom>
          <a:noFill/>
          <a:ln/>
        </p:spPr>
        <p:txBody>
          <a:bodyPr wrap="square" lIns="0" tIns="0" rIns="0" bIns="0" rtlCol="0" anchor="t"/>
          <a:lstStyle/>
          <a:p>
            <a:pPr indent="0" marL="0">
              <a:buNone/>
            </a:pPr>
            <a:r>
              <a:rPr lang="en-US" sz="1100" spc="300" kern="0" dirty="0">
                <a:solidFill>
                  <a:srgbClr val="FF4D4D"/>
                </a:solidFill>
                <a:latin typeface="Poppins SemiBold" pitchFamily="34" charset="0"/>
                <a:ea typeface="Poppins SemiBold" pitchFamily="34" charset="-122"/>
                <a:cs typeface="Poppins SemiBold" pitchFamily="34" charset="-120"/>
              </a:rPr>
              <a:t>WHERE YOU DECIDE</a:t>
            </a:r>
            <a:endParaRPr lang="en-US" sz="1100" dirty="0"/>
          </a:p>
        </p:txBody>
      </p:sp>
      <p:sp>
        <p:nvSpPr>
          <p:cNvPr id="7" name="A1-path"/>
          <p:cNvSpPr/>
          <p:nvPr/>
        </p:nvSpPr>
        <p:spPr>
          <a:xfrm>
            <a:off x="1399032" y="3273552"/>
            <a:ext cx="9393631" cy="914"/>
          </a:xfrm>
          <a:prstGeom prst="line">
            <a:avLst/>
          </a:prstGeom>
          <a:noFill/>
          <a:ln w="25400">
            <a:solidFill>
              <a:srgbClr val="01A3A3"/>
            </a:solidFill>
            <a:prstDash val="solid"/>
          </a:ln>
        </p:spPr>
      </p:sp>
      <p:sp>
        <p:nvSpPr>
          <p:cNvPr id="8" name="A2-ai"/>
          <p:cNvSpPr/>
          <p:nvPr/>
        </p:nvSpPr>
        <p:spPr>
          <a:xfrm>
            <a:off x="685800" y="1828800"/>
            <a:ext cx="1426464" cy="896112"/>
          </a:xfrm>
          <a:prstGeom prst="roundRect">
            <a:avLst>
              <a:gd name="adj" fmla="val 10204"/>
            </a:avLst>
          </a:prstGeom>
          <a:solidFill>
            <a:srgbClr val="0B2224"/>
          </a:solidFill>
          <a:ln w="9525">
            <a:solidFill>
              <a:srgbClr val="145456"/>
            </a:solidFill>
            <a:prstDash val="solid"/>
          </a:ln>
        </p:spPr>
      </p:sp>
      <p:pic>
        <p:nvPicPr>
          <p:cNvPr id="9" name="A2-aiI" descr="preencoded.png">    </p:cNvPr>
          <p:cNvPicPr>
            <a:picLocks noChangeAspect="1"/>
          </p:cNvPicPr>
          <p:nvPr/>
        </p:nvPicPr>
        <p:blipFill>
          <a:blip r:embed="rId1"/>
          <a:stretch>
            <a:fillRect/>
          </a:stretch>
        </p:blipFill>
        <p:spPr>
          <a:xfrm>
            <a:off x="804672" y="1938528"/>
            <a:ext cx="182880" cy="182880"/>
          </a:xfrm>
          <a:prstGeom prst="rect">
            <a:avLst/>
          </a:prstGeom>
        </p:spPr>
      </p:pic>
      <p:sp>
        <p:nvSpPr>
          <p:cNvPr id="10" name="A2-aiT"/>
          <p:cNvSpPr txBox="1"/>
          <p:nvPr/>
        </p:nvSpPr>
        <p:spPr>
          <a:xfrm>
            <a:off x="804672" y="2176272"/>
            <a:ext cx="1207008" cy="493776"/>
          </a:xfrm>
          <a:prstGeom prst="rect">
            <a:avLst/>
          </a:prstGeom>
          <a:noFill/>
          <a:ln/>
        </p:spPr>
        <p:txBody>
          <a:bodyPr wrap="square" lIns="0" tIns="0" rIns="0" bIns="0" rtlCol="0" anchor="t"/>
          <a:lstStyle/>
          <a:p>
            <a:pPr indent="0" marL="0">
              <a:buNone/>
            </a:pPr>
            <a:r>
              <a:rPr lang="en-US" sz="1100" dirty="0">
                <a:solidFill>
                  <a:srgbClr val="CFE9E9"/>
                </a:solidFill>
                <a:latin typeface="Poppins" pitchFamily="34" charset="0"/>
                <a:ea typeface="Poppins" pitchFamily="34" charset="-122"/>
                <a:cs typeface="Poppins" pitchFamily="34" charset="-120"/>
              </a:rPr>
              <a:t>Brainstorm ideas and questions</a:t>
            </a:r>
            <a:endParaRPr lang="en-US" sz="1100" dirty="0"/>
          </a:p>
        </p:txBody>
      </p:sp>
      <p:sp>
        <p:nvSpPr>
          <p:cNvPr id="11" name="A2-n"/>
          <p:cNvSpPr/>
          <p:nvPr/>
        </p:nvSpPr>
        <p:spPr>
          <a:xfrm>
            <a:off x="1014984" y="2889504"/>
            <a:ext cx="768096" cy="768096"/>
          </a:xfrm>
          <a:prstGeom prst="roundRect">
            <a:avLst>
              <a:gd name="adj" fmla="val 23810"/>
            </a:avLst>
          </a:prstGeom>
          <a:solidFill>
            <a:srgbClr val="122021"/>
          </a:solidFill>
          <a:ln w="15875">
            <a:solidFill>
              <a:srgbClr val="01A3A3"/>
            </a:solidFill>
            <a:prstDash val="solid"/>
          </a:ln>
        </p:spPr>
      </p:sp>
      <p:pic>
        <p:nvPicPr>
          <p:cNvPr id="12" name="A2-nI" descr="preencoded.png">    </p:cNvPr>
          <p:cNvPicPr>
            <a:picLocks noChangeAspect="1"/>
          </p:cNvPicPr>
          <p:nvPr/>
        </p:nvPicPr>
        <p:blipFill>
          <a:blip r:embed="rId2"/>
          <a:stretch>
            <a:fillRect/>
          </a:stretch>
        </p:blipFill>
        <p:spPr>
          <a:xfrm>
            <a:off x="1207008" y="3090672"/>
            <a:ext cx="384048" cy="384048"/>
          </a:xfrm>
          <a:prstGeom prst="rect">
            <a:avLst/>
          </a:prstGeom>
        </p:spPr>
      </p:pic>
      <p:sp>
        <p:nvSpPr>
          <p:cNvPr id="13" name="A2-nT"/>
          <p:cNvSpPr txBox="1"/>
          <p:nvPr/>
        </p:nvSpPr>
        <p:spPr>
          <a:xfrm>
            <a:off x="594360" y="3730752"/>
            <a:ext cx="1609344" cy="320040"/>
          </a:xfrm>
          <a:prstGeom prst="rect">
            <a:avLst/>
          </a:prstGeom>
          <a:noFill/>
          <a:ln/>
        </p:spPr>
        <p:txBody>
          <a:bodyPr wrap="square" lIns="0" tIns="0" rIns="0" bIns="0" rtlCol="0" anchor="t"/>
          <a:lstStyle/>
          <a:p>
            <a:pPr algn="ctr" indent="0" marL="0">
              <a:buNone/>
            </a:pPr>
            <a:r>
              <a:rPr lang="en-US" sz="1500" dirty="0">
                <a:solidFill>
                  <a:srgbClr val="FFFFFF"/>
                </a:solidFill>
                <a:latin typeface="Poppins SemiBold" pitchFamily="34" charset="0"/>
                <a:ea typeface="Poppins SemiBold" pitchFamily="34" charset="-122"/>
                <a:cs typeface="Poppins SemiBold" pitchFamily="34" charset="-120"/>
              </a:rPr>
              <a:t>Idea</a:t>
            </a:r>
            <a:endParaRPr lang="en-US" sz="1500" dirty="0"/>
          </a:p>
        </p:txBody>
      </p:sp>
      <p:sp>
        <p:nvSpPr>
          <p:cNvPr id="14" name="A9-h0"/>
          <p:cNvSpPr/>
          <p:nvPr/>
        </p:nvSpPr>
        <p:spPr>
          <a:xfrm>
            <a:off x="685800" y="4416552"/>
            <a:ext cx="1426464" cy="896112"/>
          </a:xfrm>
          <a:prstGeom prst="roundRect">
            <a:avLst>
              <a:gd name="adj" fmla="val 10204"/>
            </a:avLst>
          </a:prstGeom>
          <a:solidFill>
            <a:srgbClr val="2A1416"/>
          </a:solidFill>
          <a:ln w="9525">
            <a:solidFill>
              <a:srgbClr val="6B2A2D"/>
            </a:solidFill>
            <a:prstDash val="solid"/>
          </a:ln>
        </p:spPr>
      </p:sp>
      <p:pic>
        <p:nvPicPr>
          <p:cNvPr id="15" name="A9-hI0" descr="preencoded.png">    </p:cNvPr>
          <p:cNvPicPr>
            <a:picLocks noChangeAspect="1"/>
          </p:cNvPicPr>
          <p:nvPr/>
        </p:nvPicPr>
        <p:blipFill>
          <a:blip r:embed="rId3"/>
          <a:stretch>
            <a:fillRect/>
          </a:stretch>
        </p:blipFill>
        <p:spPr>
          <a:xfrm>
            <a:off x="804672" y="4526280"/>
            <a:ext cx="182880" cy="182880"/>
          </a:xfrm>
          <a:prstGeom prst="rect">
            <a:avLst/>
          </a:prstGeom>
        </p:spPr>
      </p:pic>
      <p:sp>
        <p:nvSpPr>
          <p:cNvPr id="16" name="A9-hT0"/>
          <p:cNvSpPr txBox="1"/>
          <p:nvPr/>
        </p:nvSpPr>
        <p:spPr>
          <a:xfrm>
            <a:off x="804672" y="4764024"/>
            <a:ext cx="1207008" cy="493776"/>
          </a:xfrm>
          <a:prstGeom prst="rect">
            <a:avLst/>
          </a:prstGeom>
          <a:noFill/>
          <a:ln/>
        </p:spPr>
        <p:txBody>
          <a:bodyPr wrap="square" lIns="0" tIns="0" rIns="0" bIns="0" rtlCol="0" anchor="t"/>
          <a:lstStyle/>
          <a:p>
            <a:pPr indent="0" marL="0">
              <a:buNone/>
            </a:pPr>
            <a:r>
              <a:rPr lang="en-US" sz="1100" dirty="0">
                <a:solidFill>
                  <a:srgbClr val="F6D9D9"/>
                </a:solidFill>
                <a:latin typeface="Poppins" pitchFamily="34" charset="0"/>
                <a:ea typeface="Poppins" pitchFamily="34" charset="-122"/>
                <a:cs typeface="Poppins" pitchFamily="34" charset="-120"/>
              </a:rPr>
              <a:t>Is this problem worth solving?</a:t>
            </a:r>
            <a:endParaRPr lang="en-US" sz="1100" dirty="0"/>
          </a:p>
        </p:txBody>
      </p:sp>
      <p:sp>
        <p:nvSpPr>
          <p:cNvPr id="17" name="A3-ai"/>
          <p:cNvSpPr/>
          <p:nvPr/>
        </p:nvSpPr>
        <p:spPr>
          <a:xfrm>
            <a:off x="2251405" y="1828800"/>
            <a:ext cx="1426464" cy="896112"/>
          </a:xfrm>
          <a:prstGeom prst="roundRect">
            <a:avLst>
              <a:gd name="adj" fmla="val 10204"/>
            </a:avLst>
          </a:prstGeom>
          <a:solidFill>
            <a:srgbClr val="0B2224"/>
          </a:solidFill>
          <a:ln w="9525">
            <a:solidFill>
              <a:srgbClr val="145456"/>
            </a:solidFill>
            <a:prstDash val="solid"/>
          </a:ln>
        </p:spPr>
      </p:sp>
      <p:pic>
        <p:nvPicPr>
          <p:cNvPr id="18" name="A3-aiI" descr="preencoded.png">    </p:cNvPr>
          <p:cNvPicPr>
            <a:picLocks noChangeAspect="1"/>
          </p:cNvPicPr>
          <p:nvPr/>
        </p:nvPicPr>
        <p:blipFill>
          <a:blip r:embed="rId4"/>
          <a:stretch>
            <a:fillRect/>
          </a:stretch>
        </p:blipFill>
        <p:spPr>
          <a:xfrm>
            <a:off x="2370277" y="1938528"/>
            <a:ext cx="182880" cy="182880"/>
          </a:xfrm>
          <a:prstGeom prst="rect">
            <a:avLst/>
          </a:prstGeom>
        </p:spPr>
      </p:pic>
      <p:sp>
        <p:nvSpPr>
          <p:cNvPr id="19" name="A3-aiT"/>
          <p:cNvSpPr txBox="1"/>
          <p:nvPr/>
        </p:nvSpPr>
        <p:spPr>
          <a:xfrm>
            <a:off x="2370277" y="2176272"/>
            <a:ext cx="1207008" cy="493776"/>
          </a:xfrm>
          <a:prstGeom prst="rect">
            <a:avLst/>
          </a:prstGeom>
          <a:noFill/>
          <a:ln/>
        </p:spPr>
        <p:txBody>
          <a:bodyPr wrap="square" lIns="0" tIns="0" rIns="0" bIns="0" rtlCol="0" anchor="t"/>
          <a:lstStyle/>
          <a:p>
            <a:pPr indent="0" marL="0">
              <a:buNone/>
            </a:pPr>
            <a:r>
              <a:rPr lang="en-US" sz="1100" dirty="0">
                <a:solidFill>
                  <a:srgbClr val="CFE9E9"/>
                </a:solidFill>
                <a:latin typeface="Poppins" pitchFamily="34" charset="0"/>
                <a:ea typeface="Poppins" pitchFamily="34" charset="-122"/>
                <a:cs typeface="Poppins" pitchFamily="34" charset="-120"/>
              </a:rPr>
              <a:t>Summarize the competition</a:t>
            </a:r>
            <a:endParaRPr lang="en-US" sz="1100" dirty="0"/>
          </a:p>
        </p:txBody>
      </p:sp>
      <p:sp>
        <p:nvSpPr>
          <p:cNvPr id="20" name="A3-n"/>
          <p:cNvSpPr/>
          <p:nvPr/>
        </p:nvSpPr>
        <p:spPr>
          <a:xfrm>
            <a:off x="2580589" y="2889504"/>
            <a:ext cx="768096" cy="768096"/>
          </a:xfrm>
          <a:prstGeom prst="roundRect">
            <a:avLst>
              <a:gd name="adj" fmla="val 23810"/>
            </a:avLst>
          </a:prstGeom>
          <a:solidFill>
            <a:srgbClr val="122021"/>
          </a:solidFill>
          <a:ln w="15875">
            <a:solidFill>
              <a:srgbClr val="01A3A3"/>
            </a:solidFill>
            <a:prstDash val="solid"/>
          </a:ln>
        </p:spPr>
      </p:sp>
      <p:pic>
        <p:nvPicPr>
          <p:cNvPr id="21" name="A3-nI" descr="preencoded.png">    </p:cNvPr>
          <p:cNvPicPr>
            <a:picLocks noChangeAspect="1"/>
          </p:cNvPicPr>
          <p:nvPr/>
        </p:nvPicPr>
        <p:blipFill>
          <a:blip r:embed="rId5"/>
          <a:stretch>
            <a:fillRect/>
          </a:stretch>
        </p:blipFill>
        <p:spPr>
          <a:xfrm>
            <a:off x="2772613" y="3090672"/>
            <a:ext cx="384048" cy="384048"/>
          </a:xfrm>
          <a:prstGeom prst="rect">
            <a:avLst/>
          </a:prstGeom>
        </p:spPr>
      </p:pic>
      <p:sp>
        <p:nvSpPr>
          <p:cNvPr id="22" name="A3-nT"/>
          <p:cNvSpPr txBox="1"/>
          <p:nvPr/>
        </p:nvSpPr>
        <p:spPr>
          <a:xfrm>
            <a:off x="2159965" y="3730752"/>
            <a:ext cx="1609344" cy="320040"/>
          </a:xfrm>
          <a:prstGeom prst="rect">
            <a:avLst/>
          </a:prstGeom>
          <a:noFill/>
          <a:ln/>
        </p:spPr>
        <p:txBody>
          <a:bodyPr wrap="square" lIns="0" tIns="0" rIns="0" bIns="0" rtlCol="0" anchor="t"/>
          <a:lstStyle/>
          <a:p>
            <a:pPr algn="ctr" indent="0" marL="0">
              <a:buNone/>
            </a:pPr>
            <a:r>
              <a:rPr lang="en-US" sz="1500" dirty="0">
                <a:solidFill>
                  <a:srgbClr val="FFFFFF"/>
                </a:solidFill>
                <a:latin typeface="Poppins SemiBold" pitchFamily="34" charset="0"/>
                <a:ea typeface="Poppins SemiBold" pitchFamily="34" charset="-122"/>
                <a:cs typeface="Poppins SemiBold" pitchFamily="34" charset="-120"/>
              </a:rPr>
              <a:t>Research</a:t>
            </a:r>
            <a:endParaRPr lang="en-US" sz="1500" dirty="0"/>
          </a:p>
        </p:txBody>
      </p:sp>
      <p:sp>
        <p:nvSpPr>
          <p:cNvPr id="23" name="A9-h1"/>
          <p:cNvSpPr/>
          <p:nvPr/>
        </p:nvSpPr>
        <p:spPr>
          <a:xfrm>
            <a:off x="2251405" y="4416552"/>
            <a:ext cx="1426464" cy="896112"/>
          </a:xfrm>
          <a:prstGeom prst="roundRect">
            <a:avLst>
              <a:gd name="adj" fmla="val 10204"/>
            </a:avLst>
          </a:prstGeom>
          <a:solidFill>
            <a:srgbClr val="2A1416"/>
          </a:solidFill>
          <a:ln w="9525">
            <a:solidFill>
              <a:srgbClr val="6B2A2D"/>
            </a:solidFill>
            <a:prstDash val="solid"/>
          </a:ln>
        </p:spPr>
      </p:sp>
      <p:pic>
        <p:nvPicPr>
          <p:cNvPr id="24" name="A9-hI1" descr="preencoded.png">    </p:cNvPr>
          <p:cNvPicPr>
            <a:picLocks noChangeAspect="1"/>
          </p:cNvPicPr>
          <p:nvPr/>
        </p:nvPicPr>
        <p:blipFill>
          <a:blip r:embed="rId6"/>
          <a:stretch>
            <a:fillRect/>
          </a:stretch>
        </p:blipFill>
        <p:spPr>
          <a:xfrm>
            <a:off x="2370277" y="4526280"/>
            <a:ext cx="182880" cy="182880"/>
          </a:xfrm>
          <a:prstGeom prst="rect">
            <a:avLst/>
          </a:prstGeom>
        </p:spPr>
      </p:pic>
      <p:sp>
        <p:nvSpPr>
          <p:cNvPr id="25" name="A9-hT1"/>
          <p:cNvSpPr txBox="1"/>
          <p:nvPr/>
        </p:nvSpPr>
        <p:spPr>
          <a:xfrm>
            <a:off x="2370277" y="4764024"/>
            <a:ext cx="1207008" cy="493776"/>
          </a:xfrm>
          <a:prstGeom prst="rect">
            <a:avLst/>
          </a:prstGeom>
          <a:noFill/>
          <a:ln/>
        </p:spPr>
        <p:txBody>
          <a:bodyPr wrap="square" lIns="0" tIns="0" rIns="0" bIns="0" rtlCol="0" anchor="t"/>
          <a:lstStyle/>
          <a:p>
            <a:pPr indent="0" marL="0">
              <a:buNone/>
            </a:pPr>
            <a:r>
              <a:rPr lang="en-US" sz="1100" dirty="0">
                <a:solidFill>
                  <a:srgbClr val="F6D9D9"/>
                </a:solidFill>
                <a:latin typeface="Poppins" pitchFamily="34" charset="0"/>
                <a:ea typeface="Poppins" pitchFamily="34" charset="-122"/>
                <a:cs typeface="Poppins" pitchFamily="34" charset="-120"/>
              </a:rPr>
              <a:t>Which sources are true?</a:t>
            </a:r>
            <a:endParaRPr lang="en-US" sz="1100" dirty="0"/>
          </a:p>
        </p:txBody>
      </p:sp>
      <p:sp>
        <p:nvSpPr>
          <p:cNvPr id="26" name="A4-ai"/>
          <p:cNvSpPr/>
          <p:nvPr/>
        </p:nvSpPr>
        <p:spPr>
          <a:xfrm>
            <a:off x="3817010" y="1828800"/>
            <a:ext cx="1426464" cy="896112"/>
          </a:xfrm>
          <a:prstGeom prst="roundRect">
            <a:avLst>
              <a:gd name="adj" fmla="val 10204"/>
            </a:avLst>
          </a:prstGeom>
          <a:solidFill>
            <a:srgbClr val="0B2224"/>
          </a:solidFill>
          <a:ln w="9525">
            <a:solidFill>
              <a:srgbClr val="145456"/>
            </a:solidFill>
            <a:prstDash val="solid"/>
          </a:ln>
        </p:spPr>
      </p:sp>
      <p:pic>
        <p:nvPicPr>
          <p:cNvPr id="27" name="A4-aiI" descr="preencoded.png">    </p:cNvPr>
          <p:cNvPicPr>
            <a:picLocks noChangeAspect="1"/>
          </p:cNvPicPr>
          <p:nvPr/>
        </p:nvPicPr>
        <p:blipFill>
          <a:blip r:embed="rId7"/>
          <a:stretch>
            <a:fillRect/>
          </a:stretch>
        </p:blipFill>
        <p:spPr>
          <a:xfrm>
            <a:off x="3935882" y="1938528"/>
            <a:ext cx="182880" cy="182880"/>
          </a:xfrm>
          <a:prstGeom prst="rect">
            <a:avLst/>
          </a:prstGeom>
        </p:spPr>
      </p:pic>
      <p:sp>
        <p:nvSpPr>
          <p:cNvPr id="28" name="A4-aiT"/>
          <p:cNvSpPr txBox="1"/>
          <p:nvPr/>
        </p:nvSpPr>
        <p:spPr>
          <a:xfrm>
            <a:off x="3935882" y="2176272"/>
            <a:ext cx="1207008" cy="493776"/>
          </a:xfrm>
          <a:prstGeom prst="rect">
            <a:avLst/>
          </a:prstGeom>
          <a:noFill/>
          <a:ln/>
        </p:spPr>
        <p:txBody>
          <a:bodyPr wrap="square" lIns="0" tIns="0" rIns="0" bIns="0" rtlCol="0" anchor="t"/>
          <a:lstStyle/>
          <a:p>
            <a:pPr indent="0" marL="0">
              <a:buNone/>
            </a:pPr>
            <a:r>
              <a:rPr lang="en-US" sz="1100" dirty="0">
                <a:solidFill>
                  <a:srgbClr val="CFE9E9"/>
                </a:solidFill>
                <a:latin typeface="Poppins" pitchFamily="34" charset="0"/>
                <a:ea typeface="Poppins" pitchFamily="34" charset="-122"/>
                <a:cs typeface="Poppins" pitchFamily="34" charset="-120"/>
              </a:rPr>
              <a:t>Draft schema and seed data</a:t>
            </a:r>
            <a:endParaRPr lang="en-US" sz="1100" dirty="0"/>
          </a:p>
        </p:txBody>
      </p:sp>
      <p:sp>
        <p:nvSpPr>
          <p:cNvPr id="29" name="A4-n"/>
          <p:cNvSpPr/>
          <p:nvPr/>
        </p:nvSpPr>
        <p:spPr>
          <a:xfrm>
            <a:off x="4146194" y="2889504"/>
            <a:ext cx="768096" cy="768096"/>
          </a:xfrm>
          <a:prstGeom prst="roundRect">
            <a:avLst>
              <a:gd name="adj" fmla="val 23810"/>
            </a:avLst>
          </a:prstGeom>
          <a:solidFill>
            <a:srgbClr val="122021"/>
          </a:solidFill>
          <a:ln w="15875">
            <a:solidFill>
              <a:srgbClr val="01A3A3"/>
            </a:solidFill>
            <a:prstDash val="solid"/>
          </a:ln>
        </p:spPr>
      </p:sp>
      <p:pic>
        <p:nvPicPr>
          <p:cNvPr id="30" name="A4-nI" descr="preencoded.png">    </p:cNvPr>
          <p:cNvPicPr>
            <a:picLocks noChangeAspect="1"/>
          </p:cNvPicPr>
          <p:nvPr/>
        </p:nvPicPr>
        <p:blipFill>
          <a:blip r:embed="rId8"/>
          <a:stretch>
            <a:fillRect/>
          </a:stretch>
        </p:blipFill>
        <p:spPr>
          <a:xfrm>
            <a:off x="4338218" y="3090672"/>
            <a:ext cx="384048" cy="384048"/>
          </a:xfrm>
          <a:prstGeom prst="rect">
            <a:avLst/>
          </a:prstGeom>
        </p:spPr>
      </p:pic>
      <p:sp>
        <p:nvSpPr>
          <p:cNvPr id="31" name="A4-nT"/>
          <p:cNvSpPr txBox="1"/>
          <p:nvPr/>
        </p:nvSpPr>
        <p:spPr>
          <a:xfrm>
            <a:off x="3725570" y="3730752"/>
            <a:ext cx="1609344" cy="320040"/>
          </a:xfrm>
          <a:prstGeom prst="rect">
            <a:avLst/>
          </a:prstGeom>
          <a:noFill/>
          <a:ln/>
        </p:spPr>
        <p:txBody>
          <a:bodyPr wrap="square" lIns="0" tIns="0" rIns="0" bIns="0" rtlCol="0" anchor="t"/>
          <a:lstStyle/>
          <a:p>
            <a:pPr algn="ctr" indent="0" marL="0">
              <a:buNone/>
            </a:pPr>
            <a:r>
              <a:rPr lang="en-US" sz="1500" dirty="0">
                <a:solidFill>
                  <a:srgbClr val="FFFFFF"/>
                </a:solidFill>
                <a:latin typeface="Poppins SemiBold" pitchFamily="34" charset="0"/>
                <a:ea typeface="Poppins SemiBold" pitchFamily="34" charset="-122"/>
                <a:cs typeface="Poppins SemiBold" pitchFamily="34" charset="-120"/>
              </a:rPr>
              <a:t>Database</a:t>
            </a:r>
            <a:endParaRPr lang="en-US" sz="1500" dirty="0"/>
          </a:p>
        </p:txBody>
      </p:sp>
      <p:sp>
        <p:nvSpPr>
          <p:cNvPr id="32" name="A9-h2"/>
          <p:cNvSpPr/>
          <p:nvPr/>
        </p:nvSpPr>
        <p:spPr>
          <a:xfrm>
            <a:off x="3817010" y="4416552"/>
            <a:ext cx="1426464" cy="896112"/>
          </a:xfrm>
          <a:prstGeom prst="roundRect">
            <a:avLst>
              <a:gd name="adj" fmla="val 10204"/>
            </a:avLst>
          </a:prstGeom>
          <a:solidFill>
            <a:srgbClr val="2A1416"/>
          </a:solidFill>
          <a:ln w="9525">
            <a:solidFill>
              <a:srgbClr val="6B2A2D"/>
            </a:solidFill>
            <a:prstDash val="solid"/>
          </a:ln>
        </p:spPr>
      </p:sp>
      <p:pic>
        <p:nvPicPr>
          <p:cNvPr id="33" name="A9-hI2" descr="preencoded.png">    </p:cNvPr>
          <p:cNvPicPr>
            <a:picLocks noChangeAspect="1"/>
          </p:cNvPicPr>
          <p:nvPr/>
        </p:nvPicPr>
        <p:blipFill>
          <a:blip r:embed="rId9"/>
          <a:stretch>
            <a:fillRect/>
          </a:stretch>
        </p:blipFill>
        <p:spPr>
          <a:xfrm>
            <a:off x="3935882" y="4526280"/>
            <a:ext cx="182880" cy="182880"/>
          </a:xfrm>
          <a:prstGeom prst="rect">
            <a:avLst/>
          </a:prstGeom>
        </p:spPr>
      </p:pic>
      <p:sp>
        <p:nvSpPr>
          <p:cNvPr id="34" name="A9-hT2"/>
          <p:cNvSpPr txBox="1"/>
          <p:nvPr/>
        </p:nvSpPr>
        <p:spPr>
          <a:xfrm>
            <a:off x="3935882" y="4764024"/>
            <a:ext cx="1207008" cy="493776"/>
          </a:xfrm>
          <a:prstGeom prst="rect">
            <a:avLst/>
          </a:prstGeom>
          <a:noFill/>
          <a:ln/>
        </p:spPr>
        <p:txBody>
          <a:bodyPr wrap="square" lIns="0" tIns="0" rIns="0" bIns="0" rtlCol="0" anchor="t"/>
          <a:lstStyle/>
          <a:p>
            <a:pPr indent="0" marL="0">
              <a:buNone/>
            </a:pPr>
            <a:r>
              <a:rPr lang="en-US" sz="1100" dirty="0">
                <a:solidFill>
                  <a:srgbClr val="F6D9D9"/>
                </a:solidFill>
                <a:latin typeface="Poppins" pitchFamily="34" charset="0"/>
                <a:ea typeface="Poppins" pitchFamily="34" charset="-122"/>
                <a:cs typeface="Poppins" pitchFamily="34" charset="-120"/>
              </a:rPr>
              <a:t>Keys, relations, constraints</a:t>
            </a:r>
            <a:endParaRPr lang="en-US" sz="1100" dirty="0"/>
          </a:p>
        </p:txBody>
      </p:sp>
      <p:sp>
        <p:nvSpPr>
          <p:cNvPr id="35" name="A5-ai"/>
          <p:cNvSpPr/>
          <p:nvPr/>
        </p:nvSpPr>
        <p:spPr>
          <a:xfrm>
            <a:off x="5382616" y="1828800"/>
            <a:ext cx="1426464" cy="896112"/>
          </a:xfrm>
          <a:prstGeom prst="roundRect">
            <a:avLst>
              <a:gd name="adj" fmla="val 10204"/>
            </a:avLst>
          </a:prstGeom>
          <a:solidFill>
            <a:srgbClr val="0B2224"/>
          </a:solidFill>
          <a:ln w="9525">
            <a:solidFill>
              <a:srgbClr val="145456"/>
            </a:solidFill>
            <a:prstDash val="solid"/>
          </a:ln>
        </p:spPr>
      </p:sp>
      <p:pic>
        <p:nvPicPr>
          <p:cNvPr id="36" name="A5-aiI" descr="preencoded.png">    </p:cNvPr>
          <p:cNvPicPr>
            <a:picLocks noChangeAspect="1"/>
          </p:cNvPicPr>
          <p:nvPr/>
        </p:nvPicPr>
        <p:blipFill>
          <a:blip r:embed="rId10"/>
          <a:stretch>
            <a:fillRect/>
          </a:stretch>
        </p:blipFill>
        <p:spPr>
          <a:xfrm>
            <a:off x="5501488" y="1938528"/>
            <a:ext cx="182880" cy="182880"/>
          </a:xfrm>
          <a:prstGeom prst="rect">
            <a:avLst/>
          </a:prstGeom>
        </p:spPr>
      </p:pic>
      <p:sp>
        <p:nvSpPr>
          <p:cNvPr id="37" name="A5-aiT"/>
          <p:cNvSpPr txBox="1"/>
          <p:nvPr/>
        </p:nvSpPr>
        <p:spPr>
          <a:xfrm>
            <a:off x="5501488" y="2176272"/>
            <a:ext cx="1207008" cy="493776"/>
          </a:xfrm>
          <a:prstGeom prst="rect">
            <a:avLst/>
          </a:prstGeom>
          <a:noFill/>
          <a:ln/>
        </p:spPr>
        <p:txBody>
          <a:bodyPr wrap="square" lIns="0" tIns="0" rIns="0" bIns="0" rtlCol="0" anchor="t"/>
          <a:lstStyle/>
          <a:p>
            <a:pPr indent="0" marL="0">
              <a:buNone/>
            </a:pPr>
            <a:r>
              <a:rPr lang="en-US" sz="1100" dirty="0">
                <a:solidFill>
                  <a:srgbClr val="CFE9E9"/>
                </a:solidFill>
                <a:latin typeface="Poppins" pitchFamily="34" charset="0"/>
                <a:ea typeface="Poppins" pitchFamily="34" charset="-122"/>
                <a:cs typeface="Poppins" pitchFamily="34" charset="-120"/>
              </a:rPr>
              <a:t>Boilerplate and unit tests</a:t>
            </a:r>
            <a:endParaRPr lang="en-US" sz="1100" dirty="0"/>
          </a:p>
        </p:txBody>
      </p:sp>
      <p:sp>
        <p:nvSpPr>
          <p:cNvPr id="38" name="A5-n"/>
          <p:cNvSpPr/>
          <p:nvPr/>
        </p:nvSpPr>
        <p:spPr>
          <a:xfrm>
            <a:off x="5711800" y="2889504"/>
            <a:ext cx="768096" cy="768096"/>
          </a:xfrm>
          <a:prstGeom prst="roundRect">
            <a:avLst>
              <a:gd name="adj" fmla="val 23810"/>
            </a:avLst>
          </a:prstGeom>
          <a:solidFill>
            <a:srgbClr val="122021"/>
          </a:solidFill>
          <a:ln w="15875">
            <a:solidFill>
              <a:srgbClr val="01A3A3"/>
            </a:solidFill>
            <a:prstDash val="solid"/>
          </a:ln>
        </p:spPr>
      </p:sp>
      <p:pic>
        <p:nvPicPr>
          <p:cNvPr id="39" name="A5-nI" descr="preencoded.png">    </p:cNvPr>
          <p:cNvPicPr>
            <a:picLocks noChangeAspect="1"/>
          </p:cNvPicPr>
          <p:nvPr/>
        </p:nvPicPr>
        <p:blipFill>
          <a:blip r:embed="rId11"/>
          <a:stretch>
            <a:fillRect/>
          </a:stretch>
        </p:blipFill>
        <p:spPr>
          <a:xfrm>
            <a:off x="5903824" y="3090672"/>
            <a:ext cx="384048" cy="384048"/>
          </a:xfrm>
          <a:prstGeom prst="rect">
            <a:avLst/>
          </a:prstGeom>
        </p:spPr>
      </p:pic>
      <p:sp>
        <p:nvSpPr>
          <p:cNvPr id="40" name="A5-nT"/>
          <p:cNvSpPr txBox="1"/>
          <p:nvPr/>
        </p:nvSpPr>
        <p:spPr>
          <a:xfrm>
            <a:off x="5291176" y="3730752"/>
            <a:ext cx="1609344" cy="320040"/>
          </a:xfrm>
          <a:prstGeom prst="rect">
            <a:avLst/>
          </a:prstGeom>
          <a:noFill/>
          <a:ln/>
        </p:spPr>
        <p:txBody>
          <a:bodyPr wrap="square" lIns="0" tIns="0" rIns="0" bIns="0" rtlCol="0" anchor="t"/>
          <a:lstStyle/>
          <a:p>
            <a:pPr algn="ctr" indent="0" marL="0">
              <a:buNone/>
            </a:pPr>
            <a:r>
              <a:rPr lang="en-US" sz="1500" dirty="0">
                <a:solidFill>
                  <a:srgbClr val="FFFFFF"/>
                </a:solidFill>
                <a:latin typeface="Poppins SemiBold" pitchFamily="34" charset="0"/>
                <a:ea typeface="Poppins SemiBold" pitchFamily="34" charset="-122"/>
                <a:cs typeface="Poppins SemiBold" pitchFamily="34" charset="-120"/>
              </a:rPr>
              <a:t>Backend</a:t>
            </a:r>
            <a:endParaRPr lang="en-US" sz="1500" dirty="0"/>
          </a:p>
        </p:txBody>
      </p:sp>
      <p:sp>
        <p:nvSpPr>
          <p:cNvPr id="41" name="A9-h3"/>
          <p:cNvSpPr/>
          <p:nvPr/>
        </p:nvSpPr>
        <p:spPr>
          <a:xfrm>
            <a:off x="5382616" y="4416552"/>
            <a:ext cx="1426464" cy="896112"/>
          </a:xfrm>
          <a:prstGeom prst="roundRect">
            <a:avLst>
              <a:gd name="adj" fmla="val 10204"/>
            </a:avLst>
          </a:prstGeom>
          <a:solidFill>
            <a:srgbClr val="2A1416"/>
          </a:solidFill>
          <a:ln w="9525">
            <a:solidFill>
              <a:srgbClr val="6B2A2D"/>
            </a:solidFill>
            <a:prstDash val="solid"/>
          </a:ln>
        </p:spPr>
      </p:sp>
      <p:pic>
        <p:nvPicPr>
          <p:cNvPr id="42" name="A9-hI3" descr="preencoded.png">    </p:cNvPr>
          <p:cNvPicPr>
            <a:picLocks noChangeAspect="1"/>
          </p:cNvPicPr>
          <p:nvPr/>
        </p:nvPicPr>
        <p:blipFill>
          <a:blip r:embed="rId12"/>
          <a:stretch>
            <a:fillRect/>
          </a:stretch>
        </p:blipFill>
        <p:spPr>
          <a:xfrm>
            <a:off x="5501488" y="4526280"/>
            <a:ext cx="182880" cy="182880"/>
          </a:xfrm>
          <a:prstGeom prst="rect">
            <a:avLst/>
          </a:prstGeom>
        </p:spPr>
      </p:pic>
      <p:sp>
        <p:nvSpPr>
          <p:cNvPr id="43" name="A9-hT3"/>
          <p:cNvSpPr txBox="1"/>
          <p:nvPr/>
        </p:nvSpPr>
        <p:spPr>
          <a:xfrm>
            <a:off x="5501488" y="4764024"/>
            <a:ext cx="1207008" cy="493776"/>
          </a:xfrm>
          <a:prstGeom prst="rect">
            <a:avLst/>
          </a:prstGeom>
          <a:noFill/>
          <a:ln/>
        </p:spPr>
        <p:txBody>
          <a:bodyPr wrap="square" lIns="0" tIns="0" rIns="0" bIns="0" rtlCol="0" anchor="t"/>
          <a:lstStyle/>
          <a:p>
            <a:pPr indent="0" marL="0">
              <a:buNone/>
            </a:pPr>
            <a:r>
              <a:rPr lang="en-US" sz="1100" dirty="0">
                <a:solidFill>
                  <a:srgbClr val="F6D9D9"/>
                </a:solidFill>
                <a:latin typeface="Poppins" pitchFamily="34" charset="0"/>
                <a:ea typeface="Poppins" pitchFamily="34" charset="-122"/>
                <a:cs typeface="Poppins" pitchFamily="34" charset="-120"/>
              </a:rPr>
              <a:t>Business rules and security</a:t>
            </a:r>
            <a:endParaRPr lang="en-US" sz="1100" dirty="0"/>
          </a:p>
        </p:txBody>
      </p:sp>
      <p:sp>
        <p:nvSpPr>
          <p:cNvPr id="44" name="A6-ai"/>
          <p:cNvSpPr/>
          <p:nvPr/>
        </p:nvSpPr>
        <p:spPr>
          <a:xfrm>
            <a:off x="6948221" y="1828800"/>
            <a:ext cx="1426464" cy="896112"/>
          </a:xfrm>
          <a:prstGeom prst="roundRect">
            <a:avLst>
              <a:gd name="adj" fmla="val 10204"/>
            </a:avLst>
          </a:prstGeom>
          <a:solidFill>
            <a:srgbClr val="0B2224"/>
          </a:solidFill>
          <a:ln w="9525">
            <a:solidFill>
              <a:srgbClr val="145456"/>
            </a:solidFill>
            <a:prstDash val="solid"/>
          </a:ln>
        </p:spPr>
      </p:sp>
      <p:pic>
        <p:nvPicPr>
          <p:cNvPr id="45" name="A6-aiI" descr="preencoded.png">    </p:cNvPr>
          <p:cNvPicPr>
            <a:picLocks noChangeAspect="1"/>
          </p:cNvPicPr>
          <p:nvPr/>
        </p:nvPicPr>
        <p:blipFill>
          <a:blip r:embed="rId13"/>
          <a:stretch>
            <a:fillRect/>
          </a:stretch>
        </p:blipFill>
        <p:spPr>
          <a:xfrm>
            <a:off x="7067093" y="1938528"/>
            <a:ext cx="182880" cy="182880"/>
          </a:xfrm>
          <a:prstGeom prst="rect">
            <a:avLst/>
          </a:prstGeom>
        </p:spPr>
      </p:pic>
      <p:sp>
        <p:nvSpPr>
          <p:cNvPr id="46" name="A6-aiT"/>
          <p:cNvSpPr txBox="1"/>
          <p:nvPr/>
        </p:nvSpPr>
        <p:spPr>
          <a:xfrm>
            <a:off x="7067093" y="2176272"/>
            <a:ext cx="1207008" cy="493776"/>
          </a:xfrm>
          <a:prstGeom prst="rect">
            <a:avLst/>
          </a:prstGeom>
          <a:noFill/>
          <a:ln/>
        </p:spPr>
        <p:txBody>
          <a:bodyPr wrap="square" lIns="0" tIns="0" rIns="0" bIns="0" rtlCol="0" anchor="t"/>
          <a:lstStyle/>
          <a:p>
            <a:pPr indent="0" marL="0">
              <a:buNone/>
            </a:pPr>
            <a:r>
              <a:rPr lang="en-US" sz="1100" dirty="0">
                <a:solidFill>
                  <a:srgbClr val="CFE9E9"/>
                </a:solidFill>
                <a:latin typeface="Poppins" pitchFamily="34" charset="0"/>
                <a:ea typeface="Poppins" pitchFamily="34" charset="-122"/>
                <a:cs typeface="Poppins" pitchFamily="34" charset="-120"/>
              </a:rPr>
              <a:t>API docs and example calls</a:t>
            </a:r>
            <a:endParaRPr lang="en-US" sz="1100" dirty="0"/>
          </a:p>
        </p:txBody>
      </p:sp>
      <p:sp>
        <p:nvSpPr>
          <p:cNvPr id="47" name="A6-n"/>
          <p:cNvSpPr/>
          <p:nvPr/>
        </p:nvSpPr>
        <p:spPr>
          <a:xfrm>
            <a:off x="7277405" y="2889504"/>
            <a:ext cx="768096" cy="768096"/>
          </a:xfrm>
          <a:prstGeom prst="roundRect">
            <a:avLst>
              <a:gd name="adj" fmla="val 23810"/>
            </a:avLst>
          </a:prstGeom>
          <a:solidFill>
            <a:srgbClr val="122021"/>
          </a:solidFill>
          <a:ln w="15875">
            <a:solidFill>
              <a:srgbClr val="01A3A3"/>
            </a:solidFill>
            <a:prstDash val="solid"/>
          </a:ln>
        </p:spPr>
      </p:sp>
      <p:pic>
        <p:nvPicPr>
          <p:cNvPr id="48" name="A6-nI" descr="preencoded.png">    </p:cNvPr>
          <p:cNvPicPr>
            <a:picLocks noChangeAspect="1"/>
          </p:cNvPicPr>
          <p:nvPr/>
        </p:nvPicPr>
        <p:blipFill>
          <a:blip r:embed="rId14"/>
          <a:stretch>
            <a:fillRect/>
          </a:stretch>
        </p:blipFill>
        <p:spPr>
          <a:xfrm>
            <a:off x="7469429" y="3090672"/>
            <a:ext cx="384048" cy="384048"/>
          </a:xfrm>
          <a:prstGeom prst="rect">
            <a:avLst/>
          </a:prstGeom>
        </p:spPr>
      </p:pic>
      <p:sp>
        <p:nvSpPr>
          <p:cNvPr id="49" name="A6-nT"/>
          <p:cNvSpPr txBox="1"/>
          <p:nvPr/>
        </p:nvSpPr>
        <p:spPr>
          <a:xfrm>
            <a:off x="6856781" y="3730752"/>
            <a:ext cx="1609344" cy="320040"/>
          </a:xfrm>
          <a:prstGeom prst="rect">
            <a:avLst/>
          </a:prstGeom>
          <a:noFill/>
          <a:ln/>
        </p:spPr>
        <p:txBody>
          <a:bodyPr wrap="square" lIns="0" tIns="0" rIns="0" bIns="0" rtlCol="0" anchor="t"/>
          <a:lstStyle/>
          <a:p>
            <a:pPr algn="ctr" indent="0" marL="0">
              <a:buNone/>
            </a:pPr>
            <a:r>
              <a:rPr lang="en-US" sz="1500" dirty="0">
                <a:solidFill>
                  <a:srgbClr val="FFFFFF"/>
                </a:solidFill>
                <a:latin typeface="Poppins SemiBold" pitchFamily="34" charset="0"/>
                <a:ea typeface="Poppins SemiBold" pitchFamily="34" charset="-122"/>
                <a:cs typeface="Poppins SemiBold" pitchFamily="34" charset="-120"/>
              </a:rPr>
              <a:t>API</a:t>
            </a:r>
            <a:endParaRPr lang="en-US" sz="1500" dirty="0"/>
          </a:p>
        </p:txBody>
      </p:sp>
      <p:sp>
        <p:nvSpPr>
          <p:cNvPr id="50" name="A9-h4"/>
          <p:cNvSpPr/>
          <p:nvPr/>
        </p:nvSpPr>
        <p:spPr>
          <a:xfrm>
            <a:off x="6948221" y="4416552"/>
            <a:ext cx="1426464" cy="896112"/>
          </a:xfrm>
          <a:prstGeom prst="roundRect">
            <a:avLst>
              <a:gd name="adj" fmla="val 10204"/>
            </a:avLst>
          </a:prstGeom>
          <a:solidFill>
            <a:srgbClr val="2A1416"/>
          </a:solidFill>
          <a:ln w="9525">
            <a:solidFill>
              <a:srgbClr val="6B2A2D"/>
            </a:solidFill>
            <a:prstDash val="solid"/>
          </a:ln>
        </p:spPr>
      </p:sp>
      <p:pic>
        <p:nvPicPr>
          <p:cNvPr id="51" name="A9-hI4" descr="preencoded.png">    </p:cNvPr>
          <p:cNvPicPr>
            <a:picLocks noChangeAspect="1"/>
          </p:cNvPicPr>
          <p:nvPr/>
        </p:nvPicPr>
        <p:blipFill>
          <a:blip r:embed="rId15"/>
          <a:stretch>
            <a:fillRect/>
          </a:stretch>
        </p:blipFill>
        <p:spPr>
          <a:xfrm>
            <a:off x="7067093" y="4526280"/>
            <a:ext cx="182880" cy="182880"/>
          </a:xfrm>
          <a:prstGeom prst="rect">
            <a:avLst/>
          </a:prstGeom>
        </p:spPr>
      </p:pic>
      <p:sp>
        <p:nvSpPr>
          <p:cNvPr id="52" name="A9-hT4"/>
          <p:cNvSpPr txBox="1"/>
          <p:nvPr/>
        </p:nvSpPr>
        <p:spPr>
          <a:xfrm>
            <a:off x="7067093" y="4764024"/>
            <a:ext cx="1207008" cy="493776"/>
          </a:xfrm>
          <a:prstGeom prst="rect">
            <a:avLst/>
          </a:prstGeom>
          <a:noFill/>
          <a:ln/>
        </p:spPr>
        <p:txBody>
          <a:bodyPr wrap="square" lIns="0" tIns="0" rIns="0" bIns="0" rtlCol="0" anchor="t"/>
          <a:lstStyle/>
          <a:p>
            <a:pPr indent="0" marL="0">
              <a:buNone/>
            </a:pPr>
            <a:r>
              <a:rPr lang="en-US" sz="1100" dirty="0">
                <a:solidFill>
                  <a:srgbClr val="F6D9D9"/>
                </a:solidFill>
                <a:latin typeface="Poppins" pitchFamily="34" charset="0"/>
                <a:ea typeface="Poppins" pitchFamily="34" charset="-122"/>
                <a:cs typeface="Poppins" pitchFamily="34" charset="-120"/>
              </a:rPr>
              <a:t>Contracts and error handling</a:t>
            </a:r>
            <a:endParaRPr lang="en-US" sz="1100" dirty="0"/>
          </a:p>
        </p:txBody>
      </p:sp>
      <p:sp>
        <p:nvSpPr>
          <p:cNvPr id="53" name="A7-ai"/>
          <p:cNvSpPr/>
          <p:nvPr/>
        </p:nvSpPr>
        <p:spPr>
          <a:xfrm>
            <a:off x="8513826" y="1828800"/>
            <a:ext cx="1426464" cy="896112"/>
          </a:xfrm>
          <a:prstGeom prst="roundRect">
            <a:avLst>
              <a:gd name="adj" fmla="val 10204"/>
            </a:avLst>
          </a:prstGeom>
          <a:solidFill>
            <a:srgbClr val="0B2224"/>
          </a:solidFill>
          <a:ln w="9525">
            <a:solidFill>
              <a:srgbClr val="145456"/>
            </a:solidFill>
            <a:prstDash val="solid"/>
          </a:ln>
        </p:spPr>
      </p:sp>
      <p:pic>
        <p:nvPicPr>
          <p:cNvPr id="54" name="A7-aiI" descr="preencoded.png">    </p:cNvPr>
          <p:cNvPicPr>
            <a:picLocks noChangeAspect="1"/>
          </p:cNvPicPr>
          <p:nvPr/>
        </p:nvPicPr>
        <p:blipFill>
          <a:blip r:embed="rId16"/>
          <a:stretch>
            <a:fillRect/>
          </a:stretch>
        </p:blipFill>
        <p:spPr>
          <a:xfrm>
            <a:off x="8632698" y="1938528"/>
            <a:ext cx="182880" cy="182880"/>
          </a:xfrm>
          <a:prstGeom prst="rect">
            <a:avLst/>
          </a:prstGeom>
        </p:spPr>
      </p:pic>
      <p:sp>
        <p:nvSpPr>
          <p:cNvPr id="55" name="A7-aiT"/>
          <p:cNvSpPr txBox="1"/>
          <p:nvPr/>
        </p:nvSpPr>
        <p:spPr>
          <a:xfrm>
            <a:off x="8632698" y="2176272"/>
            <a:ext cx="1207008" cy="493776"/>
          </a:xfrm>
          <a:prstGeom prst="rect">
            <a:avLst/>
          </a:prstGeom>
          <a:noFill/>
          <a:ln/>
        </p:spPr>
        <p:txBody>
          <a:bodyPr wrap="square" lIns="0" tIns="0" rIns="0" bIns="0" rtlCol="0" anchor="t"/>
          <a:lstStyle/>
          <a:p>
            <a:pPr indent="0" marL="0">
              <a:buNone/>
            </a:pPr>
            <a:r>
              <a:rPr lang="en-US" sz="1100" dirty="0">
                <a:solidFill>
                  <a:srgbClr val="CFE9E9"/>
                </a:solidFill>
                <a:latin typeface="Poppins" pitchFamily="34" charset="0"/>
                <a:ea typeface="Poppins" pitchFamily="34" charset="-122"/>
                <a:cs typeface="Poppins" pitchFamily="34" charset="-120"/>
              </a:rPr>
              <a:t>Wireframes and UI copy</a:t>
            </a:r>
            <a:endParaRPr lang="en-US" sz="1100" dirty="0"/>
          </a:p>
        </p:txBody>
      </p:sp>
      <p:sp>
        <p:nvSpPr>
          <p:cNvPr id="56" name="A7-n"/>
          <p:cNvSpPr/>
          <p:nvPr/>
        </p:nvSpPr>
        <p:spPr>
          <a:xfrm>
            <a:off x="8843010" y="2889504"/>
            <a:ext cx="768096" cy="768096"/>
          </a:xfrm>
          <a:prstGeom prst="roundRect">
            <a:avLst>
              <a:gd name="adj" fmla="val 23810"/>
            </a:avLst>
          </a:prstGeom>
          <a:solidFill>
            <a:srgbClr val="122021"/>
          </a:solidFill>
          <a:ln w="15875">
            <a:solidFill>
              <a:srgbClr val="01A3A3"/>
            </a:solidFill>
            <a:prstDash val="solid"/>
          </a:ln>
        </p:spPr>
      </p:sp>
      <p:pic>
        <p:nvPicPr>
          <p:cNvPr id="57" name="A7-nI" descr="preencoded.png">    </p:cNvPr>
          <p:cNvPicPr>
            <a:picLocks noChangeAspect="1"/>
          </p:cNvPicPr>
          <p:nvPr/>
        </p:nvPicPr>
        <p:blipFill>
          <a:blip r:embed="rId17"/>
          <a:stretch>
            <a:fillRect/>
          </a:stretch>
        </p:blipFill>
        <p:spPr>
          <a:xfrm>
            <a:off x="9035034" y="3090672"/>
            <a:ext cx="384048" cy="384048"/>
          </a:xfrm>
          <a:prstGeom prst="rect">
            <a:avLst/>
          </a:prstGeom>
        </p:spPr>
      </p:pic>
      <p:sp>
        <p:nvSpPr>
          <p:cNvPr id="58" name="A7-nT"/>
          <p:cNvSpPr txBox="1"/>
          <p:nvPr/>
        </p:nvSpPr>
        <p:spPr>
          <a:xfrm>
            <a:off x="8422386" y="3730752"/>
            <a:ext cx="1609344" cy="320040"/>
          </a:xfrm>
          <a:prstGeom prst="rect">
            <a:avLst/>
          </a:prstGeom>
          <a:noFill/>
          <a:ln/>
        </p:spPr>
        <p:txBody>
          <a:bodyPr wrap="square" lIns="0" tIns="0" rIns="0" bIns="0" rtlCol="0" anchor="t"/>
          <a:lstStyle/>
          <a:p>
            <a:pPr algn="ctr" indent="0" marL="0">
              <a:buNone/>
            </a:pPr>
            <a:r>
              <a:rPr lang="en-US" sz="1500" dirty="0">
                <a:solidFill>
                  <a:srgbClr val="FFFFFF"/>
                </a:solidFill>
                <a:latin typeface="Poppins SemiBold" pitchFamily="34" charset="0"/>
                <a:ea typeface="Poppins SemiBold" pitchFamily="34" charset="-122"/>
                <a:cs typeface="Poppins SemiBold" pitchFamily="34" charset="-120"/>
              </a:rPr>
              <a:t>UI / UX</a:t>
            </a:r>
            <a:endParaRPr lang="en-US" sz="1500" dirty="0"/>
          </a:p>
        </p:txBody>
      </p:sp>
      <p:sp>
        <p:nvSpPr>
          <p:cNvPr id="59" name="A9-h5"/>
          <p:cNvSpPr/>
          <p:nvPr/>
        </p:nvSpPr>
        <p:spPr>
          <a:xfrm>
            <a:off x="8513826" y="4416552"/>
            <a:ext cx="1426464" cy="896112"/>
          </a:xfrm>
          <a:prstGeom prst="roundRect">
            <a:avLst>
              <a:gd name="adj" fmla="val 10204"/>
            </a:avLst>
          </a:prstGeom>
          <a:solidFill>
            <a:srgbClr val="2A1416"/>
          </a:solidFill>
          <a:ln w="9525">
            <a:solidFill>
              <a:srgbClr val="6B2A2D"/>
            </a:solidFill>
            <a:prstDash val="solid"/>
          </a:ln>
        </p:spPr>
      </p:sp>
      <p:pic>
        <p:nvPicPr>
          <p:cNvPr id="60" name="A9-hI5" descr="preencoded.png">    </p:cNvPr>
          <p:cNvPicPr>
            <a:picLocks noChangeAspect="1"/>
          </p:cNvPicPr>
          <p:nvPr/>
        </p:nvPicPr>
        <p:blipFill>
          <a:blip r:embed="rId18"/>
          <a:stretch>
            <a:fillRect/>
          </a:stretch>
        </p:blipFill>
        <p:spPr>
          <a:xfrm>
            <a:off x="8632698" y="4526280"/>
            <a:ext cx="182880" cy="182880"/>
          </a:xfrm>
          <a:prstGeom prst="rect">
            <a:avLst/>
          </a:prstGeom>
        </p:spPr>
      </p:pic>
      <p:sp>
        <p:nvSpPr>
          <p:cNvPr id="61" name="A9-hT5"/>
          <p:cNvSpPr txBox="1"/>
          <p:nvPr/>
        </p:nvSpPr>
        <p:spPr>
          <a:xfrm>
            <a:off x="8632698" y="4764024"/>
            <a:ext cx="1207008" cy="493776"/>
          </a:xfrm>
          <a:prstGeom prst="rect">
            <a:avLst/>
          </a:prstGeom>
          <a:noFill/>
          <a:ln/>
        </p:spPr>
        <p:txBody>
          <a:bodyPr wrap="square" lIns="0" tIns="0" rIns="0" bIns="0" rtlCol="0" anchor="t"/>
          <a:lstStyle/>
          <a:p>
            <a:pPr indent="0" marL="0">
              <a:buNone/>
            </a:pPr>
            <a:r>
              <a:rPr lang="en-US" sz="1100" dirty="0">
                <a:solidFill>
                  <a:srgbClr val="F6D9D9"/>
                </a:solidFill>
                <a:latin typeface="Poppins" pitchFamily="34" charset="0"/>
                <a:ea typeface="Poppins" pitchFamily="34" charset="-122"/>
                <a:cs typeface="Poppins" pitchFamily="34" charset="-120"/>
              </a:rPr>
              <a:t>What users truly need</a:t>
            </a:r>
            <a:endParaRPr lang="en-US" sz="1100" dirty="0"/>
          </a:p>
        </p:txBody>
      </p:sp>
      <p:sp>
        <p:nvSpPr>
          <p:cNvPr id="62" name="A8-ai"/>
          <p:cNvSpPr/>
          <p:nvPr/>
        </p:nvSpPr>
        <p:spPr>
          <a:xfrm>
            <a:off x="10079431" y="1828800"/>
            <a:ext cx="1426464" cy="896112"/>
          </a:xfrm>
          <a:prstGeom prst="roundRect">
            <a:avLst>
              <a:gd name="adj" fmla="val 10204"/>
            </a:avLst>
          </a:prstGeom>
          <a:solidFill>
            <a:srgbClr val="0B2224"/>
          </a:solidFill>
          <a:ln w="9525">
            <a:solidFill>
              <a:srgbClr val="145456"/>
            </a:solidFill>
            <a:prstDash val="solid"/>
          </a:ln>
        </p:spPr>
      </p:sp>
      <p:pic>
        <p:nvPicPr>
          <p:cNvPr id="63" name="A8-aiI" descr="preencoded.png">    </p:cNvPr>
          <p:cNvPicPr>
            <a:picLocks noChangeAspect="1"/>
          </p:cNvPicPr>
          <p:nvPr/>
        </p:nvPicPr>
        <p:blipFill>
          <a:blip r:embed="rId19"/>
          <a:stretch>
            <a:fillRect/>
          </a:stretch>
        </p:blipFill>
        <p:spPr>
          <a:xfrm>
            <a:off x="10198303" y="1938528"/>
            <a:ext cx="182880" cy="182880"/>
          </a:xfrm>
          <a:prstGeom prst="rect">
            <a:avLst/>
          </a:prstGeom>
        </p:spPr>
      </p:pic>
      <p:sp>
        <p:nvSpPr>
          <p:cNvPr id="64" name="A8-aiT"/>
          <p:cNvSpPr txBox="1"/>
          <p:nvPr/>
        </p:nvSpPr>
        <p:spPr>
          <a:xfrm>
            <a:off x="10198303" y="2176272"/>
            <a:ext cx="1207008" cy="493776"/>
          </a:xfrm>
          <a:prstGeom prst="rect">
            <a:avLst/>
          </a:prstGeom>
          <a:noFill/>
          <a:ln/>
        </p:spPr>
        <p:txBody>
          <a:bodyPr wrap="square" lIns="0" tIns="0" rIns="0" bIns="0" rtlCol="0" anchor="t"/>
          <a:lstStyle/>
          <a:p>
            <a:pPr indent="0" marL="0">
              <a:buNone/>
            </a:pPr>
            <a:r>
              <a:rPr lang="en-US" sz="1100" dirty="0">
                <a:solidFill>
                  <a:srgbClr val="CFE9E9"/>
                </a:solidFill>
                <a:latin typeface="Poppins" pitchFamily="34" charset="0"/>
                <a:ea typeface="Poppins" pitchFamily="34" charset="-122"/>
                <a:cs typeface="Poppins" pitchFamily="34" charset="-120"/>
              </a:rPr>
              <a:t>Deploy scripts and checklists</a:t>
            </a:r>
            <a:endParaRPr lang="en-US" sz="1100" dirty="0"/>
          </a:p>
        </p:txBody>
      </p:sp>
      <p:pic>
        <p:nvPicPr>
          <p:cNvPr id="65" name="Image 19" descr="/private/tmp/claude-501/-Users-swibit-skillture/f1e62dc3-dfc1-4d04-897a-70d066cdcef5/scratchpad/deck/img/glow_turq.png">    </p:cNvPr>
          <p:cNvPicPr>
            <a:picLocks noChangeAspect="1"/>
          </p:cNvPicPr>
          <p:nvPr/>
        </p:nvPicPr>
        <p:blipFill>
          <a:blip r:embed="rId20">
            <a:alphaModFix amt="65000"/>
          </a:blip>
          <a:stretch>
            <a:fillRect/>
          </a:stretch>
        </p:blipFill>
        <p:spPr>
          <a:xfrm>
            <a:off x="9786823" y="2267712"/>
            <a:ext cx="2011680" cy="2011680"/>
          </a:xfrm>
          <a:prstGeom prst="rect">
            <a:avLst/>
          </a:prstGeom>
        </p:spPr>
      </p:pic>
      <p:sp>
        <p:nvSpPr>
          <p:cNvPr id="66" name="A8-n"/>
          <p:cNvSpPr/>
          <p:nvPr/>
        </p:nvSpPr>
        <p:spPr>
          <a:xfrm>
            <a:off x="10408615" y="2889504"/>
            <a:ext cx="768096" cy="768096"/>
          </a:xfrm>
          <a:prstGeom prst="roundRect">
            <a:avLst>
              <a:gd name="adj" fmla="val 23810"/>
            </a:avLst>
          </a:prstGeom>
          <a:solidFill>
            <a:srgbClr val="0CCCCC"/>
          </a:solidFill>
          <a:ln/>
        </p:spPr>
      </p:sp>
      <p:pic>
        <p:nvPicPr>
          <p:cNvPr id="67" name="A8-nI" descr="preencoded.png">    </p:cNvPr>
          <p:cNvPicPr>
            <a:picLocks noChangeAspect="1"/>
          </p:cNvPicPr>
          <p:nvPr/>
        </p:nvPicPr>
        <p:blipFill>
          <a:blip r:embed="rId21"/>
          <a:stretch>
            <a:fillRect/>
          </a:stretch>
        </p:blipFill>
        <p:spPr>
          <a:xfrm>
            <a:off x="10600639" y="3090672"/>
            <a:ext cx="384048" cy="384048"/>
          </a:xfrm>
          <a:prstGeom prst="rect">
            <a:avLst/>
          </a:prstGeom>
        </p:spPr>
      </p:pic>
      <p:sp>
        <p:nvSpPr>
          <p:cNvPr id="68" name="A8-nT"/>
          <p:cNvSpPr txBox="1"/>
          <p:nvPr/>
        </p:nvSpPr>
        <p:spPr>
          <a:xfrm>
            <a:off x="9987991" y="3730752"/>
            <a:ext cx="1609344" cy="320040"/>
          </a:xfrm>
          <a:prstGeom prst="rect">
            <a:avLst/>
          </a:prstGeom>
          <a:noFill/>
          <a:ln/>
        </p:spPr>
        <p:txBody>
          <a:bodyPr wrap="square" lIns="0" tIns="0" rIns="0" bIns="0" rtlCol="0" anchor="t"/>
          <a:lstStyle/>
          <a:p>
            <a:pPr algn="ctr" indent="0" marL="0">
              <a:buNone/>
            </a:pPr>
            <a:r>
              <a:rPr lang="en-US" sz="1500" dirty="0">
                <a:solidFill>
                  <a:srgbClr val="0CCCCC"/>
                </a:solidFill>
                <a:latin typeface="Poppins SemiBold" pitchFamily="34" charset="0"/>
                <a:ea typeface="Poppins SemiBold" pitchFamily="34" charset="-122"/>
                <a:cs typeface="Poppins SemiBold" pitchFamily="34" charset="-120"/>
              </a:rPr>
              <a:t>Product</a:t>
            </a:r>
            <a:endParaRPr lang="en-US" sz="1500" dirty="0"/>
          </a:p>
        </p:txBody>
      </p:sp>
      <p:sp>
        <p:nvSpPr>
          <p:cNvPr id="69" name="A9-h6"/>
          <p:cNvSpPr/>
          <p:nvPr/>
        </p:nvSpPr>
        <p:spPr>
          <a:xfrm>
            <a:off x="10079431" y="4416552"/>
            <a:ext cx="1426464" cy="896112"/>
          </a:xfrm>
          <a:prstGeom prst="roundRect">
            <a:avLst>
              <a:gd name="adj" fmla="val 10204"/>
            </a:avLst>
          </a:prstGeom>
          <a:solidFill>
            <a:srgbClr val="2A1416"/>
          </a:solidFill>
          <a:ln w="9525">
            <a:solidFill>
              <a:srgbClr val="6B2A2D"/>
            </a:solidFill>
            <a:prstDash val="solid"/>
          </a:ln>
        </p:spPr>
      </p:sp>
      <p:pic>
        <p:nvPicPr>
          <p:cNvPr id="70" name="A9-hI6" descr="preencoded.png">    </p:cNvPr>
          <p:cNvPicPr>
            <a:picLocks noChangeAspect="1"/>
          </p:cNvPicPr>
          <p:nvPr/>
        </p:nvPicPr>
        <p:blipFill>
          <a:blip r:embed="rId22"/>
          <a:stretch>
            <a:fillRect/>
          </a:stretch>
        </p:blipFill>
        <p:spPr>
          <a:xfrm>
            <a:off x="10198303" y="4526280"/>
            <a:ext cx="182880" cy="182880"/>
          </a:xfrm>
          <a:prstGeom prst="rect">
            <a:avLst/>
          </a:prstGeom>
        </p:spPr>
      </p:pic>
      <p:sp>
        <p:nvSpPr>
          <p:cNvPr id="71" name="A9-hT6"/>
          <p:cNvSpPr txBox="1"/>
          <p:nvPr/>
        </p:nvSpPr>
        <p:spPr>
          <a:xfrm>
            <a:off x="10198303" y="4764024"/>
            <a:ext cx="1207008" cy="493776"/>
          </a:xfrm>
          <a:prstGeom prst="rect">
            <a:avLst/>
          </a:prstGeom>
          <a:noFill/>
          <a:ln/>
        </p:spPr>
        <p:txBody>
          <a:bodyPr wrap="square" lIns="0" tIns="0" rIns="0" bIns="0" rtlCol="0" anchor="t"/>
          <a:lstStyle/>
          <a:p>
            <a:pPr indent="0" marL="0">
              <a:buNone/>
            </a:pPr>
            <a:r>
              <a:rPr lang="en-US" sz="1100" dirty="0">
                <a:solidFill>
                  <a:srgbClr val="F6D9D9"/>
                </a:solidFill>
                <a:latin typeface="Poppins" pitchFamily="34" charset="0"/>
                <a:ea typeface="Poppins" pitchFamily="34" charset="-122"/>
                <a:cs typeface="Poppins" pitchFamily="34" charset="-120"/>
              </a:rPr>
              <a:t>Correct? Ready to ship?</a:t>
            </a:r>
            <a:endParaRPr lang="en-US" sz="1100" dirty="0"/>
          </a:p>
        </p:txBody>
      </p:sp>
      <p:sp>
        <p:nvSpPr>
          <p:cNvPr id="72" name="A10-take"/>
          <p:cNvSpPr txBox="1"/>
          <p:nvPr/>
        </p:nvSpPr>
        <p:spPr>
          <a:xfrm>
            <a:off x="685800" y="5559552"/>
            <a:ext cx="5486400" cy="457200"/>
          </a:xfrm>
          <a:prstGeom prst="rect">
            <a:avLst/>
          </a:prstGeom>
          <a:noFill/>
          <a:ln/>
        </p:spPr>
        <p:txBody>
          <a:bodyPr wrap="square" lIns="0" tIns="0" rIns="0" bIns="0" rtlCol="0" anchor="t"/>
          <a:lstStyle/>
          <a:p>
            <a:pPr indent="0" marL="0">
              <a:buNone/>
            </a:pPr>
            <a:r>
              <a:rPr lang="en-US" sz="2400" dirty="0">
                <a:solidFill>
                  <a:srgbClr val="0CCCCC"/>
                </a:solidFill>
                <a:latin typeface="Poppins ExtraBold" pitchFamily="34" charset="0"/>
                <a:ea typeface="Poppins ExtraBold" pitchFamily="34" charset="-122"/>
                <a:cs typeface="Poppins ExtraBold" pitchFamily="34" charset="-120"/>
              </a:rPr>
              <a:t>AI drafts. </a:t>
            </a:r>
            <a:pPr indent="0" marL="0">
              <a:buNone/>
            </a:pPr>
            <a:r>
              <a:rPr lang="en-US" sz="2400" dirty="0">
                <a:solidFill>
                  <a:srgbClr val="FFFFFF"/>
                </a:solidFill>
                <a:latin typeface="Poppins ExtraBold" pitchFamily="34" charset="0"/>
                <a:ea typeface="Poppins ExtraBold" pitchFamily="34" charset="-122"/>
                <a:cs typeface="Poppins ExtraBold" pitchFamily="34" charset="-120"/>
              </a:rPr>
              <a:t>Engineers decide.</a:t>
            </a:r>
            <a:endParaRPr lang="en-US" sz="2400" dirty="0"/>
          </a:p>
        </p:txBody>
      </p:sp>
      <p:sp>
        <p:nvSpPr>
          <p:cNvPr id="73" name="A10-ask"/>
          <p:cNvSpPr txBox="1"/>
          <p:nvPr/>
        </p:nvSpPr>
        <p:spPr>
          <a:xfrm>
            <a:off x="6309360" y="5632704"/>
            <a:ext cx="5196535" cy="365760"/>
          </a:xfrm>
          <a:prstGeom prst="rect">
            <a:avLst/>
          </a:prstGeom>
          <a:noFill/>
          <a:ln/>
        </p:spPr>
        <p:txBody>
          <a:bodyPr wrap="square" lIns="0" tIns="0" rIns="0" bIns="0" rtlCol="0" anchor="t"/>
          <a:lstStyle/>
          <a:p>
            <a:pPr algn="r" indent="0" marL="0">
              <a:buNone/>
            </a:pPr>
            <a:r>
              <a:rPr lang="en-US" sz="1400" i="1" dirty="0">
                <a:solidFill>
                  <a:srgbClr val="9FB0B0"/>
                </a:solidFill>
                <a:latin typeface="Poppins" pitchFamily="34" charset="0"/>
                <a:ea typeface="Poppins" pitchFamily="34" charset="-122"/>
                <a:cs typeface="Poppins" pitchFamily="34" charset="-120"/>
              </a:rPr>
              <a:t>Ask: which step would you never fully hand to AI? Why?</a:t>
            </a:r>
            <a:endParaRPr lang="en-US" sz="1400" dirty="0"/>
          </a:p>
        </p:txBody>
      </p:sp>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8282"/>
                </a:solidFill>
                <a:latin typeface="Poppins SemiBold"/>
                <a:ea typeface="Poppins SemiBold"/>
                <a:cs typeface="Poppins SemiBold"/>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80"/>
                                        <p:tgtEl>
                                          <p:spTgt spid="3"/>
                                        </p:tgtEl>
                                      </p:cBhvr>
                                    </p:animEffect>
                                  </p:childTnLst>
                                </p:cTn>
                              </p:par>
                              <p:par>
                                <p:cTn id="8" presetID="10" presetClass="entr" presetSubtype="0" fill="hold" grpId="0" nodeType="withEffect">
                                  <p:stCondLst>
                                    <p:cond delay="32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80"/>
                                        <p:tgtEl>
                                          <p:spTgt spid="5"/>
                                        </p:tgtEl>
                                      </p:cBhvr>
                                    </p:animEffect>
                                  </p:childTnLst>
                                </p:cTn>
                              </p:par>
                              <p:par>
                                <p:cTn id="11" presetID="22" presetClass="entr" presetSubtype="8" fill="hold" grpId="0" nodeType="withEffect">
                                  <p:stCondLst>
                                    <p:cond delay="32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480"/>
                                        <p:tgtEl>
                                          <p:spTgt spid="7"/>
                                        </p:tgtEl>
                                      </p:cBhvr>
                                    </p:animEffect>
                                  </p:childTnLst>
                                </p:cTn>
                              </p:par>
                              <p:par>
                                <p:cTn id="14" presetID="10" presetClass="entr" presetSubtype="0" fill="hold" grpId="0" nodeType="withEffect">
                                  <p:stCondLst>
                                    <p:cond delay="64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80"/>
                                        <p:tgtEl>
                                          <p:spTgt spid="8"/>
                                        </p:tgtEl>
                                      </p:cBhvr>
                                    </p:animEffect>
                                  </p:childTnLst>
                                </p:cTn>
                              </p:par>
                              <p:par>
                                <p:cTn id="17" presetID="10" presetClass="entr" presetSubtype="0" fill="hold" grpId="0" nodeType="withEffect">
                                  <p:stCondLst>
                                    <p:cond delay="64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80"/>
                                        <p:tgtEl>
                                          <p:spTgt spid="9"/>
                                        </p:tgtEl>
                                      </p:cBhvr>
                                    </p:animEffect>
                                  </p:childTnLst>
                                </p:cTn>
                              </p:par>
                              <p:par>
                                <p:cTn id="20" presetID="10" presetClass="entr" presetSubtype="0" fill="hold" grpId="0" nodeType="withEffect">
                                  <p:stCondLst>
                                    <p:cond delay="64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80"/>
                                        <p:tgtEl>
                                          <p:spTgt spid="10"/>
                                        </p:tgtEl>
                                      </p:cBhvr>
                                    </p:animEffect>
                                  </p:childTnLst>
                                </p:cTn>
                              </p:par>
                              <p:par>
                                <p:cTn id="23" presetID="10" presetClass="entr" presetSubtype="0" fill="hold" grpId="0" nodeType="withEffect">
                                  <p:stCondLst>
                                    <p:cond delay="64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80"/>
                                        <p:tgtEl>
                                          <p:spTgt spid="11"/>
                                        </p:tgtEl>
                                      </p:cBhvr>
                                    </p:animEffect>
                                  </p:childTnLst>
                                </p:cTn>
                              </p:par>
                              <p:par>
                                <p:cTn id="26" presetID="10" presetClass="entr" presetSubtype="0" fill="hold" grpId="0" nodeType="withEffect">
                                  <p:stCondLst>
                                    <p:cond delay="64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80"/>
                                        <p:tgtEl>
                                          <p:spTgt spid="12"/>
                                        </p:tgtEl>
                                      </p:cBhvr>
                                    </p:animEffect>
                                  </p:childTnLst>
                                </p:cTn>
                              </p:par>
                              <p:par>
                                <p:cTn id="29" presetID="10" presetClass="entr" presetSubtype="0" fill="hold" grpId="0" nodeType="withEffect">
                                  <p:stCondLst>
                                    <p:cond delay="64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80"/>
                                        <p:tgtEl>
                                          <p:spTgt spid="13"/>
                                        </p:tgtEl>
                                      </p:cBhvr>
                                    </p:animEffect>
                                  </p:childTnLst>
                                </p:cTn>
                              </p:par>
                              <p:par>
                                <p:cTn id="32" presetID="10" presetClass="entr" presetSubtype="0" fill="hold" grpId="0" nodeType="withEffect">
                                  <p:stCondLst>
                                    <p:cond delay="96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80"/>
                                        <p:tgtEl>
                                          <p:spTgt spid="17"/>
                                        </p:tgtEl>
                                      </p:cBhvr>
                                    </p:animEffect>
                                  </p:childTnLst>
                                </p:cTn>
                              </p:par>
                              <p:par>
                                <p:cTn id="35" presetID="10" presetClass="entr" presetSubtype="0" fill="hold" grpId="0" nodeType="withEffect">
                                  <p:stCondLst>
                                    <p:cond delay="96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80"/>
                                        <p:tgtEl>
                                          <p:spTgt spid="18"/>
                                        </p:tgtEl>
                                      </p:cBhvr>
                                    </p:animEffect>
                                  </p:childTnLst>
                                </p:cTn>
                              </p:par>
                              <p:par>
                                <p:cTn id="38" presetID="10" presetClass="entr" presetSubtype="0" fill="hold" grpId="0" nodeType="withEffect">
                                  <p:stCondLst>
                                    <p:cond delay="96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80"/>
                                        <p:tgtEl>
                                          <p:spTgt spid="19"/>
                                        </p:tgtEl>
                                      </p:cBhvr>
                                    </p:animEffect>
                                  </p:childTnLst>
                                </p:cTn>
                              </p:par>
                              <p:par>
                                <p:cTn id="41" presetID="10" presetClass="entr" presetSubtype="0" fill="hold" grpId="0" nodeType="withEffect">
                                  <p:stCondLst>
                                    <p:cond delay="96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80"/>
                                        <p:tgtEl>
                                          <p:spTgt spid="20"/>
                                        </p:tgtEl>
                                      </p:cBhvr>
                                    </p:animEffect>
                                  </p:childTnLst>
                                </p:cTn>
                              </p:par>
                              <p:par>
                                <p:cTn id="44" presetID="10" presetClass="entr" presetSubtype="0" fill="hold" grpId="0" nodeType="withEffect">
                                  <p:stCondLst>
                                    <p:cond delay="96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80"/>
                                        <p:tgtEl>
                                          <p:spTgt spid="21"/>
                                        </p:tgtEl>
                                      </p:cBhvr>
                                    </p:animEffect>
                                  </p:childTnLst>
                                </p:cTn>
                              </p:par>
                              <p:par>
                                <p:cTn id="47" presetID="10" presetClass="entr" presetSubtype="0" fill="hold" grpId="0" nodeType="withEffect">
                                  <p:stCondLst>
                                    <p:cond delay="9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80"/>
                                        <p:tgtEl>
                                          <p:spTgt spid="22"/>
                                        </p:tgtEl>
                                      </p:cBhvr>
                                    </p:animEffect>
                                  </p:childTnLst>
                                </p:cTn>
                              </p:par>
                              <p:par>
                                <p:cTn id="50" presetID="10" presetClass="entr" presetSubtype="0" fill="hold" grpId="0" nodeType="withEffect">
                                  <p:stCondLst>
                                    <p:cond delay="128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80"/>
                                        <p:tgtEl>
                                          <p:spTgt spid="26"/>
                                        </p:tgtEl>
                                      </p:cBhvr>
                                    </p:animEffect>
                                  </p:childTnLst>
                                </p:cTn>
                              </p:par>
                              <p:par>
                                <p:cTn id="53" presetID="10" presetClass="entr" presetSubtype="0" fill="hold" grpId="0" nodeType="withEffect">
                                  <p:stCondLst>
                                    <p:cond delay="128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80"/>
                                        <p:tgtEl>
                                          <p:spTgt spid="27"/>
                                        </p:tgtEl>
                                      </p:cBhvr>
                                    </p:animEffect>
                                  </p:childTnLst>
                                </p:cTn>
                              </p:par>
                              <p:par>
                                <p:cTn id="56" presetID="10" presetClass="entr" presetSubtype="0" fill="hold" grpId="0" nodeType="withEffect">
                                  <p:stCondLst>
                                    <p:cond delay="128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80"/>
                                        <p:tgtEl>
                                          <p:spTgt spid="28"/>
                                        </p:tgtEl>
                                      </p:cBhvr>
                                    </p:animEffect>
                                  </p:childTnLst>
                                </p:cTn>
                              </p:par>
                              <p:par>
                                <p:cTn id="59" presetID="10" presetClass="entr" presetSubtype="0" fill="hold" grpId="0" nodeType="withEffect">
                                  <p:stCondLst>
                                    <p:cond delay="128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480"/>
                                        <p:tgtEl>
                                          <p:spTgt spid="29"/>
                                        </p:tgtEl>
                                      </p:cBhvr>
                                    </p:animEffect>
                                  </p:childTnLst>
                                </p:cTn>
                              </p:par>
                              <p:par>
                                <p:cTn id="62" presetID="10" presetClass="entr" presetSubtype="0" fill="hold" grpId="0" nodeType="withEffect">
                                  <p:stCondLst>
                                    <p:cond delay="128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480"/>
                                        <p:tgtEl>
                                          <p:spTgt spid="30"/>
                                        </p:tgtEl>
                                      </p:cBhvr>
                                    </p:animEffect>
                                  </p:childTnLst>
                                </p:cTn>
                              </p:par>
                              <p:par>
                                <p:cTn id="65" presetID="10" presetClass="entr" presetSubtype="0" fill="hold" grpId="0" nodeType="withEffect">
                                  <p:stCondLst>
                                    <p:cond delay="128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480"/>
                                        <p:tgtEl>
                                          <p:spTgt spid="31"/>
                                        </p:tgtEl>
                                      </p:cBhvr>
                                    </p:animEffect>
                                  </p:childTnLst>
                                </p:cTn>
                              </p:par>
                              <p:par>
                                <p:cTn id="68" presetID="10" presetClass="entr" presetSubtype="0" fill="hold" grpId="0" nodeType="withEffect">
                                  <p:stCondLst>
                                    <p:cond delay="160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480"/>
                                        <p:tgtEl>
                                          <p:spTgt spid="35"/>
                                        </p:tgtEl>
                                      </p:cBhvr>
                                    </p:animEffect>
                                  </p:childTnLst>
                                </p:cTn>
                              </p:par>
                              <p:par>
                                <p:cTn id="71" presetID="10" presetClass="entr" presetSubtype="0" fill="hold" grpId="0" nodeType="withEffect">
                                  <p:stCondLst>
                                    <p:cond delay="160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480"/>
                                        <p:tgtEl>
                                          <p:spTgt spid="36"/>
                                        </p:tgtEl>
                                      </p:cBhvr>
                                    </p:animEffect>
                                  </p:childTnLst>
                                </p:cTn>
                              </p:par>
                              <p:par>
                                <p:cTn id="74" presetID="10" presetClass="entr" presetSubtype="0" fill="hold" grpId="0" nodeType="withEffect">
                                  <p:stCondLst>
                                    <p:cond delay="160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480"/>
                                        <p:tgtEl>
                                          <p:spTgt spid="37"/>
                                        </p:tgtEl>
                                      </p:cBhvr>
                                    </p:animEffect>
                                  </p:childTnLst>
                                </p:cTn>
                              </p:par>
                              <p:par>
                                <p:cTn id="77" presetID="10" presetClass="entr" presetSubtype="0" fill="hold" grpId="0" nodeType="withEffect">
                                  <p:stCondLst>
                                    <p:cond delay="160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480"/>
                                        <p:tgtEl>
                                          <p:spTgt spid="38"/>
                                        </p:tgtEl>
                                      </p:cBhvr>
                                    </p:animEffect>
                                  </p:childTnLst>
                                </p:cTn>
                              </p:par>
                              <p:par>
                                <p:cTn id="80" presetID="10" presetClass="entr" presetSubtype="0" fill="hold" grpId="0" nodeType="withEffect">
                                  <p:stCondLst>
                                    <p:cond delay="160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480"/>
                                        <p:tgtEl>
                                          <p:spTgt spid="39"/>
                                        </p:tgtEl>
                                      </p:cBhvr>
                                    </p:animEffect>
                                  </p:childTnLst>
                                </p:cTn>
                              </p:par>
                              <p:par>
                                <p:cTn id="83" presetID="10" presetClass="entr" presetSubtype="0" fill="hold" grpId="0" nodeType="withEffect">
                                  <p:stCondLst>
                                    <p:cond delay="1600"/>
                                  </p:stCondLst>
                                  <p:childTnLst>
                                    <p:set>
                                      <p:cBhvr>
                                        <p:cTn id="84" dur="1" fill="hold">
                                          <p:stCondLst>
                                            <p:cond delay="0"/>
                                          </p:stCondLst>
                                        </p:cTn>
                                        <p:tgtEl>
                                          <p:spTgt spid="40"/>
                                        </p:tgtEl>
                                        <p:attrNameLst>
                                          <p:attrName>style.visibility</p:attrName>
                                        </p:attrNameLst>
                                      </p:cBhvr>
                                      <p:to>
                                        <p:strVal val="visible"/>
                                      </p:to>
                                    </p:set>
                                    <p:animEffect transition="in" filter="fade">
                                      <p:cBhvr>
                                        <p:cTn id="85" dur="480"/>
                                        <p:tgtEl>
                                          <p:spTgt spid="40"/>
                                        </p:tgtEl>
                                      </p:cBhvr>
                                    </p:animEffect>
                                  </p:childTnLst>
                                </p:cTn>
                              </p:par>
                              <p:par>
                                <p:cTn id="86" presetID="10" presetClass="entr" presetSubtype="0" fill="hold" grpId="0" nodeType="withEffect">
                                  <p:stCondLst>
                                    <p:cond delay="1920"/>
                                  </p:stCondLst>
                                  <p:childTnLst>
                                    <p:set>
                                      <p:cBhvr>
                                        <p:cTn id="87" dur="1" fill="hold">
                                          <p:stCondLst>
                                            <p:cond delay="0"/>
                                          </p:stCondLst>
                                        </p:cTn>
                                        <p:tgtEl>
                                          <p:spTgt spid="44"/>
                                        </p:tgtEl>
                                        <p:attrNameLst>
                                          <p:attrName>style.visibility</p:attrName>
                                        </p:attrNameLst>
                                      </p:cBhvr>
                                      <p:to>
                                        <p:strVal val="visible"/>
                                      </p:to>
                                    </p:set>
                                    <p:animEffect transition="in" filter="fade">
                                      <p:cBhvr>
                                        <p:cTn id="88" dur="480"/>
                                        <p:tgtEl>
                                          <p:spTgt spid="44"/>
                                        </p:tgtEl>
                                      </p:cBhvr>
                                    </p:animEffect>
                                  </p:childTnLst>
                                </p:cTn>
                              </p:par>
                              <p:par>
                                <p:cTn id="89" presetID="10" presetClass="entr" presetSubtype="0" fill="hold" grpId="0" nodeType="withEffect">
                                  <p:stCondLst>
                                    <p:cond delay="192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480"/>
                                        <p:tgtEl>
                                          <p:spTgt spid="45"/>
                                        </p:tgtEl>
                                      </p:cBhvr>
                                    </p:animEffect>
                                  </p:childTnLst>
                                </p:cTn>
                              </p:par>
                              <p:par>
                                <p:cTn id="92" presetID="10" presetClass="entr" presetSubtype="0" fill="hold" grpId="0" nodeType="withEffect">
                                  <p:stCondLst>
                                    <p:cond delay="1920"/>
                                  </p:stCondLst>
                                  <p:childTnLst>
                                    <p:set>
                                      <p:cBhvr>
                                        <p:cTn id="93" dur="1" fill="hold">
                                          <p:stCondLst>
                                            <p:cond delay="0"/>
                                          </p:stCondLst>
                                        </p:cTn>
                                        <p:tgtEl>
                                          <p:spTgt spid="46"/>
                                        </p:tgtEl>
                                        <p:attrNameLst>
                                          <p:attrName>style.visibility</p:attrName>
                                        </p:attrNameLst>
                                      </p:cBhvr>
                                      <p:to>
                                        <p:strVal val="visible"/>
                                      </p:to>
                                    </p:set>
                                    <p:animEffect transition="in" filter="fade">
                                      <p:cBhvr>
                                        <p:cTn id="94" dur="480"/>
                                        <p:tgtEl>
                                          <p:spTgt spid="46"/>
                                        </p:tgtEl>
                                      </p:cBhvr>
                                    </p:animEffect>
                                  </p:childTnLst>
                                </p:cTn>
                              </p:par>
                              <p:par>
                                <p:cTn id="95" presetID="10" presetClass="entr" presetSubtype="0" fill="hold" grpId="0" nodeType="withEffect">
                                  <p:stCondLst>
                                    <p:cond delay="1920"/>
                                  </p:stCondLst>
                                  <p:childTnLst>
                                    <p:set>
                                      <p:cBhvr>
                                        <p:cTn id="96" dur="1" fill="hold">
                                          <p:stCondLst>
                                            <p:cond delay="0"/>
                                          </p:stCondLst>
                                        </p:cTn>
                                        <p:tgtEl>
                                          <p:spTgt spid="47"/>
                                        </p:tgtEl>
                                        <p:attrNameLst>
                                          <p:attrName>style.visibility</p:attrName>
                                        </p:attrNameLst>
                                      </p:cBhvr>
                                      <p:to>
                                        <p:strVal val="visible"/>
                                      </p:to>
                                    </p:set>
                                    <p:animEffect transition="in" filter="fade">
                                      <p:cBhvr>
                                        <p:cTn id="97" dur="480"/>
                                        <p:tgtEl>
                                          <p:spTgt spid="47"/>
                                        </p:tgtEl>
                                      </p:cBhvr>
                                    </p:animEffect>
                                  </p:childTnLst>
                                </p:cTn>
                              </p:par>
                              <p:par>
                                <p:cTn id="98" presetID="10" presetClass="entr" presetSubtype="0" fill="hold" grpId="0" nodeType="withEffect">
                                  <p:stCondLst>
                                    <p:cond delay="1920"/>
                                  </p:stCondLst>
                                  <p:childTnLst>
                                    <p:set>
                                      <p:cBhvr>
                                        <p:cTn id="99" dur="1" fill="hold">
                                          <p:stCondLst>
                                            <p:cond delay="0"/>
                                          </p:stCondLst>
                                        </p:cTn>
                                        <p:tgtEl>
                                          <p:spTgt spid="48"/>
                                        </p:tgtEl>
                                        <p:attrNameLst>
                                          <p:attrName>style.visibility</p:attrName>
                                        </p:attrNameLst>
                                      </p:cBhvr>
                                      <p:to>
                                        <p:strVal val="visible"/>
                                      </p:to>
                                    </p:set>
                                    <p:animEffect transition="in" filter="fade">
                                      <p:cBhvr>
                                        <p:cTn id="100" dur="480"/>
                                        <p:tgtEl>
                                          <p:spTgt spid="48"/>
                                        </p:tgtEl>
                                      </p:cBhvr>
                                    </p:animEffect>
                                  </p:childTnLst>
                                </p:cTn>
                              </p:par>
                              <p:par>
                                <p:cTn id="101" presetID="10" presetClass="entr" presetSubtype="0" fill="hold" grpId="0" nodeType="withEffect">
                                  <p:stCondLst>
                                    <p:cond delay="1920"/>
                                  </p:stCondLst>
                                  <p:childTnLst>
                                    <p:set>
                                      <p:cBhvr>
                                        <p:cTn id="102" dur="1" fill="hold">
                                          <p:stCondLst>
                                            <p:cond delay="0"/>
                                          </p:stCondLst>
                                        </p:cTn>
                                        <p:tgtEl>
                                          <p:spTgt spid="49"/>
                                        </p:tgtEl>
                                        <p:attrNameLst>
                                          <p:attrName>style.visibility</p:attrName>
                                        </p:attrNameLst>
                                      </p:cBhvr>
                                      <p:to>
                                        <p:strVal val="visible"/>
                                      </p:to>
                                    </p:set>
                                    <p:animEffect transition="in" filter="fade">
                                      <p:cBhvr>
                                        <p:cTn id="103" dur="480"/>
                                        <p:tgtEl>
                                          <p:spTgt spid="49"/>
                                        </p:tgtEl>
                                      </p:cBhvr>
                                    </p:animEffect>
                                  </p:childTnLst>
                                </p:cTn>
                              </p:par>
                              <p:par>
                                <p:cTn id="104" presetID="10" presetClass="entr" presetSubtype="0" fill="hold" grpId="0" nodeType="withEffect">
                                  <p:stCondLst>
                                    <p:cond delay="2240"/>
                                  </p:stCondLst>
                                  <p:childTnLst>
                                    <p:set>
                                      <p:cBhvr>
                                        <p:cTn id="105" dur="1" fill="hold">
                                          <p:stCondLst>
                                            <p:cond delay="0"/>
                                          </p:stCondLst>
                                        </p:cTn>
                                        <p:tgtEl>
                                          <p:spTgt spid="53"/>
                                        </p:tgtEl>
                                        <p:attrNameLst>
                                          <p:attrName>style.visibility</p:attrName>
                                        </p:attrNameLst>
                                      </p:cBhvr>
                                      <p:to>
                                        <p:strVal val="visible"/>
                                      </p:to>
                                    </p:set>
                                    <p:animEffect transition="in" filter="fade">
                                      <p:cBhvr>
                                        <p:cTn id="106" dur="480"/>
                                        <p:tgtEl>
                                          <p:spTgt spid="53"/>
                                        </p:tgtEl>
                                      </p:cBhvr>
                                    </p:animEffect>
                                  </p:childTnLst>
                                </p:cTn>
                              </p:par>
                              <p:par>
                                <p:cTn id="107" presetID="10" presetClass="entr" presetSubtype="0" fill="hold" grpId="0" nodeType="withEffect">
                                  <p:stCondLst>
                                    <p:cond delay="2240"/>
                                  </p:stCondLst>
                                  <p:childTnLst>
                                    <p:set>
                                      <p:cBhvr>
                                        <p:cTn id="108" dur="1" fill="hold">
                                          <p:stCondLst>
                                            <p:cond delay="0"/>
                                          </p:stCondLst>
                                        </p:cTn>
                                        <p:tgtEl>
                                          <p:spTgt spid="54"/>
                                        </p:tgtEl>
                                        <p:attrNameLst>
                                          <p:attrName>style.visibility</p:attrName>
                                        </p:attrNameLst>
                                      </p:cBhvr>
                                      <p:to>
                                        <p:strVal val="visible"/>
                                      </p:to>
                                    </p:set>
                                    <p:animEffect transition="in" filter="fade">
                                      <p:cBhvr>
                                        <p:cTn id="109" dur="480"/>
                                        <p:tgtEl>
                                          <p:spTgt spid="54"/>
                                        </p:tgtEl>
                                      </p:cBhvr>
                                    </p:animEffect>
                                  </p:childTnLst>
                                </p:cTn>
                              </p:par>
                              <p:par>
                                <p:cTn id="110" presetID="10" presetClass="entr" presetSubtype="0" fill="hold" grpId="0" nodeType="withEffect">
                                  <p:stCondLst>
                                    <p:cond delay="2240"/>
                                  </p:stCondLst>
                                  <p:childTnLst>
                                    <p:set>
                                      <p:cBhvr>
                                        <p:cTn id="111" dur="1" fill="hold">
                                          <p:stCondLst>
                                            <p:cond delay="0"/>
                                          </p:stCondLst>
                                        </p:cTn>
                                        <p:tgtEl>
                                          <p:spTgt spid="55"/>
                                        </p:tgtEl>
                                        <p:attrNameLst>
                                          <p:attrName>style.visibility</p:attrName>
                                        </p:attrNameLst>
                                      </p:cBhvr>
                                      <p:to>
                                        <p:strVal val="visible"/>
                                      </p:to>
                                    </p:set>
                                    <p:animEffect transition="in" filter="fade">
                                      <p:cBhvr>
                                        <p:cTn id="112" dur="480"/>
                                        <p:tgtEl>
                                          <p:spTgt spid="55"/>
                                        </p:tgtEl>
                                      </p:cBhvr>
                                    </p:animEffect>
                                  </p:childTnLst>
                                </p:cTn>
                              </p:par>
                              <p:par>
                                <p:cTn id="113" presetID="10" presetClass="entr" presetSubtype="0" fill="hold" grpId="0" nodeType="withEffect">
                                  <p:stCondLst>
                                    <p:cond delay="2240"/>
                                  </p:stCondLst>
                                  <p:childTnLst>
                                    <p:set>
                                      <p:cBhvr>
                                        <p:cTn id="114" dur="1" fill="hold">
                                          <p:stCondLst>
                                            <p:cond delay="0"/>
                                          </p:stCondLst>
                                        </p:cTn>
                                        <p:tgtEl>
                                          <p:spTgt spid="56"/>
                                        </p:tgtEl>
                                        <p:attrNameLst>
                                          <p:attrName>style.visibility</p:attrName>
                                        </p:attrNameLst>
                                      </p:cBhvr>
                                      <p:to>
                                        <p:strVal val="visible"/>
                                      </p:to>
                                    </p:set>
                                    <p:animEffect transition="in" filter="fade">
                                      <p:cBhvr>
                                        <p:cTn id="115" dur="480"/>
                                        <p:tgtEl>
                                          <p:spTgt spid="56"/>
                                        </p:tgtEl>
                                      </p:cBhvr>
                                    </p:animEffect>
                                  </p:childTnLst>
                                </p:cTn>
                              </p:par>
                              <p:par>
                                <p:cTn id="116" presetID="10" presetClass="entr" presetSubtype="0" fill="hold" grpId="0" nodeType="withEffect">
                                  <p:stCondLst>
                                    <p:cond delay="2240"/>
                                  </p:stCondLst>
                                  <p:childTnLst>
                                    <p:set>
                                      <p:cBhvr>
                                        <p:cTn id="117" dur="1" fill="hold">
                                          <p:stCondLst>
                                            <p:cond delay="0"/>
                                          </p:stCondLst>
                                        </p:cTn>
                                        <p:tgtEl>
                                          <p:spTgt spid="57"/>
                                        </p:tgtEl>
                                        <p:attrNameLst>
                                          <p:attrName>style.visibility</p:attrName>
                                        </p:attrNameLst>
                                      </p:cBhvr>
                                      <p:to>
                                        <p:strVal val="visible"/>
                                      </p:to>
                                    </p:set>
                                    <p:animEffect transition="in" filter="fade">
                                      <p:cBhvr>
                                        <p:cTn id="118" dur="480"/>
                                        <p:tgtEl>
                                          <p:spTgt spid="57"/>
                                        </p:tgtEl>
                                      </p:cBhvr>
                                    </p:animEffect>
                                  </p:childTnLst>
                                </p:cTn>
                              </p:par>
                              <p:par>
                                <p:cTn id="119" presetID="10" presetClass="entr" presetSubtype="0" fill="hold" grpId="0" nodeType="withEffect">
                                  <p:stCondLst>
                                    <p:cond delay="2240"/>
                                  </p:stCondLst>
                                  <p:childTnLst>
                                    <p:set>
                                      <p:cBhvr>
                                        <p:cTn id="120" dur="1" fill="hold">
                                          <p:stCondLst>
                                            <p:cond delay="0"/>
                                          </p:stCondLst>
                                        </p:cTn>
                                        <p:tgtEl>
                                          <p:spTgt spid="58"/>
                                        </p:tgtEl>
                                        <p:attrNameLst>
                                          <p:attrName>style.visibility</p:attrName>
                                        </p:attrNameLst>
                                      </p:cBhvr>
                                      <p:to>
                                        <p:strVal val="visible"/>
                                      </p:to>
                                    </p:set>
                                    <p:animEffect transition="in" filter="fade">
                                      <p:cBhvr>
                                        <p:cTn id="121" dur="480"/>
                                        <p:tgtEl>
                                          <p:spTgt spid="58"/>
                                        </p:tgtEl>
                                      </p:cBhvr>
                                    </p:animEffect>
                                  </p:childTnLst>
                                </p:cTn>
                              </p:par>
                              <p:par>
                                <p:cTn id="122" presetID="10" presetClass="entr" presetSubtype="0" fill="hold" grpId="0" nodeType="withEffect">
                                  <p:stCondLst>
                                    <p:cond delay="2560"/>
                                  </p:stCondLst>
                                  <p:childTnLst>
                                    <p:set>
                                      <p:cBhvr>
                                        <p:cTn id="123" dur="1" fill="hold">
                                          <p:stCondLst>
                                            <p:cond delay="0"/>
                                          </p:stCondLst>
                                        </p:cTn>
                                        <p:tgtEl>
                                          <p:spTgt spid="62"/>
                                        </p:tgtEl>
                                        <p:attrNameLst>
                                          <p:attrName>style.visibility</p:attrName>
                                        </p:attrNameLst>
                                      </p:cBhvr>
                                      <p:to>
                                        <p:strVal val="visible"/>
                                      </p:to>
                                    </p:set>
                                    <p:animEffect transition="in" filter="fade">
                                      <p:cBhvr>
                                        <p:cTn id="124" dur="480"/>
                                        <p:tgtEl>
                                          <p:spTgt spid="62"/>
                                        </p:tgtEl>
                                      </p:cBhvr>
                                    </p:animEffect>
                                  </p:childTnLst>
                                </p:cTn>
                              </p:par>
                              <p:par>
                                <p:cTn id="125" presetID="10" presetClass="entr" presetSubtype="0" fill="hold" grpId="0" nodeType="withEffect">
                                  <p:stCondLst>
                                    <p:cond delay="2560"/>
                                  </p:stCondLst>
                                  <p:childTnLst>
                                    <p:set>
                                      <p:cBhvr>
                                        <p:cTn id="126" dur="1" fill="hold">
                                          <p:stCondLst>
                                            <p:cond delay="0"/>
                                          </p:stCondLst>
                                        </p:cTn>
                                        <p:tgtEl>
                                          <p:spTgt spid="63"/>
                                        </p:tgtEl>
                                        <p:attrNameLst>
                                          <p:attrName>style.visibility</p:attrName>
                                        </p:attrNameLst>
                                      </p:cBhvr>
                                      <p:to>
                                        <p:strVal val="visible"/>
                                      </p:to>
                                    </p:set>
                                    <p:animEffect transition="in" filter="fade">
                                      <p:cBhvr>
                                        <p:cTn id="127" dur="480"/>
                                        <p:tgtEl>
                                          <p:spTgt spid="63"/>
                                        </p:tgtEl>
                                      </p:cBhvr>
                                    </p:animEffect>
                                  </p:childTnLst>
                                </p:cTn>
                              </p:par>
                              <p:par>
                                <p:cTn id="128" presetID="10" presetClass="entr" presetSubtype="0" fill="hold" grpId="0" nodeType="withEffect">
                                  <p:stCondLst>
                                    <p:cond delay="2560"/>
                                  </p:stCondLst>
                                  <p:childTnLst>
                                    <p:set>
                                      <p:cBhvr>
                                        <p:cTn id="129" dur="1" fill="hold">
                                          <p:stCondLst>
                                            <p:cond delay="0"/>
                                          </p:stCondLst>
                                        </p:cTn>
                                        <p:tgtEl>
                                          <p:spTgt spid="64"/>
                                        </p:tgtEl>
                                        <p:attrNameLst>
                                          <p:attrName>style.visibility</p:attrName>
                                        </p:attrNameLst>
                                      </p:cBhvr>
                                      <p:to>
                                        <p:strVal val="visible"/>
                                      </p:to>
                                    </p:set>
                                    <p:animEffect transition="in" filter="fade">
                                      <p:cBhvr>
                                        <p:cTn id="130" dur="480"/>
                                        <p:tgtEl>
                                          <p:spTgt spid="64"/>
                                        </p:tgtEl>
                                      </p:cBhvr>
                                    </p:animEffect>
                                  </p:childTnLst>
                                </p:cTn>
                              </p:par>
                              <p:par>
                                <p:cTn id="131" presetID="10" presetClass="entr" presetSubtype="0" fill="hold" grpId="0" nodeType="withEffect">
                                  <p:stCondLst>
                                    <p:cond delay="2560"/>
                                  </p:stCondLst>
                                  <p:childTnLst>
                                    <p:set>
                                      <p:cBhvr>
                                        <p:cTn id="132" dur="1" fill="hold">
                                          <p:stCondLst>
                                            <p:cond delay="0"/>
                                          </p:stCondLst>
                                        </p:cTn>
                                        <p:tgtEl>
                                          <p:spTgt spid="66"/>
                                        </p:tgtEl>
                                        <p:attrNameLst>
                                          <p:attrName>style.visibility</p:attrName>
                                        </p:attrNameLst>
                                      </p:cBhvr>
                                      <p:to>
                                        <p:strVal val="visible"/>
                                      </p:to>
                                    </p:set>
                                    <p:animEffect transition="in" filter="fade">
                                      <p:cBhvr>
                                        <p:cTn id="133" dur="480"/>
                                        <p:tgtEl>
                                          <p:spTgt spid="66"/>
                                        </p:tgtEl>
                                      </p:cBhvr>
                                    </p:animEffect>
                                  </p:childTnLst>
                                </p:cTn>
                              </p:par>
                              <p:par>
                                <p:cTn id="134" presetID="10" presetClass="entr" presetSubtype="0" fill="hold" grpId="0" nodeType="withEffect">
                                  <p:stCondLst>
                                    <p:cond delay="2560"/>
                                  </p:stCondLst>
                                  <p:childTnLst>
                                    <p:set>
                                      <p:cBhvr>
                                        <p:cTn id="135" dur="1" fill="hold">
                                          <p:stCondLst>
                                            <p:cond delay="0"/>
                                          </p:stCondLst>
                                        </p:cTn>
                                        <p:tgtEl>
                                          <p:spTgt spid="67"/>
                                        </p:tgtEl>
                                        <p:attrNameLst>
                                          <p:attrName>style.visibility</p:attrName>
                                        </p:attrNameLst>
                                      </p:cBhvr>
                                      <p:to>
                                        <p:strVal val="visible"/>
                                      </p:to>
                                    </p:set>
                                    <p:animEffect transition="in" filter="fade">
                                      <p:cBhvr>
                                        <p:cTn id="136" dur="480"/>
                                        <p:tgtEl>
                                          <p:spTgt spid="67"/>
                                        </p:tgtEl>
                                      </p:cBhvr>
                                    </p:animEffect>
                                  </p:childTnLst>
                                </p:cTn>
                              </p:par>
                              <p:par>
                                <p:cTn id="137" presetID="10" presetClass="entr" presetSubtype="0" fill="hold" grpId="0" nodeType="withEffect">
                                  <p:stCondLst>
                                    <p:cond delay="2560"/>
                                  </p:stCondLst>
                                  <p:childTnLst>
                                    <p:set>
                                      <p:cBhvr>
                                        <p:cTn id="138" dur="1" fill="hold">
                                          <p:stCondLst>
                                            <p:cond delay="0"/>
                                          </p:stCondLst>
                                        </p:cTn>
                                        <p:tgtEl>
                                          <p:spTgt spid="68"/>
                                        </p:tgtEl>
                                        <p:attrNameLst>
                                          <p:attrName>style.visibility</p:attrName>
                                        </p:attrNameLst>
                                      </p:cBhvr>
                                      <p:to>
                                        <p:strVal val="visible"/>
                                      </p:to>
                                    </p:set>
                                    <p:animEffect transition="in" filter="fade">
                                      <p:cBhvr>
                                        <p:cTn id="139" dur="480"/>
                                        <p:tgtEl>
                                          <p:spTgt spid="68"/>
                                        </p:tgtEl>
                                      </p:cBhvr>
                                    </p:animEffect>
                                  </p:childTnLst>
                                </p:cTn>
                              </p:par>
                              <p:par>
                                <p:cTn id="140" presetID="10" presetClass="entr" presetSubtype="0" fill="hold" grpId="0" nodeType="withEffect">
                                  <p:stCondLst>
                                    <p:cond delay="2880"/>
                                  </p:stCondLst>
                                  <p:childTnLst>
                                    <p:set>
                                      <p:cBhvr>
                                        <p:cTn id="141" dur="1" fill="hold">
                                          <p:stCondLst>
                                            <p:cond delay="0"/>
                                          </p:stCondLst>
                                        </p:cTn>
                                        <p:tgtEl>
                                          <p:spTgt spid="6"/>
                                        </p:tgtEl>
                                        <p:attrNameLst>
                                          <p:attrName>style.visibility</p:attrName>
                                        </p:attrNameLst>
                                      </p:cBhvr>
                                      <p:to>
                                        <p:strVal val="visible"/>
                                      </p:to>
                                    </p:set>
                                    <p:animEffect transition="in" filter="fade">
                                      <p:cBhvr>
                                        <p:cTn id="142" dur="480"/>
                                        <p:tgtEl>
                                          <p:spTgt spid="6"/>
                                        </p:tgtEl>
                                      </p:cBhvr>
                                    </p:animEffect>
                                  </p:childTnLst>
                                </p:cTn>
                              </p:par>
                              <p:par>
                                <p:cTn id="143" presetID="10" presetClass="entr" presetSubtype="0" fill="hold" grpId="0" nodeType="withEffect">
                                  <p:stCondLst>
                                    <p:cond delay="2880"/>
                                  </p:stCondLst>
                                  <p:childTnLst>
                                    <p:set>
                                      <p:cBhvr>
                                        <p:cTn id="144" dur="1" fill="hold">
                                          <p:stCondLst>
                                            <p:cond delay="0"/>
                                          </p:stCondLst>
                                        </p:cTn>
                                        <p:tgtEl>
                                          <p:spTgt spid="14"/>
                                        </p:tgtEl>
                                        <p:attrNameLst>
                                          <p:attrName>style.visibility</p:attrName>
                                        </p:attrNameLst>
                                      </p:cBhvr>
                                      <p:to>
                                        <p:strVal val="visible"/>
                                      </p:to>
                                    </p:set>
                                    <p:animEffect transition="in" filter="fade">
                                      <p:cBhvr>
                                        <p:cTn id="145" dur="480"/>
                                        <p:tgtEl>
                                          <p:spTgt spid="14"/>
                                        </p:tgtEl>
                                      </p:cBhvr>
                                    </p:animEffect>
                                  </p:childTnLst>
                                </p:cTn>
                              </p:par>
                              <p:par>
                                <p:cTn id="146" presetID="10" presetClass="entr" presetSubtype="0" fill="hold" grpId="0" nodeType="withEffect">
                                  <p:stCondLst>
                                    <p:cond delay="2880"/>
                                  </p:stCondLst>
                                  <p:childTnLst>
                                    <p:set>
                                      <p:cBhvr>
                                        <p:cTn id="147" dur="1" fill="hold">
                                          <p:stCondLst>
                                            <p:cond delay="0"/>
                                          </p:stCondLst>
                                        </p:cTn>
                                        <p:tgtEl>
                                          <p:spTgt spid="15"/>
                                        </p:tgtEl>
                                        <p:attrNameLst>
                                          <p:attrName>style.visibility</p:attrName>
                                        </p:attrNameLst>
                                      </p:cBhvr>
                                      <p:to>
                                        <p:strVal val="visible"/>
                                      </p:to>
                                    </p:set>
                                    <p:animEffect transition="in" filter="fade">
                                      <p:cBhvr>
                                        <p:cTn id="148" dur="480"/>
                                        <p:tgtEl>
                                          <p:spTgt spid="15"/>
                                        </p:tgtEl>
                                      </p:cBhvr>
                                    </p:animEffect>
                                  </p:childTnLst>
                                </p:cTn>
                              </p:par>
                              <p:par>
                                <p:cTn id="149" presetID="10" presetClass="entr" presetSubtype="0" fill="hold" grpId="0" nodeType="withEffect">
                                  <p:stCondLst>
                                    <p:cond delay="2880"/>
                                  </p:stCondLst>
                                  <p:childTnLst>
                                    <p:set>
                                      <p:cBhvr>
                                        <p:cTn id="150" dur="1" fill="hold">
                                          <p:stCondLst>
                                            <p:cond delay="0"/>
                                          </p:stCondLst>
                                        </p:cTn>
                                        <p:tgtEl>
                                          <p:spTgt spid="16"/>
                                        </p:tgtEl>
                                        <p:attrNameLst>
                                          <p:attrName>style.visibility</p:attrName>
                                        </p:attrNameLst>
                                      </p:cBhvr>
                                      <p:to>
                                        <p:strVal val="visible"/>
                                      </p:to>
                                    </p:set>
                                    <p:animEffect transition="in" filter="fade">
                                      <p:cBhvr>
                                        <p:cTn id="151" dur="480"/>
                                        <p:tgtEl>
                                          <p:spTgt spid="16"/>
                                        </p:tgtEl>
                                      </p:cBhvr>
                                    </p:animEffect>
                                  </p:childTnLst>
                                </p:cTn>
                              </p:par>
                              <p:par>
                                <p:cTn id="152" presetID="10" presetClass="entr" presetSubtype="0" fill="hold" grpId="0" nodeType="withEffect">
                                  <p:stCondLst>
                                    <p:cond delay="2880"/>
                                  </p:stCondLst>
                                  <p:childTnLst>
                                    <p:set>
                                      <p:cBhvr>
                                        <p:cTn id="153" dur="1" fill="hold">
                                          <p:stCondLst>
                                            <p:cond delay="0"/>
                                          </p:stCondLst>
                                        </p:cTn>
                                        <p:tgtEl>
                                          <p:spTgt spid="23"/>
                                        </p:tgtEl>
                                        <p:attrNameLst>
                                          <p:attrName>style.visibility</p:attrName>
                                        </p:attrNameLst>
                                      </p:cBhvr>
                                      <p:to>
                                        <p:strVal val="visible"/>
                                      </p:to>
                                    </p:set>
                                    <p:animEffect transition="in" filter="fade">
                                      <p:cBhvr>
                                        <p:cTn id="154" dur="480"/>
                                        <p:tgtEl>
                                          <p:spTgt spid="23"/>
                                        </p:tgtEl>
                                      </p:cBhvr>
                                    </p:animEffect>
                                  </p:childTnLst>
                                </p:cTn>
                              </p:par>
                              <p:par>
                                <p:cTn id="155" presetID="10" presetClass="entr" presetSubtype="0" fill="hold" grpId="0" nodeType="withEffect">
                                  <p:stCondLst>
                                    <p:cond delay="2880"/>
                                  </p:stCondLst>
                                  <p:childTnLst>
                                    <p:set>
                                      <p:cBhvr>
                                        <p:cTn id="156" dur="1" fill="hold">
                                          <p:stCondLst>
                                            <p:cond delay="0"/>
                                          </p:stCondLst>
                                        </p:cTn>
                                        <p:tgtEl>
                                          <p:spTgt spid="24"/>
                                        </p:tgtEl>
                                        <p:attrNameLst>
                                          <p:attrName>style.visibility</p:attrName>
                                        </p:attrNameLst>
                                      </p:cBhvr>
                                      <p:to>
                                        <p:strVal val="visible"/>
                                      </p:to>
                                    </p:set>
                                    <p:animEffect transition="in" filter="fade">
                                      <p:cBhvr>
                                        <p:cTn id="157" dur="480"/>
                                        <p:tgtEl>
                                          <p:spTgt spid="24"/>
                                        </p:tgtEl>
                                      </p:cBhvr>
                                    </p:animEffect>
                                  </p:childTnLst>
                                </p:cTn>
                              </p:par>
                              <p:par>
                                <p:cTn id="158" presetID="10" presetClass="entr" presetSubtype="0" fill="hold" grpId="0" nodeType="withEffect">
                                  <p:stCondLst>
                                    <p:cond delay="2880"/>
                                  </p:stCondLst>
                                  <p:childTnLst>
                                    <p:set>
                                      <p:cBhvr>
                                        <p:cTn id="159" dur="1" fill="hold">
                                          <p:stCondLst>
                                            <p:cond delay="0"/>
                                          </p:stCondLst>
                                        </p:cTn>
                                        <p:tgtEl>
                                          <p:spTgt spid="25"/>
                                        </p:tgtEl>
                                        <p:attrNameLst>
                                          <p:attrName>style.visibility</p:attrName>
                                        </p:attrNameLst>
                                      </p:cBhvr>
                                      <p:to>
                                        <p:strVal val="visible"/>
                                      </p:to>
                                    </p:set>
                                    <p:animEffect transition="in" filter="fade">
                                      <p:cBhvr>
                                        <p:cTn id="160" dur="480"/>
                                        <p:tgtEl>
                                          <p:spTgt spid="25"/>
                                        </p:tgtEl>
                                      </p:cBhvr>
                                    </p:animEffect>
                                  </p:childTnLst>
                                </p:cTn>
                              </p:par>
                              <p:par>
                                <p:cTn id="161" presetID="10" presetClass="entr" presetSubtype="0" fill="hold" grpId="0" nodeType="withEffect">
                                  <p:stCondLst>
                                    <p:cond delay="2880"/>
                                  </p:stCondLst>
                                  <p:childTnLst>
                                    <p:set>
                                      <p:cBhvr>
                                        <p:cTn id="162" dur="1" fill="hold">
                                          <p:stCondLst>
                                            <p:cond delay="0"/>
                                          </p:stCondLst>
                                        </p:cTn>
                                        <p:tgtEl>
                                          <p:spTgt spid="32"/>
                                        </p:tgtEl>
                                        <p:attrNameLst>
                                          <p:attrName>style.visibility</p:attrName>
                                        </p:attrNameLst>
                                      </p:cBhvr>
                                      <p:to>
                                        <p:strVal val="visible"/>
                                      </p:to>
                                    </p:set>
                                    <p:animEffect transition="in" filter="fade">
                                      <p:cBhvr>
                                        <p:cTn id="163" dur="480"/>
                                        <p:tgtEl>
                                          <p:spTgt spid="32"/>
                                        </p:tgtEl>
                                      </p:cBhvr>
                                    </p:animEffect>
                                  </p:childTnLst>
                                </p:cTn>
                              </p:par>
                              <p:par>
                                <p:cTn id="164" presetID="10" presetClass="entr" presetSubtype="0" fill="hold" grpId="0" nodeType="withEffect">
                                  <p:stCondLst>
                                    <p:cond delay="2880"/>
                                  </p:stCondLst>
                                  <p:childTnLst>
                                    <p:set>
                                      <p:cBhvr>
                                        <p:cTn id="165" dur="1" fill="hold">
                                          <p:stCondLst>
                                            <p:cond delay="0"/>
                                          </p:stCondLst>
                                        </p:cTn>
                                        <p:tgtEl>
                                          <p:spTgt spid="33"/>
                                        </p:tgtEl>
                                        <p:attrNameLst>
                                          <p:attrName>style.visibility</p:attrName>
                                        </p:attrNameLst>
                                      </p:cBhvr>
                                      <p:to>
                                        <p:strVal val="visible"/>
                                      </p:to>
                                    </p:set>
                                    <p:animEffect transition="in" filter="fade">
                                      <p:cBhvr>
                                        <p:cTn id="166" dur="480"/>
                                        <p:tgtEl>
                                          <p:spTgt spid="33"/>
                                        </p:tgtEl>
                                      </p:cBhvr>
                                    </p:animEffect>
                                  </p:childTnLst>
                                </p:cTn>
                              </p:par>
                              <p:par>
                                <p:cTn id="167" presetID="10" presetClass="entr" presetSubtype="0" fill="hold" grpId="0" nodeType="withEffect">
                                  <p:stCondLst>
                                    <p:cond delay="2880"/>
                                  </p:stCondLst>
                                  <p:childTnLst>
                                    <p:set>
                                      <p:cBhvr>
                                        <p:cTn id="168" dur="1" fill="hold">
                                          <p:stCondLst>
                                            <p:cond delay="0"/>
                                          </p:stCondLst>
                                        </p:cTn>
                                        <p:tgtEl>
                                          <p:spTgt spid="34"/>
                                        </p:tgtEl>
                                        <p:attrNameLst>
                                          <p:attrName>style.visibility</p:attrName>
                                        </p:attrNameLst>
                                      </p:cBhvr>
                                      <p:to>
                                        <p:strVal val="visible"/>
                                      </p:to>
                                    </p:set>
                                    <p:animEffect transition="in" filter="fade">
                                      <p:cBhvr>
                                        <p:cTn id="169" dur="480"/>
                                        <p:tgtEl>
                                          <p:spTgt spid="34"/>
                                        </p:tgtEl>
                                      </p:cBhvr>
                                    </p:animEffect>
                                  </p:childTnLst>
                                </p:cTn>
                              </p:par>
                              <p:par>
                                <p:cTn id="170" presetID="10" presetClass="entr" presetSubtype="0" fill="hold" grpId="0" nodeType="withEffect">
                                  <p:stCondLst>
                                    <p:cond delay="2880"/>
                                  </p:stCondLst>
                                  <p:childTnLst>
                                    <p:set>
                                      <p:cBhvr>
                                        <p:cTn id="171" dur="1" fill="hold">
                                          <p:stCondLst>
                                            <p:cond delay="0"/>
                                          </p:stCondLst>
                                        </p:cTn>
                                        <p:tgtEl>
                                          <p:spTgt spid="41"/>
                                        </p:tgtEl>
                                        <p:attrNameLst>
                                          <p:attrName>style.visibility</p:attrName>
                                        </p:attrNameLst>
                                      </p:cBhvr>
                                      <p:to>
                                        <p:strVal val="visible"/>
                                      </p:to>
                                    </p:set>
                                    <p:animEffect transition="in" filter="fade">
                                      <p:cBhvr>
                                        <p:cTn id="172" dur="480"/>
                                        <p:tgtEl>
                                          <p:spTgt spid="41"/>
                                        </p:tgtEl>
                                      </p:cBhvr>
                                    </p:animEffect>
                                  </p:childTnLst>
                                </p:cTn>
                              </p:par>
                              <p:par>
                                <p:cTn id="173" presetID="10" presetClass="entr" presetSubtype="0" fill="hold" grpId="0" nodeType="withEffect">
                                  <p:stCondLst>
                                    <p:cond delay="2880"/>
                                  </p:stCondLst>
                                  <p:childTnLst>
                                    <p:set>
                                      <p:cBhvr>
                                        <p:cTn id="174" dur="1" fill="hold">
                                          <p:stCondLst>
                                            <p:cond delay="0"/>
                                          </p:stCondLst>
                                        </p:cTn>
                                        <p:tgtEl>
                                          <p:spTgt spid="42"/>
                                        </p:tgtEl>
                                        <p:attrNameLst>
                                          <p:attrName>style.visibility</p:attrName>
                                        </p:attrNameLst>
                                      </p:cBhvr>
                                      <p:to>
                                        <p:strVal val="visible"/>
                                      </p:to>
                                    </p:set>
                                    <p:animEffect transition="in" filter="fade">
                                      <p:cBhvr>
                                        <p:cTn id="175" dur="480"/>
                                        <p:tgtEl>
                                          <p:spTgt spid="42"/>
                                        </p:tgtEl>
                                      </p:cBhvr>
                                    </p:animEffect>
                                  </p:childTnLst>
                                </p:cTn>
                              </p:par>
                              <p:par>
                                <p:cTn id="176" presetID="10" presetClass="entr" presetSubtype="0" fill="hold" grpId="0" nodeType="withEffect">
                                  <p:stCondLst>
                                    <p:cond delay="2880"/>
                                  </p:stCondLst>
                                  <p:childTnLst>
                                    <p:set>
                                      <p:cBhvr>
                                        <p:cTn id="177" dur="1" fill="hold">
                                          <p:stCondLst>
                                            <p:cond delay="0"/>
                                          </p:stCondLst>
                                        </p:cTn>
                                        <p:tgtEl>
                                          <p:spTgt spid="43"/>
                                        </p:tgtEl>
                                        <p:attrNameLst>
                                          <p:attrName>style.visibility</p:attrName>
                                        </p:attrNameLst>
                                      </p:cBhvr>
                                      <p:to>
                                        <p:strVal val="visible"/>
                                      </p:to>
                                    </p:set>
                                    <p:animEffect transition="in" filter="fade">
                                      <p:cBhvr>
                                        <p:cTn id="178" dur="480"/>
                                        <p:tgtEl>
                                          <p:spTgt spid="43"/>
                                        </p:tgtEl>
                                      </p:cBhvr>
                                    </p:animEffect>
                                  </p:childTnLst>
                                </p:cTn>
                              </p:par>
                              <p:par>
                                <p:cTn id="179" presetID="10" presetClass="entr" presetSubtype="0" fill="hold" grpId="0" nodeType="withEffect">
                                  <p:stCondLst>
                                    <p:cond delay="2880"/>
                                  </p:stCondLst>
                                  <p:childTnLst>
                                    <p:set>
                                      <p:cBhvr>
                                        <p:cTn id="180" dur="1" fill="hold">
                                          <p:stCondLst>
                                            <p:cond delay="0"/>
                                          </p:stCondLst>
                                        </p:cTn>
                                        <p:tgtEl>
                                          <p:spTgt spid="50"/>
                                        </p:tgtEl>
                                        <p:attrNameLst>
                                          <p:attrName>style.visibility</p:attrName>
                                        </p:attrNameLst>
                                      </p:cBhvr>
                                      <p:to>
                                        <p:strVal val="visible"/>
                                      </p:to>
                                    </p:set>
                                    <p:animEffect transition="in" filter="fade">
                                      <p:cBhvr>
                                        <p:cTn id="181" dur="480"/>
                                        <p:tgtEl>
                                          <p:spTgt spid="50"/>
                                        </p:tgtEl>
                                      </p:cBhvr>
                                    </p:animEffect>
                                  </p:childTnLst>
                                </p:cTn>
                              </p:par>
                              <p:par>
                                <p:cTn id="182" presetID="10" presetClass="entr" presetSubtype="0" fill="hold" grpId="0" nodeType="withEffect">
                                  <p:stCondLst>
                                    <p:cond delay="2880"/>
                                  </p:stCondLst>
                                  <p:childTnLst>
                                    <p:set>
                                      <p:cBhvr>
                                        <p:cTn id="183" dur="1" fill="hold">
                                          <p:stCondLst>
                                            <p:cond delay="0"/>
                                          </p:stCondLst>
                                        </p:cTn>
                                        <p:tgtEl>
                                          <p:spTgt spid="51"/>
                                        </p:tgtEl>
                                        <p:attrNameLst>
                                          <p:attrName>style.visibility</p:attrName>
                                        </p:attrNameLst>
                                      </p:cBhvr>
                                      <p:to>
                                        <p:strVal val="visible"/>
                                      </p:to>
                                    </p:set>
                                    <p:animEffect transition="in" filter="fade">
                                      <p:cBhvr>
                                        <p:cTn id="184" dur="480"/>
                                        <p:tgtEl>
                                          <p:spTgt spid="51"/>
                                        </p:tgtEl>
                                      </p:cBhvr>
                                    </p:animEffect>
                                  </p:childTnLst>
                                </p:cTn>
                              </p:par>
                              <p:par>
                                <p:cTn id="185" presetID="10" presetClass="entr" presetSubtype="0" fill="hold" grpId="0" nodeType="withEffect">
                                  <p:stCondLst>
                                    <p:cond delay="2880"/>
                                  </p:stCondLst>
                                  <p:childTnLst>
                                    <p:set>
                                      <p:cBhvr>
                                        <p:cTn id="186" dur="1" fill="hold">
                                          <p:stCondLst>
                                            <p:cond delay="0"/>
                                          </p:stCondLst>
                                        </p:cTn>
                                        <p:tgtEl>
                                          <p:spTgt spid="52"/>
                                        </p:tgtEl>
                                        <p:attrNameLst>
                                          <p:attrName>style.visibility</p:attrName>
                                        </p:attrNameLst>
                                      </p:cBhvr>
                                      <p:to>
                                        <p:strVal val="visible"/>
                                      </p:to>
                                    </p:set>
                                    <p:animEffect transition="in" filter="fade">
                                      <p:cBhvr>
                                        <p:cTn id="187" dur="480"/>
                                        <p:tgtEl>
                                          <p:spTgt spid="52"/>
                                        </p:tgtEl>
                                      </p:cBhvr>
                                    </p:animEffect>
                                  </p:childTnLst>
                                </p:cTn>
                              </p:par>
                              <p:par>
                                <p:cTn id="188" presetID="10" presetClass="entr" presetSubtype="0" fill="hold" grpId="0" nodeType="withEffect">
                                  <p:stCondLst>
                                    <p:cond delay="2880"/>
                                  </p:stCondLst>
                                  <p:childTnLst>
                                    <p:set>
                                      <p:cBhvr>
                                        <p:cTn id="189" dur="1" fill="hold">
                                          <p:stCondLst>
                                            <p:cond delay="0"/>
                                          </p:stCondLst>
                                        </p:cTn>
                                        <p:tgtEl>
                                          <p:spTgt spid="59"/>
                                        </p:tgtEl>
                                        <p:attrNameLst>
                                          <p:attrName>style.visibility</p:attrName>
                                        </p:attrNameLst>
                                      </p:cBhvr>
                                      <p:to>
                                        <p:strVal val="visible"/>
                                      </p:to>
                                    </p:set>
                                    <p:animEffect transition="in" filter="fade">
                                      <p:cBhvr>
                                        <p:cTn id="190" dur="480"/>
                                        <p:tgtEl>
                                          <p:spTgt spid="59"/>
                                        </p:tgtEl>
                                      </p:cBhvr>
                                    </p:animEffect>
                                  </p:childTnLst>
                                </p:cTn>
                              </p:par>
                              <p:par>
                                <p:cTn id="191" presetID="10" presetClass="entr" presetSubtype="0" fill="hold" grpId="0" nodeType="withEffect">
                                  <p:stCondLst>
                                    <p:cond delay="2880"/>
                                  </p:stCondLst>
                                  <p:childTnLst>
                                    <p:set>
                                      <p:cBhvr>
                                        <p:cTn id="192" dur="1" fill="hold">
                                          <p:stCondLst>
                                            <p:cond delay="0"/>
                                          </p:stCondLst>
                                        </p:cTn>
                                        <p:tgtEl>
                                          <p:spTgt spid="60"/>
                                        </p:tgtEl>
                                        <p:attrNameLst>
                                          <p:attrName>style.visibility</p:attrName>
                                        </p:attrNameLst>
                                      </p:cBhvr>
                                      <p:to>
                                        <p:strVal val="visible"/>
                                      </p:to>
                                    </p:set>
                                    <p:animEffect transition="in" filter="fade">
                                      <p:cBhvr>
                                        <p:cTn id="193" dur="480"/>
                                        <p:tgtEl>
                                          <p:spTgt spid="60"/>
                                        </p:tgtEl>
                                      </p:cBhvr>
                                    </p:animEffect>
                                  </p:childTnLst>
                                </p:cTn>
                              </p:par>
                              <p:par>
                                <p:cTn id="194" presetID="10" presetClass="entr" presetSubtype="0" fill="hold" grpId="0" nodeType="withEffect">
                                  <p:stCondLst>
                                    <p:cond delay="2880"/>
                                  </p:stCondLst>
                                  <p:childTnLst>
                                    <p:set>
                                      <p:cBhvr>
                                        <p:cTn id="195" dur="1" fill="hold">
                                          <p:stCondLst>
                                            <p:cond delay="0"/>
                                          </p:stCondLst>
                                        </p:cTn>
                                        <p:tgtEl>
                                          <p:spTgt spid="61"/>
                                        </p:tgtEl>
                                        <p:attrNameLst>
                                          <p:attrName>style.visibility</p:attrName>
                                        </p:attrNameLst>
                                      </p:cBhvr>
                                      <p:to>
                                        <p:strVal val="visible"/>
                                      </p:to>
                                    </p:set>
                                    <p:animEffect transition="in" filter="fade">
                                      <p:cBhvr>
                                        <p:cTn id="196" dur="480"/>
                                        <p:tgtEl>
                                          <p:spTgt spid="61"/>
                                        </p:tgtEl>
                                      </p:cBhvr>
                                    </p:animEffect>
                                  </p:childTnLst>
                                </p:cTn>
                              </p:par>
                              <p:par>
                                <p:cTn id="197" presetID="10" presetClass="entr" presetSubtype="0" fill="hold" grpId="0" nodeType="withEffect">
                                  <p:stCondLst>
                                    <p:cond delay="2880"/>
                                  </p:stCondLst>
                                  <p:childTnLst>
                                    <p:set>
                                      <p:cBhvr>
                                        <p:cTn id="198" dur="1" fill="hold">
                                          <p:stCondLst>
                                            <p:cond delay="0"/>
                                          </p:stCondLst>
                                        </p:cTn>
                                        <p:tgtEl>
                                          <p:spTgt spid="69"/>
                                        </p:tgtEl>
                                        <p:attrNameLst>
                                          <p:attrName>style.visibility</p:attrName>
                                        </p:attrNameLst>
                                      </p:cBhvr>
                                      <p:to>
                                        <p:strVal val="visible"/>
                                      </p:to>
                                    </p:set>
                                    <p:animEffect transition="in" filter="fade">
                                      <p:cBhvr>
                                        <p:cTn id="199" dur="480"/>
                                        <p:tgtEl>
                                          <p:spTgt spid="69"/>
                                        </p:tgtEl>
                                      </p:cBhvr>
                                    </p:animEffect>
                                  </p:childTnLst>
                                </p:cTn>
                              </p:par>
                              <p:par>
                                <p:cTn id="200" presetID="10" presetClass="entr" presetSubtype="0" fill="hold" grpId="0" nodeType="withEffect">
                                  <p:stCondLst>
                                    <p:cond delay="2880"/>
                                  </p:stCondLst>
                                  <p:childTnLst>
                                    <p:set>
                                      <p:cBhvr>
                                        <p:cTn id="201" dur="1" fill="hold">
                                          <p:stCondLst>
                                            <p:cond delay="0"/>
                                          </p:stCondLst>
                                        </p:cTn>
                                        <p:tgtEl>
                                          <p:spTgt spid="70"/>
                                        </p:tgtEl>
                                        <p:attrNameLst>
                                          <p:attrName>style.visibility</p:attrName>
                                        </p:attrNameLst>
                                      </p:cBhvr>
                                      <p:to>
                                        <p:strVal val="visible"/>
                                      </p:to>
                                    </p:set>
                                    <p:animEffect transition="in" filter="fade">
                                      <p:cBhvr>
                                        <p:cTn id="202" dur="480"/>
                                        <p:tgtEl>
                                          <p:spTgt spid="70"/>
                                        </p:tgtEl>
                                      </p:cBhvr>
                                    </p:animEffect>
                                  </p:childTnLst>
                                </p:cTn>
                              </p:par>
                              <p:par>
                                <p:cTn id="203" presetID="10" presetClass="entr" presetSubtype="0" fill="hold" grpId="0" nodeType="withEffect">
                                  <p:stCondLst>
                                    <p:cond delay="2880"/>
                                  </p:stCondLst>
                                  <p:childTnLst>
                                    <p:set>
                                      <p:cBhvr>
                                        <p:cTn id="204" dur="1" fill="hold">
                                          <p:stCondLst>
                                            <p:cond delay="0"/>
                                          </p:stCondLst>
                                        </p:cTn>
                                        <p:tgtEl>
                                          <p:spTgt spid="71"/>
                                        </p:tgtEl>
                                        <p:attrNameLst>
                                          <p:attrName>style.visibility</p:attrName>
                                        </p:attrNameLst>
                                      </p:cBhvr>
                                      <p:to>
                                        <p:strVal val="visible"/>
                                      </p:to>
                                    </p:set>
                                    <p:animEffect transition="in" filter="fade">
                                      <p:cBhvr>
                                        <p:cTn id="205" dur="480"/>
                                        <p:tgtEl>
                                          <p:spTgt spid="71"/>
                                        </p:tgtEl>
                                      </p:cBhvr>
                                    </p:animEffect>
                                  </p:childTnLst>
                                </p:cTn>
                              </p:par>
                              <p:par>
                                <p:cTn id="206" presetID="10" presetClass="entr" presetSubtype="0" fill="hold" grpId="0" nodeType="withEffect">
                                  <p:stCondLst>
                                    <p:cond delay="3200"/>
                                  </p:stCondLst>
                                  <p:childTnLst>
                                    <p:set>
                                      <p:cBhvr>
                                        <p:cTn id="207" dur="1" fill="hold">
                                          <p:stCondLst>
                                            <p:cond delay="0"/>
                                          </p:stCondLst>
                                        </p:cTn>
                                        <p:tgtEl>
                                          <p:spTgt spid="72"/>
                                        </p:tgtEl>
                                        <p:attrNameLst>
                                          <p:attrName>style.visibility</p:attrName>
                                        </p:attrNameLst>
                                      </p:cBhvr>
                                      <p:to>
                                        <p:strVal val="visible"/>
                                      </p:to>
                                    </p:set>
                                    <p:animEffect transition="in" filter="fade">
                                      <p:cBhvr>
                                        <p:cTn id="208" dur="480"/>
                                        <p:tgtEl>
                                          <p:spTgt spid="72"/>
                                        </p:tgtEl>
                                      </p:cBhvr>
                                    </p:animEffect>
                                  </p:childTnLst>
                                </p:cTn>
                              </p:par>
                              <p:par>
                                <p:cTn id="209" presetID="10" presetClass="entr" presetSubtype="0" fill="hold" grpId="0" nodeType="withEffect">
                                  <p:stCondLst>
                                    <p:cond delay="3200"/>
                                  </p:stCondLst>
                                  <p:childTnLst>
                                    <p:set>
                                      <p:cBhvr>
                                        <p:cTn id="210" dur="1" fill="hold">
                                          <p:stCondLst>
                                            <p:cond delay="0"/>
                                          </p:stCondLst>
                                        </p:cTn>
                                        <p:tgtEl>
                                          <p:spTgt spid="73"/>
                                        </p:tgtEl>
                                        <p:attrNameLst>
                                          <p:attrName>style.visibility</p:attrName>
                                        </p:attrNameLst>
                                      </p:cBhvr>
                                      <p:to>
                                        <p:strVal val="visible"/>
                                      </p:to>
                                    </p:set>
                                    <p:animEffect transition="in" filter="fade">
                                      <p:cBhvr>
                                        <p:cTn id="211" dur="48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P spid="25" grpId="0" animBg="1"/>
      <p:bldP spid="26" grpId="0" animBg="1"/>
      <p:bldP spid="28" grpId="0" animBg="1"/>
      <p:bldP spid="29" grpId="0" animBg="1"/>
      <p:bldP spid="31" grpId="0" animBg="1"/>
      <p:bldP spid="32" grpId="0" animBg="1"/>
      <p:bldP spid="34" grpId="0" animBg="1"/>
      <p:bldP spid="35" grpId="0" animBg="1"/>
      <p:bldP spid="37" grpId="0" animBg="1"/>
      <p:bldP spid="38" grpId="0" animBg="1"/>
      <p:bldP spid="40" grpId="0" animBg="1"/>
      <p:bldP spid="41" grpId="0" animBg="1"/>
      <p:bldP spid="43" grpId="0" animBg="1"/>
      <p:bldP spid="44" grpId="0" animBg="1"/>
      <p:bldP spid="46" grpId="0" animBg="1"/>
      <p:bldP spid="47" grpId="0" animBg="1"/>
      <p:bldP spid="49" grpId="0" animBg="1"/>
      <p:bldP spid="50" grpId="0" animBg="1"/>
      <p:bldP spid="52" grpId="0" animBg="1"/>
      <p:bldP spid="53" grpId="0" animBg="1"/>
      <p:bldP spid="55" grpId="0" animBg="1"/>
      <p:bldP spid="56" grpId="0" animBg="1"/>
      <p:bldP spid="58" grpId="0" animBg="1"/>
      <p:bldP spid="59" grpId="0" animBg="1"/>
      <p:bldP spid="61" grpId="0" animBg="1"/>
      <p:bldP spid="62" grpId="0" animBg="1"/>
      <p:bldP spid="64" grpId="0" animBg="1"/>
      <p:bldP spid="66" grpId="0" animBg="1"/>
      <p:bldP spid="68" grpId="0" animBg="1"/>
      <p:bldP spid="69" grpId="0" animBg="1"/>
      <p:bldP spid="71" grpId="0" animBg="1"/>
      <p:bldP spid="72" grpId="0" animBg="1"/>
      <p:bldP spid="7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A0-eyebrow"/>
          <p:cNvSpPr txBox="1"/>
          <p:nvPr/>
        </p:nvSpPr>
        <p:spPr>
          <a:xfrm>
            <a:off x="685800" y="457200"/>
            <a:ext cx="8229600" cy="274320"/>
          </a:xfrm>
          <a:prstGeom prst="rect">
            <a:avLst/>
          </a:prstGeom>
          <a:noFill/>
          <a:ln/>
        </p:spPr>
        <p:txBody>
          <a:bodyPr wrap="square" lIns="0" tIns="0" rIns="0" bIns="0" rtlCol="0" anchor="t"/>
          <a:lstStyle/>
          <a:p>
            <a:pPr indent="0" marL="0">
              <a:buNone/>
            </a:pPr>
            <a:r>
              <a:rPr lang="en-US" sz="1200" spc="300" kern="0" dirty="0">
                <a:solidFill>
                  <a:srgbClr val="017A7A"/>
                </a:solidFill>
                <a:latin typeface="Poppins SemiBold" pitchFamily="34" charset="0"/>
                <a:ea typeface="Poppins SemiBold" pitchFamily="34" charset="-122"/>
                <a:cs typeface="Poppins SemiBold" pitchFamily="34" charset="-120"/>
              </a:rPr>
              <a:t>06  ·  TOOLS AND WHAT THEY ARE FOR</a:t>
            </a:r>
            <a:endParaRPr lang="en-US" sz="1200" dirty="0"/>
          </a:p>
        </p:txBody>
      </p:sp>
      <p:sp>
        <p:nvSpPr>
          <p:cNvPr id="4" name="Text 1"/>
          <p:cNvSpPr/>
          <p:nvPr>
            <p:ph idx="102" type="title" hasCustomPrompt="1"/>
          </p:nvPr>
        </p:nvSpPr>
        <p:spPr>
          <a:xfrm>
            <a:off x="685800" y="749808"/>
            <a:ext cx="10820095" cy="685800"/>
          </a:xfrm>
          <a:prstGeom prst="rect">
            <a:avLst/>
          </a:prstGeom>
          <a:noFill/>
          <a:ln/>
        </p:spPr>
        <p:txBody>
          <a:bodyPr wrap="square" lIns="0" tIns="0" rIns="0" bIns="0" rtlCol="0" anchor="t"/>
          <a:lstStyle/>
          <a:p>
            <a:pPr algn="l" indent="0" marL="0">
              <a:buNone/>
            </a:pPr>
            <a:r>
              <a:rPr lang="en-US" sz="3600" dirty="0">
                <a:solidFill>
                  <a:srgbClr val="0B1414"/>
                </a:solidFill>
                <a:latin typeface="Poppins ExtraBold" pitchFamily="34" charset="0"/>
                <a:ea typeface="Poppins ExtraBold" pitchFamily="34" charset="-122"/>
                <a:cs typeface="Poppins ExtraBold" pitchFamily="34" charset="-120"/>
              </a:rPr>
              <a:t>The Modern Engineer's Toolkit</a:t>
            </a:r>
            <a:endParaRPr lang="en-US" sz="3600" dirty="0"/>
          </a:p>
        </p:txBody>
      </p:sp>
      <p:sp>
        <p:nvSpPr>
          <p:cNvPr id="5" name="A1-t0"/>
          <p:cNvSpPr/>
          <p:nvPr/>
        </p:nvSpPr>
        <p:spPr>
          <a:xfrm>
            <a:off x="685800" y="1572768"/>
            <a:ext cx="1981139" cy="1920240"/>
          </a:xfrm>
          <a:prstGeom prst="roundRect">
            <a:avLst>
              <a:gd name="adj" fmla="val 6667"/>
            </a:avLst>
          </a:prstGeom>
          <a:solidFill>
            <a:srgbClr val="FFFFFF"/>
          </a:solidFill>
          <a:ln w="9525">
            <a:solidFill>
              <a:srgbClr val="D5E3E3"/>
            </a:solidFill>
            <a:prstDash val="solid"/>
          </a:ln>
          <a:effectLst>
            <a:outerShdw sx="100000" sy="100000" kx="0" ky="0" algn="bl" rotWithShape="0" blurRad="127000" dist="38100" dir="5400000">
              <a:srgbClr val="000000">
                <a:alpha val="10000"/>
              </a:srgbClr>
            </a:outerShdw>
          </a:effectLst>
        </p:spPr>
      </p:sp>
      <p:pic>
        <p:nvPicPr>
          <p:cNvPr id="6" name="A1-i0" descr="preencoded.png">    </p:cNvPr>
          <p:cNvPicPr>
            <a:picLocks noChangeAspect="1"/>
          </p:cNvPicPr>
          <p:nvPr/>
        </p:nvPicPr>
        <p:blipFill>
          <a:blip r:embed="rId1"/>
          <a:stretch>
            <a:fillRect/>
          </a:stretch>
        </p:blipFill>
        <p:spPr>
          <a:xfrm>
            <a:off x="886968" y="1792224"/>
            <a:ext cx="420624" cy="420624"/>
          </a:xfrm>
          <a:prstGeom prst="rect">
            <a:avLst/>
          </a:prstGeom>
        </p:spPr>
      </p:pic>
      <p:sp>
        <p:nvSpPr>
          <p:cNvPr id="7" name="A1-g0"/>
          <p:cNvSpPr/>
          <p:nvPr/>
        </p:nvSpPr>
        <p:spPr>
          <a:xfrm>
            <a:off x="1907987" y="1847088"/>
            <a:ext cx="594360" cy="237744"/>
          </a:xfrm>
          <a:prstGeom prst="roundRect">
            <a:avLst>
              <a:gd name="adj" fmla="val 50000"/>
            </a:avLst>
          </a:prstGeom>
          <a:solidFill>
            <a:srgbClr val="DDF3F3"/>
          </a:solidFill>
          <a:ln/>
        </p:spPr>
      </p:sp>
      <p:sp>
        <p:nvSpPr>
          <p:cNvPr id="8" name="A1-gt0"/>
          <p:cNvSpPr txBox="1"/>
          <p:nvPr/>
        </p:nvSpPr>
        <p:spPr>
          <a:xfrm>
            <a:off x="1907987" y="1847088"/>
            <a:ext cx="594360" cy="237744"/>
          </a:xfrm>
          <a:prstGeom prst="rect">
            <a:avLst/>
          </a:prstGeom>
          <a:noFill/>
          <a:ln/>
        </p:spPr>
        <p:txBody>
          <a:bodyPr wrap="square" lIns="0" tIns="0" rIns="0" bIns="0" rtlCol="0" anchor="ctr"/>
          <a:lstStyle/>
          <a:p>
            <a:pPr algn="ctr" indent="0" marL="0">
              <a:buNone/>
            </a:pPr>
            <a:r>
              <a:rPr lang="en-US" sz="800" spc="100" kern="0" dirty="0">
                <a:solidFill>
                  <a:srgbClr val="017A7A"/>
                </a:solidFill>
                <a:latin typeface="Poppins SemiBold" pitchFamily="34" charset="0"/>
                <a:ea typeface="Poppins SemiBold" pitchFamily="34" charset="-122"/>
                <a:cs typeface="Poppins SemiBold" pitchFamily="34" charset="-120"/>
              </a:rPr>
              <a:t>DESIGN</a:t>
            </a:r>
            <a:endParaRPr lang="en-US" sz="800" dirty="0"/>
          </a:p>
        </p:txBody>
      </p:sp>
      <p:sp>
        <p:nvSpPr>
          <p:cNvPr id="9" name="A1-n0"/>
          <p:cNvSpPr txBox="1"/>
          <p:nvPr/>
        </p:nvSpPr>
        <p:spPr>
          <a:xfrm>
            <a:off x="886968" y="2359152"/>
            <a:ext cx="1615379" cy="329184"/>
          </a:xfrm>
          <a:prstGeom prst="rect">
            <a:avLst/>
          </a:prstGeom>
          <a:noFill/>
          <a:ln/>
        </p:spPr>
        <p:txBody>
          <a:bodyPr wrap="square" lIns="0" tIns="0" rIns="0" bIns="0" rtlCol="0" anchor="t"/>
          <a:lstStyle/>
          <a:p>
            <a:pPr indent="0" marL="0">
              <a:buNone/>
            </a:pPr>
            <a:r>
              <a:rPr lang="en-US" sz="1500" dirty="0">
                <a:solidFill>
                  <a:srgbClr val="0B1414"/>
                </a:solidFill>
                <a:latin typeface="Poppins SemiBold" pitchFamily="34" charset="0"/>
                <a:ea typeface="Poppins SemiBold" pitchFamily="34" charset="-122"/>
                <a:cs typeface="Poppins SemiBold" pitchFamily="34" charset="-120"/>
              </a:rPr>
              <a:t>Figma</a:t>
            </a:r>
            <a:endParaRPr lang="en-US" sz="1500" dirty="0"/>
          </a:p>
        </p:txBody>
      </p:sp>
      <p:sp>
        <p:nvSpPr>
          <p:cNvPr id="10" name="A1-r0"/>
          <p:cNvSpPr txBox="1"/>
          <p:nvPr/>
        </p:nvSpPr>
        <p:spPr>
          <a:xfrm>
            <a:off x="886968" y="2706624"/>
            <a:ext cx="1633667" cy="685800"/>
          </a:xfrm>
          <a:prstGeom prst="rect">
            <a:avLst/>
          </a:prstGeom>
          <a:noFill/>
          <a:ln/>
        </p:spPr>
        <p:txBody>
          <a:bodyPr wrap="square" lIns="0" tIns="0" rIns="0" bIns="0" rtlCol="0" anchor="t"/>
          <a:lstStyle/>
          <a:p>
            <a:pPr indent="0" marL="0">
              <a:buNone/>
            </a:pPr>
            <a:r>
              <a:rPr lang="en-US" sz="1200" dirty="0">
                <a:solidFill>
                  <a:srgbClr val="3A4B4B"/>
                </a:solidFill>
                <a:latin typeface="Poppins" pitchFamily="34" charset="0"/>
                <a:ea typeface="Poppins" pitchFamily="34" charset="-122"/>
                <a:cs typeface="Poppins" pitchFamily="34" charset="-120"/>
              </a:rPr>
              <a:t>Design screens and prototypes before coding.</a:t>
            </a:r>
            <a:endParaRPr lang="en-US" sz="1200" dirty="0"/>
          </a:p>
        </p:txBody>
      </p:sp>
      <p:sp>
        <p:nvSpPr>
          <p:cNvPr id="11" name="A2-t1"/>
          <p:cNvSpPr/>
          <p:nvPr/>
        </p:nvSpPr>
        <p:spPr>
          <a:xfrm>
            <a:off x="2895539" y="1572768"/>
            <a:ext cx="1981139" cy="1920240"/>
          </a:xfrm>
          <a:prstGeom prst="roundRect">
            <a:avLst>
              <a:gd name="adj" fmla="val 6667"/>
            </a:avLst>
          </a:prstGeom>
          <a:solidFill>
            <a:srgbClr val="FFFFFF"/>
          </a:solidFill>
          <a:ln w="9525">
            <a:solidFill>
              <a:srgbClr val="D5E3E3"/>
            </a:solidFill>
            <a:prstDash val="solid"/>
          </a:ln>
          <a:effectLst>
            <a:outerShdw sx="100000" sy="100000" kx="0" ky="0" algn="bl" rotWithShape="0" blurRad="127000" dist="38100" dir="5400000">
              <a:srgbClr val="000000">
                <a:alpha val="10000"/>
              </a:srgbClr>
            </a:outerShdw>
          </a:effectLst>
        </p:spPr>
      </p:sp>
      <p:pic>
        <p:nvPicPr>
          <p:cNvPr id="12" name="A2-i1" descr="preencoded.png">    </p:cNvPr>
          <p:cNvPicPr>
            <a:picLocks noChangeAspect="1"/>
          </p:cNvPicPr>
          <p:nvPr/>
        </p:nvPicPr>
        <p:blipFill>
          <a:blip r:embed="rId2"/>
          <a:stretch>
            <a:fillRect/>
          </a:stretch>
        </p:blipFill>
        <p:spPr>
          <a:xfrm>
            <a:off x="3096707" y="1792224"/>
            <a:ext cx="420624" cy="420624"/>
          </a:xfrm>
          <a:prstGeom prst="rect">
            <a:avLst/>
          </a:prstGeom>
        </p:spPr>
      </p:pic>
      <p:sp>
        <p:nvSpPr>
          <p:cNvPr id="13" name="A2-g1"/>
          <p:cNvSpPr/>
          <p:nvPr/>
        </p:nvSpPr>
        <p:spPr>
          <a:xfrm>
            <a:off x="4186306" y="1847088"/>
            <a:ext cx="525780" cy="237744"/>
          </a:xfrm>
          <a:prstGeom prst="roundRect">
            <a:avLst>
              <a:gd name="adj" fmla="val 50000"/>
            </a:avLst>
          </a:prstGeom>
          <a:solidFill>
            <a:srgbClr val="DDF3F3"/>
          </a:solidFill>
          <a:ln/>
        </p:spPr>
      </p:sp>
      <p:sp>
        <p:nvSpPr>
          <p:cNvPr id="14" name="A2-gt1"/>
          <p:cNvSpPr txBox="1"/>
          <p:nvPr/>
        </p:nvSpPr>
        <p:spPr>
          <a:xfrm>
            <a:off x="4186306" y="1847088"/>
            <a:ext cx="525780" cy="237744"/>
          </a:xfrm>
          <a:prstGeom prst="rect">
            <a:avLst/>
          </a:prstGeom>
          <a:noFill/>
          <a:ln/>
        </p:spPr>
        <p:txBody>
          <a:bodyPr wrap="square" lIns="0" tIns="0" rIns="0" bIns="0" rtlCol="0" anchor="ctr"/>
          <a:lstStyle/>
          <a:p>
            <a:pPr algn="ctr" indent="0" marL="0">
              <a:buNone/>
            </a:pPr>
            <a:r>
              <a:rPr lang="en-US" sz="800" spc="100" kern="0" dirty="0">
                <a:solidFill>
                  <a:srgbClr val="017A7A"/>
                </a:solidFill>
                <a:latin typeface="Poppins SemiBold" pitchFamily="34" charset="0"/>
                <a:ea typeface="Poppins SemiBold" pitchFamily="34" charset="-122"/>
                <a:cs typeface="Poppins SemiBold" pitchFamily="34" charset="-120"/>
              </a:rPr>
              <a:t>THINK</a:t>
            </a:r>
            <a:endParaRPr lang="en-US" sz="800" dirty="0"/>
          </a:p>
        </p:txBody>
      </p:sp>
      <p:sp>
        <p:nvSpPr>
          <p:cNvPr id="15" name="A2-n1"/>
          <p:cNvSpPr txBox="1"/>
          <p:nvPr/>
        </p:nvSpPr>
        <p:spPr>
          <a:xfrm>
            <a:off x="3096707" y="2359152"/>
            <a:ext cx="1615379" cy="329184"/>
          </a:xfrm>
          <a:prstGeom prst="rect">
            <a:avLst/>
          </a:prstGeom>
          <a:noFill/>
          <a:ln/>
        </p:spPr>
        <p:txBody>
          <a:bodyPr wrap="square" lIns="0" tIns="0" rIns="0" bIns="0" rtlCol="0" anchor="t"/>
          <a:lstStyle/>
          <a:p>
            <a:pPr indent="0" marL="0">
              <a:buNone/>
            </a:pPr>
            <a:r>
              <a:rPr lang="en-US" sz="1500" dirty="0">
                <a:solidFill>
                  <a:srgbClr val="0B1414"/>
                </a:solidFill>
                <a:latin typeface="Poppins SemiBold" pitchFamily="34" charset="0"/>
                <a:ea typeface="Poppins SemiBold" pitchFamily="34" charset="-122"/>
                <a:cs typeface="Poppins SemiBold" pitchFamily="34" charset="-120"/>
              </a:rPr>
              <a:t>AI Assistants</a:t>
            </a:r>
            <a:endParaRPr lang="en-US" sz="1500" dirty="0"/>
          </a:p>
        </p:txBody>
      </p:sp>
      <p:sp>
        <p:nvSpPr>
          <p:cNvPr id="16" name="A2-r1"/>
          <p:cNvSpPr txBox="1"/>
          <p:nvPr/>
        </p:nvSpPr>
        <p:spPr>
          <a:xfrm>
            <a:off x="3096707" y="2706624"/>
            <a:ext cx="1633667" cy="685800"/>
          </a:xfrm>
          <a:prstGeom prst="rect">
            <a:avLst/>
          </a:prstGeom>
          <a:noFill/>
          <a:ln/>
        </p:spPr>
        <p:txBody>
          <a:bodyPr wrap="square" lIns="0" tIns="0" rIns="0" bIns="0" rtlCol="0" anchor="t"/>
          <a:lstStyle/>
          <a:p>
            <a:pPr indent="0" marL="0">
              <a:buNone/>
            </a:pPr>
            <a:r>
              <a:rPr lang="en-US" sz="1200" dirty="0">
                <a:solidFill>
                  <a:srgbClr val="3A4B4B"/>
                </a:solidFill>
                <a:latin typeface="Poppins" pitchFamily="34" charset="0"/>
                <a:ea typeface="Poppins" pitchFamily="34" charset="-122"/>
                <a:cs typeface="Poppins" pitchFamily="34" charset="-120"/>
              </a:rPr>
              <a:t>Claude, ChatGPT: explain, plan, review, debug.</a:t>
            </a:r>
            <a:endParaRPr lang="en-US" sz="1200" dirty="0"/>
          </a:p>
        </p:txBody>
      </p:sp>
      <p:sp>
        <p:nvSpPr>
          <p:cNvPr id="17" name="A3-t2"/>
          <p:cNvSpPr/>
          <p:nvPr/>
        </p:nvSpPr>
        <p:spPr>
          <a:xfrm>
            <a:off x="5105278" y="1572768"/>
            <a:ext cx="1981139" cy="1920240"/>
          </a:xfrm>
          <a:prstGeom prst="roundRect">
            <a:avLst>
              <a:gd name="adj" fmla="val 6667"/>
            </a:avLst>
          </a:prstGeom>
          <a:solidFill>
            <a:srgbClr val="FFFFFF"/>
          </a:solidFill>
          <a:ln w="9525">
            <a:solidFill>
              <a:srgbClr val="D5E3E3"/>
            </a:solidFill>
            <a:prstDash val="solid"/>
          </a:ln>
          <a:effectLst>
            <a:outerShdw sx="100000" sy="100000" kx="0" ky="0" algn="bl" rotWithShape="0" blurRad="127000" dist="38100" dir="5400000">
              <a:srgbClr val="000000">
                <a:alpha val="10000"/>
              </a:srgbClr>
            </a:outerShdw>
          </a:effectLst>
        </p:spPr>
      </p:sp>
      <p:pic>
        <p:nvPicPr>
          <p:cNvPr id="18" name="A3-i2" descr="preencoded.png">    </p:cNvPr>
          <p:cNvPicPr>
            <a:picLocks noChangeAspect="1"/>
          </p:cNvPicPr>
          <p:nvPr/>
        </p:nvPicPr>
        <p:blipFill>
          <a:blip r:embed="rId3"/>
          <a:stretch>
            <a:fillRect/>
          </a:stretch>
        </p:blipFill>
        <p:spPr>
          <a:xfrm>
            <a:off x="5306446" y="1792224"/>
            <a:ext cx="420624" cy="420624"/>
          </a:xfrm>
          <a:prstGeom prst="rect">
            <a:avLst/>
          </a:prstGeom>
        </p:spPr>
      </p:pic>
      <p:sp>
        <p:nvSpPr>
          <p:cNvPr id="19" name="A3-g2"/>
          <p:cNvSpPr/>
          <p:nvPr/>
        </p:nvSpPr>
        <p:spPr>
          <a:xfrm>
            <a:off x="6464625" y="1847088"/>
            <a:ext cx="457200" cy="237744"/>
          </a:xfrm>
          <a:prstGeom prst="roundRect">
            <a:avLst>
              <a:gd name="adj" fmla="val 50000"/>
            </a:avLst>
          </a:prstGeom>
          <a:solidFill>
            <a:srgbClr val="DDF3F3"/>
          </a:solidFill>
          <a:ln/>
        </p:spPr>
      </p:sp>
      <p:sp>
        <p:nvSpPr>
          <p:cNvPr id="20" name="A3-gt2"/>
          <p:cNvSpPr txBox="1"/>
          <p:nvPr/>
        </p:nvSpPr>
        <p:spPr>
          <a:xfrm>
            <a:off x="6464625" y="1847088"/>
            <a:ext cx="457200" cy="237744"/>
          </a:xfrm>
          <a:prstGeom prst="rect">
            <a:avLst/>
          </a:prstGeom>
          <a:noFill/>
          <a:ln/>
        </p:spPr>
        <p:txBody>
          <a:bodyPr wrap="square" lIns="0" tIns="0" rIns="0" bIns="0" rtlCol="0" anchor="ctr"/>
          <a:lstStyle/>
          <a:p>
            <a:pPr algn="ctr" indent="0" marL="0">
              <a:buNone/>
            </a:pPr>
            <a:r>
              <a:rPr lang="en-US" sz="800" spc="100" kern="0" dirty="0">
                <a:solidFill>
                  <a:srgbClr val="017A7A"/>
                </a:solidFill>
                <a:latin typeface="Poppins SemiBold" pitchFamily="34" charset="0"/>
                <a:ea typeface="Poppins SemiBold" pitchFamily="34" charset="-122"/>
                <a:cs typeface="Poppins SemiBold" pitchFamily="34" charset="-120"/>
              </a:rPr>
              <a:t>CODE</a:t>
            </a:r>
            <a:endParaRPr lang="en-US" sz="800" dirty="0"/>
          </a:p>
        </p:txBody>
      </p:sp>
      <p:sp>
        <p:nvSpPr>
          <p:cNvPr id="21" name="A3-n2"/>
          <p:cNvSpPr txBox="1"/>
          <p:nvPr/>
        </p:nvSpPr>
        <p:spPr>
          <a:xfrm>
            <a:off x="5306446" y="2359152"/>
            <a:ext cx="1615379" cy="329184"/>
          </a:xfrm>
          <a:prstGeom prst="rect">
            <a:avLst/>
          </a:prstGeom>
          <a:noFill/>
          <a:ln/>
        </p:spPr>
        <p:txBody>
          <a:bodyPr wrap="square" lIns="0" tIns="0" rIns="0" bIns="0" rtlCol="0" anchor="t"/>
          <a:lstStyle/>
          <a:p>
            <a:pPr indent="0" marL="0">
              <a:buNone/>
            </a:pPr>
            <a:r>
              <a:rPr lang="en-US" sz="1500" dirty="0">
                <a:solidFill>
                  <a:srgbClr val="0B1414"/>
                </a:solidFill>
                <a:latin typeface="Poppins SemiBold" pitchFamily="34" charset="0"/>
                <a:ea typeface="Poppins SemiBold" pitchFamily="34" charset="-122"/>
                <a:cs typeface="Poppins SemiBold" pitchFamily="34" charset="-120"/>
              </a:rPr>
              <a:t>Cursor</a:t>
            </a:r>
            <a:endParaRPr lang="en-US" sz="1500" dirty="0"/>
          </a:p>
        </p:txBody>
      </p:sp>
      <p:sp>
        <p:nvSpPr>
          <p:cNvPr id="22" name="A3-r2"/>
          <p:cNvSpPr txBox="1"/>
          <p:nvPr/>
        </p:nvSpPr>
        <p:spPr>
          <a:xfrm>
            <a:off x="5306446" y="2706624"/>
            <a:ext cx="1633667" cy="685800"/>
          </a:xfrm>
          <a:prstGeom prst="rect">
            <a:avLst/>
          </a:prstGeom>
          <a:noFill/>
          <a:ln/>
        </p:spPr>
        <p:txBody>
          <a:bodyPr wrap="square" lIns="0" tIns="0" rIns="0" bIns="0" rtlCol="0" anchor="t"/>
          <a:lstStyle/>
          <a:p>
            <a:pPr indent="0" marL="0">
              <a:buNone/>
            </a:pPr>
            <a:r>
              <a:rPr lang="en-US" sz="1200" dirty="0">
                <a:solidFill>
                  <a:srgbClr val="3A4B4B"/>
                </a:solidFill>
                <a:latin typeface="Poppins" pitchFamily="34" charset="0"/>
                <a:ea typeface="Poppins" pitchFamily="34" charset="-122"/>
                <a:cs typeface="Poppins" pitchFamily="34" charset="-120"/>
              </a:rPr>
              <a:t>AI code editor that understands your repo.</a:t>
            </a:r>
            <a:endParaRPr lang="en-US" sz="1200" dirty="0"/>
          </a:p>
        </p:txBody>
      </p:sp>
      <p:sp>
        <p:nvSpPr>
          <p:cNvPr id="23" name="A4-t3"/>
          <p:cNvSpPr/>
          <p:nvPr/>
        </p:nvSpPr>
        <p:spPr>
          <a:xfrm>
            <a:off x="7315017" y="1572768"/>
            <a:ext cx="1981139" cy="1920240"/>
          </a:xfrm>
          <a:prstGeom prst="roundRect">
            <a:avLst>
              <a:gd name="adj" fmla="val 6667"/>
            </a:avLst>
          </a:prstGeom>
          <a:solidFill>
            <a:srgbClr val="FFFFFF"/>
          </a:solidFill>
          <a:ln w="9525">
            <a:solidFill>
              <a:srgbClr val="D5E3E3"/>
            </a:solidFill>
            <a:prstDash val="solid"/>
          </a:ln>
          <a:effectLst>
            <a:outerShdw sx="100000" sy="100000" kx="0" ky="0" algn="bl" rotWithShape="0" blurRad="127000" dist="38100" dir="5400000">
              <a:srgbClr val="000000">
                <a:alpha val="10000"/>
              </a:srgbClr>
            </a:outerShdw>
          </a:effectLst>
        </p:spPr>
      </p:sp>
      <p:pic>
        <p:nvPicPr>
          <p:cNvPr id="24" name="A4-i3" descr="preencoded.png">    </p:cNvPr>
          <p:cNvPicPr>
            <a:picLocks noChangeAspect="1"/>
          </p:cNvPicPr>
          <p:nvPr/>
        </p:nvPicPr>
        <p:blipFill>
          <a:blip r:embed="rId4"/>
          <a:stretch>
            <a:fillRect/>
          </a:stretch>
        </p:blipFill>
        <p:spPr>
          <a:xfrm>
            <a:off x="7516185" y="1792224"/>
            <a:ext cx="420624" cy="420624"/>
          </a:xfrm>
          <a:prstGeom prst="rect">
            <a:avLst/>
          </a:prstGeom>
        </p:spPr>
      </p:pic>
      <p:sp>
        <p:nvSpPr>
          <p:cNvPr id="25" name="A4-g3"/>
          <p:cNvSpPr/>
          <p:nvPr/>
        </p:nvSpPr>
        <p:spPr>
          <a:xfrm>
            <a:off x="8194304" y="1847088"/>
            <a:ext cx="937260" cy="237744"/>
          </a:xfrm>
          <a:prstGeom prst="roundRect">
            <a:avLst>
              <a:gd name="adj" fmla="val 50000"/>
            </a:avLst>
          </a:prstGeom>
          <a:solidFill>
            <a:srgbClr val="DDF3F3"/>
          </a:solidFill>
          <a:ln/>
        </p:spPr>
      </p:sp>
      <p:sp>
        <p:nvSpPr>
          <p:cNvPr id="26" name="A4-gt3"/>
          <p:cNvSpPr txBox="1"/>
          <p:nvPr/>
        </p:nvSpPr>
        <p:spPr>
          <a:xfrm>
            <a:off x="8194304" y="1847088"/>
            <a:ext cx="937260" cy="237744"/>
          </a:xfrm>
          <a:prstGeom prst="rect">
            <a:avLst/>
          </a:prstGeom>
          <a:noFill/>
          <a:ln/>
        </p:spPr>
        <p:txBody>
          <a:bodyPr wrap="square" lIns="0" tIns="0" rIns="0" bIns="0" rtlCol="0" anchor="ctr"/>
          <a:lstStyle/>
          <a:p>
            <a:pPr algn="ctr" indent="0" marL="0">
              <a:buNone/>
            </a:pPr>
            <a:r>
              <a:rPr lang="en-US" sz="800" spc="100" kern="0" dirty="0">
                <a:solidFill>
                  <a:srgbClr val="017A7A"/>
                </a:solidFill>
                <a:latin typeface="Poppins SemiBold" pitchFamily="34" charset="0"/>
                <a:ea typeface="Poppins SemiBold" pitchFamily="34" charset="-122"/>
                <a:cs typeface="Poppins SemiBold" pitchFamily="34" charset="-120"/>
              </a:rPr>
              <a:t>COLLABORATE</a:t>
            </a:r>
            <a:endParaRPr lang="en-US" sz="800" dirty="0"/>
          </a:p>
        </p:txBody>
      </p:sp>
      <p:sp>
        <p:nvSpPr>
          <p:cNvPr id="27" name="A4-n3"/>
          <p:cNvSpPr txBox="1"/>
          <p:nvPr/>
        </p:nvSpPr>
        <p:spPr>
          <a:xfrm>
            <a:off x="7516185" y="2359152"/>
            <a:ext cx="1615379" cy="329184"/>
          </a:xfrm>
          <a:prstGeom prst="rect">
            <a:avLst/>
          </a:prstGeom>
          <a:noFill/>
          <a:ln/>
        </p:spPr>
        <p:txBody>
          <a:bodyPr wrap="square" lIns="0" tIns="0" rIns="0" bIns="0" rtlCol="0" anchor="t"/>
          <a:lstStyle/>
          <a:p>
            <a:pPr indent="0" marL="0">
              <a:buNone/>
            </a:pPr>
            <a:r>
              <a:rPr lang="en-US" sz="1500" dirty="0">
                <a:solidFill>
                  <a:srgbClr val="0B1414"/>
                </a:solidFill>
                <a:latin typeface="Poppins SemiBold" pitchFamily="34" charset="0"/>
                <a:ea typeface="Poppins SemiBold" pitchFamily="34" charset="-122"/>
                <a:cs typeface="Poppins SemiBold" pitchFamily="34" charset="-120"/>
              </a:rPr>
              <a:t>GitHub</a:t>
            </a:r>
            <a:endParaRPr lang="en-US" sz="1500" dirty="0"/>
          </a:p>
        </p:txBody>
      </p:sp>
      <p:sp>
        <p:nvSpPr>
          <p:cNvPr id="28" name="A4-r3"/>
          <p:cNvSpPr txBox="1"/>
          <p:nvPr/>
        </p:nvSpPr>
        <p:spPr>
          <a:xfrm>
            <a:off x="7516185" y="2706624"/>
            <a:ext cx="1633667" cy="685800"/>
          </a:xfrm>
          <a:prstGeom prst="rect">
            <a:avLst/>
          </a:prstGeom>
          <a:noFill/>
          <a:ln/>
        </p:spPr>
        <p:txBody>
          <a:bodyPr wrap="square" lIns="0" tIns="0" rIns="0" bIns="0" rtlCol="0" anchor="t"/>
          <a:lstStyle/>
          <a:p>
            <a:pPr indent="0" marL="0">
              <a:buNone/>
            </a:pPr>
            <a:r>
              <a:rPr lang="en-US" sz="1200" dirty="0">
                <a:solidFill>
                  <a:srgbClr val="3A4B4B"/>
                </a:solidFill>
                <a:latin typeface="Poppins" pitchFamily="34" charset="0"/>
                <a:ea typeface="Poppins" pitchFamily="34" charset="-122"/>
                <a:cs typeface="Poppins" pitchFamily="34" charset="-120"/>
              </a:rPr>
              <a:t>Version control and your public portfolio.</a:t>
            </a:r>
            <a:endParaRPr lang="en-US" sz="1200" dirty="0"/>
          </a:p>
        </p:txBody>
      </p:sp>
      <p:sp>
        <p:nvSpPr>
          <p:cNvPr id="29" name="A5-t4"/>
          <p:cNvSpPr/>
          <p:nvPr/>
        </p:nvSpPr>
        <p:spPr>
          <a:xfrm>
            <a:off x="9524756" y="1572768"/>
            <a:ext cx="1981139" cy="1920240"/>
          </a:xfrm>
          <a:prstGeom prst="roundRect">
            <a:avLst>
              <a:gd name="adj" fmla="val 6667"/>
            </a:avLst>
          </a:prstGeom>
          <a:solidFill>
            <a:srgbClr val="FFFFFF"/>
          </a:solidFill>
          <a:ln w="9525">
            <a:solidFill>
              <a:srgbClr val="D5E3E3"/>
            </a:solidFill>
            <a:prstDash val="solid"/>
          </a:ln>
          <a:effectLst>
            <a:outerShdw sx="100000" sy="100000" kx="0" ky="0" algn="bl" rotWithShape="0" blurRad="127000" dist="38100" dir="5400000">
              <a:srgbClr val="000000">
                <a:alpha val="10000"/>
              </a:srgbClr>
            </a:outerShdw>
          </a:effectLst>
        </p:spPr>
      </p:sp>
      <p:pic>
        <p:nvPicPr>
          <p:cNvPr id="30" name="A5-i4" descr="preencoded.png">    </p:cNvPr>
          <p:cNvPicPr>
            <a:picLocks noChangeAspect="1"/>
          </p:cNvPicPr>
          <p:nvPr/>
        </p:nvPicPr>
        <p:blipFill>
          <a:blip r:embed="rId5"/>
          <a:stretch>
            <a:fillRect/>
          </a:stretch>
        </p:blipFill>
        <p:spPr>
          <a:xfrm>
            <a:off x="9725924" y="1792224"/>
            <a:ext cx="420624" cy="420624"/>
          </a:xfrm>
          <a:prstGeom prst="rect">
            <a:avLst/>
          </a:prstGeom>
        </p:spPr>
      </p:pic>
      <p:sp>
        <p:nvSpPr>
          <p:cNvPr id="31" name="A5-g4"/>
          <p:cNvSpPr/>
          <p:nvPr/>
        </p:nvSpPr>
        <p:spPr>
          <a:xfrm>
            <a:off x="10678363" y="1847088"/>
            <a:ext cx="662940" cy="237744"/>
          </a:xfrm>
          <a:prstGeom prst="roundRect">
            <a:avLst>
              <a:gd name="adj" fmla="val 50000"/>
            </a:avLst>
          </a:prstGeom>
          <a:solidFill>
            <a:srgbClr val="DDF3F3"/>
          </a:solidFill>
          <a:ln/>
        </p:spPr>
      </p:sp>
      <p:sp>
        <p:nvSpPr>
          <p:cNvPr id="32" name="A5-gt4"/>
          <p:cNvSpPr txBox="1"/>
          <p:nvPr/>
        </p:nvSpPr>
        <p:spPr>
          <a:xfrm>
            <a:off x="10678363" y="1847088"/>
            <a:ext cx="662940" cy="237744"/>
          </a:xfrm>
          <a:prstGeom prst="rect">
            <a:avLst/>
          </a:prstGeom>
          <a:noFill/>
          <a:ln/>
        </p:spPr>
        <p:txBody>
          <a:bodyPr wrap="square" lIns="0" tIns="0" rIns="0" bIns="0" rtlCol="0" anchor="ctr"/>
          <a:lstStyle/>
          <a:p>
            <a:pPr algn="ctr" indent="0" marL="0">
              <a:buNone/>
            </a:pPr>
            <a:r>
              <a:rPr lang="en-US" sz="800" spc="100" kern="0" dirty="0">
                <a:solidFill>
                  <a:srgbClr val="017A7A"/>
                </a:solidFill>
                <a:latin typeface="Poppins SemiBold" pitchFamily="34" charset="0"/>
                <a:ea typeface="Poppins SemiBold" pitchFamily="34" charset="-122"/>
                <a:cs typeface="Poppins SemiBold" pitchFamily="34" charset="-120"/>
              </a:rPr>
              <a:t>BACKEND</a:t>
            </a:r>
            <a:endParaRPr lang="en-US" sz="800" dirty="0"/>
          </a:p>
        </p:txBody>
      </p:sp>
      <p:sp>
        <p:nvSpPr>
          <p:cNvPr id="33" name="A5-n4"/>
          <p:cNvSpPr txBox="1"/>
          <p:nvPr/>
        </p:nvSpPr>
        <p:spPr>
          <a:xfrm>
            <a:off x="9725924" y="2359152"/>
            <a:ext cx="1615379" cy="329184"/>
          </a:xfrm>
          <a:prstGeom prst="rect">
            <a:avLst/>
          </a:prstGeom>
          <a:noFill/>
          <a:ln/>
        </p:spPr>
        <p:txBody>
          <a:bodyPr wrap="square" lIns="0" tIns="0" rIns="0" bIns="0" rtlCol="0" anchor="t"/>
          <a:lstStyle/>
          <a:p>
            <a:pPr indent="0" marL="0">
              <a:buNone/>
            </a:pPr>
            <a:r>
              <a:rPr lang="en-US" sz="1500" dirty="0">
                <a:solidFill>
                  <a:srgbClr val="0B1414"/>
                </a:solidFill>
                <a:latin typeface="Poppins SemiBold" pitchFamily="34" charset="0"/>
                <a:ea typeface="Poppins SemiBold" pitchFamily="34" charset="-122"/>
                <a:cs typeface="Poppins SemiBold" pitchFamily="34" charset="-120"/>
              </a:rPr>
              <a:t>FastAPI</a:t>
            </a:r>
            <a:endParaRPr lang="en-US" sz="1500" dirty="0"/>
          </a:p>
        </p:txBody>
      </p:sp>
      <p:sp>
        <p:nvSpPr>
          <p:cNvPr id="34" name="A5-r4"/>
          <p:cNvSpPr txBox="1"/>
          <p:nvPr/>
        </p:nvSpPr>
        <p:spPr>
          <a:xfrm>
            <a:off x="9725924" y="2706624"/>
            <a:ext cx="1633667" cy="685800"/>
          </a:xfrm>
          <a:prstGeom prst="rect">
            <a:avLst/>
          </a:prstGeom>
          <a:noFill/>
          <a:ln/>
        </p:spPr>
        <p:txBody>
          <a:bodyPr wrap="square" lIns="0" tIns="0" rIns="0" bIns="0" rtlCol="0" anchor="t"/>
          <a:lstStyle/>
          <a:p>
            <a:pPr indent="0" marL="0">
              <a:buNone/>
            </a:pPr>
            <a:r>
              <a:rPr lang="en-US" sz="1200" dirty="0">
                <a:solidFill>
                  <a:srgbClr val="3A4B4B"/>
                </a:solidFill>
                <a:latin typeface="Poppins" pitchFamily="34" charset="0"/>
                <a:ea typeface="Poppins" pitchFamily="34" charset="-122"/>
                <a:cs typeface="Poppins" pitchFamily="34" charset="-120"/>
              </a:rPr>
              <a:t>Fast, typed Python APIs with automatic docs.</a:t>
            </a:r>
            <a:endParaRPr lang="en-US" sz="1200" dirty="0"/>
          </a:p>
        </p:txBody>
      </p:sp>
      <p:sp>
        <p:nvSpPr>
          <p:cNvPr id="35" name="A1-t5"/>
          <p:cNvSpPr/>
          <p:nvPr/>
        </p:nvSpPr>
        <p:spPr>
          <a:xfrm>
            <a:off x="685800" y="3675888"/>
            <a:ext cx="1981139" cy="1920240"/>
          </a:xfrm>
          <a:prstGeom prst="roundRect">
            <a:avLst>
              <a:gd name="adj" fmla="val 6667"/>
            </a:avLst>
          </a:prstGeom>
          <a:solidFill>
            <a:srgbClr val="FFFFFF"/>
          </a:solidFill>
          <a:ln w="9525">
            <a:solidFill>
              <a:srgbClr val="D5E3E3"/>
            </a:solidFill>
            <a:prstDash val="solid"/>
          </a:ln>
          <a:effectLst>
            <a:outerShdw sx="100000" sy="100000" kx="0" ky="0" algn="bl" rotWithShape="0" blurRad="127000" dist="38100" dir="5400000">
              <a:srgbClr val="000000">
                <a:alpha val="10000"/>
              </a:srgbClr>
            </a:outerShdw>
          </a:effectLst>
        </p:spPr>
      </p:sp>
      <p:pic>
        <p:nvPicPr>
          <p:cNvPr id="36" name="A1-i5" descr="preencoded.png">    </p:cNvPr>
          <p:cNvPicPr>
            <a:picLocks noChangeAspect="1"/>
          </p:cNvPicPr>
          <p:nvPr/>
        </p:nvPicPr>
        <p:blipFill>
          <a:blip r:embed="rId6"/>
          <a:stretch>
            <a:fillRect/>
          </a:stretch>
        </p:blipFill>
        <p:spPr>
          <a:xfrm>
            <a:off x="886968" y="3895344"/>
            <a:ext cx="420624" cy="420624"/>
          </a:xfrm>
          <a:prstGeom prst="rect">
            <a:avLst/>
          </a:prstGeom>
        </p:spPr>
      </p:pic>
      <p:sp>
        <p:nvSpPr>
          <p:cNvPr id="37" name="A1-g5"/>
          <p:cNvSpPr/>
          <p:nvPr/>
        </p:nvSpPr>
        <p:spPr>
          <a:xfrm>
            <a:off x="2045147" y="3950208"/>
            <a:ext cx="457200" cy="237744"/>
          </a:xfrm>
          <a:prstGeom prst="roundRect">
            <a:avLst>
              <a:gd name="adj" fmla="val 50000"/>
            </a:avLst>
          </a:prstGeom>
          <a:solidFill>
            <a:srgbClr val="DDF3F3"/>
          </a:solidFill>
          <a:ln/>
        </p:spPr>
      </p:sp>
      <p:sp>
        <p:nvSpPr>
          <p:cNvPr id="38" name="A1-gt5"/>
          <p:cNvSpPr txBox="1"/>
          <p:nvPr/>
        </p:nvSpPr>
        <p:spPr>
          <a:xfrm>
            <a:off x="2045147" y="3950208"/>
            <a:ext cx="457200" cy="237744"/>
          </a:xfrm>
          <a:prstGeom prst="rect">
            <a:avLst/>
          </a:prstGeom>
          <a:noFill/>
          <a:ln/>
        </p:spPr>
        <p:txBody>
          <a:bodyPr wrap="square" lIns="0" tIns="0" rIns="0" bIns="0" rtlCol="0" anchor="ctr"/>
          <a:lstStyle/>
          <a:p>
            <a:pPr algn="ctr" indent="0" marL="0">
              <a:buNone/>
            </a:pPr>
            <a:r>
              <a:rPr lang="en-US" sz="800" spc="100" kern="0" dirty="0">
                <a:solidFill>
                  <a:srgbClr val="017A7A"/>
                </a:solidFill>
                <a:latin typeface="Poppins SemiBold" pitchFamily="34" charset="0"/>
                <a:ea typeface="Poppins SemiBold" pitchFamily="34" charset="-122"/>
                <a:cs typeface="Poppins SemiBold" pitchFamily="34" charset="-120"/>
              </a:rPr>
              <a:t>DATA</a:t>
            </a:r>
            <a:endParaRPr lang="en-US" sz="800" dirty="0"/>
          </a:p>
        </p:txBody>
      </p:sp>
      <p:sp>
        <p:nvSpPr>
          <p:cNvPr id="39" name="A1-n5"/>
          <p:cNvSpPr txBox="1"/>
          <p:nvPr/>
        </p:nvSpPr>
        <p:spPr>
          <a:xfrm>
            <a:off x="886968" y="4462272"/>
            <a:ext cx="1615379" cy="329184"/>
          </a:xfrm>
          <a:prstGeom prst="rect">
            <a:avLst/>
          </a:prstGeom>
          <a:noFill/>
          <a:ln/>
        </p:spPr>
        <p:txBody>
          <a:bodyPr wrap="square" lIns="0" tIns="0" rIns="0" bIns="0" rtlCol="0" anchor="t"/>
          <a:lstStyle/>
          <a:p>
            <a:pPr indent="0" marL="0">
              <a:buNone/>
            </a:pPr>
            <a:r>
              <a:rPr lang="en-US" sz="1500" dirty="0">
                <a:solidFill>
                  <a:srgbClr val="0B1414"/>
                </a:solidFill>
                <a:latin typeface="Poppins SemiBold" pitchFamily="34" charset="0"/>
                <a:ea typeface="Poppins SemiBold" pitchFamily="34" charset="-122"/>
                <a:cs typeface="Poppins SemiBold" pitchFamily="34" charset="-120"/>
              </a:rPr>
              <a:t>PostgreSQL</a:t>
            </a:r>
            <a:endParaRPr lang="en-US" sz="1500" dirty="0"/>
          </a:p>
        </p:txBody>
      </p:sp>
      <p:sp>
        <p:nvSpPr>
          <p:cNvPr id="40" name="A1-r5"/>
          <p:cNvSpPr txBox="1"/>
          <p:nvPr/>
        </p:nvSpPr>
        <p:spPr>
          <a:xfrm>
            <a:off x="886968" y="4809744"/>
            <a:ext cx="1633667" cy="685800"/>
          </a:xfrm>
          <a:prstGeom prst="rect">
            <a:avLst/>
          </a:prstGeom>
          <a:noFill/>
          <a:ln/>
        </p:spPr>
        <p:txBody>
          <a:bodyPr wrap="square" lIns="0" tIns="0" rIns="0" bIns="0" rtlCol="0" anchor="t"/>
          <a:lstStyle/>
          <a:p>
            <a:pPr indent="0" marL="0">
              <a:buNone/>
            </a:pPr>
            <a:r>
              <a:rPr lang="en-US" sz="1200" dirty="0">
                <a:solidFill>
                  <a:srgbClr val="3A4B4B"/>
                </a:solidFill>
                <a:latin typeface="Poppins" pitchFamily="34" charset="0"/>
                <a:ea typeface="Poppins" pitchFamily="34" charset="-122"/>
                <a:cs typeface="Poppins" pitchFamily="34" charset="-120"/>
              </a:rPr>
              <a:t>The relational database behind real products.</a:t>
            </a:r>
            <a:endParaRPr lang="en-US" sz="1200" dirty="0"/>
          </a:p>
        </p:txBody>
      </p:sp>
      <p:sp>
        <p:nvSpPr>
          <p:cNvPr id="41" name="A2-t6"/>
          <p:cNvSpPr/>
          <p:nvPr/>
        </p:nvSpPr>
        <p:spPr>
          <a:xfrm>
            <a:off x="2895539" y="3675888"/>
            <a:ext cx="1981139" cy="1920240"/>
          </a:xfrm>
          <a:prstGeom prst="roundRect">
            <a:avLst>
              <a:gd name="adj" fmla="val 6667"/>
            </a:avLst>
          </a:prstGeom>
          <a:solidFill>
            <a:srgbClr val="FFFFFF"/>
          </a:solidFill>
          <a:ln w="9525">
            <a:solidFill>
              <a:srgbClr val="D5E3E3"/>
            </a:solidFill>
            <a:prstDash val="solid"/>
          </a:ln>
          <a:effectLst>
            <a:outerShdw sx="100000" sy="100000" kx="0" ky="0" algn="bl" rotWithShape="0" blurRad="127000" dist="38100" dir="5400000">
              <a:srgbClr val="000000">
                <a:alpha val="10000"/>
              </a:srgbClr>
            </a:outerShdw>
          </a:effectLst>
        </p:spPr>
      </p:sp>
      <p:pic>
        <p:nvPicPr>
          <p:cNvPr id="42" name="A2-i6" descr="preencoded.png">    </p:cNvPr>
          <p:cNvPicPr>
            <a:picLocks noChangeAspect="1"/>
          </p:cNvPicPr>
          <p:nvPr/>
        </p:nvPicPr>
        <p:blipFill>
          <a:blip r:embed="rId7"/>
          <a:stretch>
            <a:fillRect/>
          </a:stretch>
        </p:blipFill>
        <p:spPr>
          <a:xfrm>
            <a:off x="3096707" y="3895344"/>
            <a:ext cx="420624" cy="420624"/>
          </a:xfrm>
          <a:prstGeom prst="rect">
            <a:avLst/>
          </a:prstGeom>
        </p:spPr>
      </p:pic>
      <p:sp>
        <p:nvSpPr>
          <p:cNvPr id="43" name="A2-g6"/>
          <p:cNvSpPr/>
          <p:nvPr/>
        </p:nvSpPr>
        <p:spPr>
          <a:xfrm>
            <a:off x="4254886" y="3950208"/>
            <a:ext cx="457200" cy="237744"/>
          </a:xfrm>
          <a:prstGeom prst="roundRect">
            <a:avLst>
              <a:gd name="adj" fmla="val 50000"/>
            </a:avLst>
          </a:prstGeom>
          <a:solidFill>
            <a:srgbClr val="DDF3F3"/>
          </a:solidFill>
          <a:ln/>
        </p:spPr>
      </p:sp>
      <p:sp>
        <p:nvSpPr>
          <p:cNvPr id="44" name="A2-gt6"/>
          <p:cNvSpPr txBox="1"/>
          <p:nvPr/>
        </p:nvSpPr>
        <p:spPr>
          <a:xfrm>
            <a:off x="4254886" y="3950208"/>
            <a:ext cx="457200" cy="237744"/>
          </a:xfrm>
          <a:prstGeom prst="rect">
            <a:avLst/>
          </a:prstGeom>
          <a:noFill/>
          <a:ln/>
        </p:spPr>
        <p:txBody>
          <a:bodyPr wrap="square" lIns="0" tIns="0" rIns="0" bIns="0" rtlCol="0" anchor="ctr"/>
          <a:lstStyle/>
          <a:p>
            <a:pPr algn="ctr" indent="0" marL="0">
              <a:buNone/>
            </a:pPr>
            <a:r>
              <a:rPr lang="en-US" sz="800" spc="100" kern="0" dirty="0">
                <a:solidFill>
                  <a:srgbClr val="017A7A"/>
                </a:solidFill>
                <a:latin typeface="Poppins SemiBold" pitchFamily="34" charset="0"/>
                <a:ea typeface="Poppins SemiBold" pitchFamily="34" charset="-122"/>
                <a:cs typeface="Poppins SemiBold" pitchFamily="34" charset="-120"/>
              </a:rPr>
              <a:t>DATA</a:t>
            </a:r>
            <a:endParaRPr lang="en-US" sz="800" dirty="0"/>
          </a:p>
        </p:txBody>
      </p:sp>
      <p:sp>
        <p:nvSpPr>
          <p:cNvPr id="45" name="A2-n6"/>
          <p:cNvSpPr txBox="1"/>
          <p:nvPr/>
        </p:nvSpPr>
        <p:spPr>
          <a:xfrm>
            <a:off x="3096707" y="4462272"/>
            <a:ext cx="1615379" cy="329184"/>
          </a:xfrm>
          <a:prstGeom prst="rect">
            <a:avLst/>
          </a:prstGeom>
          <a:noFill/>
          <a:ln/>
        </p:spPr>
        <p:txBody>
          <a:bodyPr wrap="square" lIns="0" tIns="0" rIns="0" bIns="0" rtlCol="0" anchor="t"/>
          <a:lstStyle/>
          <a:p>
            <a:pPr indent="0" marL="0">
              <a:buNone/>
            </a:pPr>
            <a:r>
              <a:rPr lang="en-US" sz="1500" dirty="0">
                <a:solidFill>
                  <a:srgbClr val="0B1414"/>
                </a:solidFill>
                <a:latin typeface="Poppins SemiBold" pitchFamily="34" charset="0"/>
                <a:ea typeface="Poppins SemiBold" pitchFamily="34" charset="-122"/>
                <a:cs typeface="Poppins SemiBold" pitchFamily="34" charset="-120"/>
              </a:rPr>
              <a:t>Supabase</a:t>
            </a:r>
            <a:endParaRPr lang="en-US" sz="1500" dirty="0"/>
          </a:p>
        </p:txBody>
      </p:sp>
      <p:sp>
        <p:nvSpPr>
          <p:cNvPr id="46" name="A2-r6"/>
          <p:cNvSpPr txBox="1"/>
          <p:nvPr/>
        </p:nvSpPr>
        <p:spPr>
          <a:xfrm>
            <a:off x="3096707" y="4809744"/>
            <a:ext cx="1633667" cy="685800"/>
          </a:xfrm>
          <a:prstGeom prst="rect">
            <a:avLst/>
          </a:prstGeom>
          <a:noFill/>
          <a:ln/>
        </p:spPr>
        <p:txBody>
          <a:bodyPr wrap="square" lIns="0" tIns="0" rIns="0" bIns="0" rtlCol="0" anchor="t"/>
          <a:lstStyle/>
          <a:p>
            <a:pPr indent="0" marL="0">
              <a:buNone/>
            </a:pPr>
            <a:r>
              <a:rPr lang="en-US" sz="1200" dirty="0">
                <a:solidFill>
                  <a:srgbClr val="3A4B4B"/>
                </a:solidFill>
                <a:latin typeface="Poppins" pitchFamily="34" charset="0"/>
                <a:ea typeface="Poppins" pitchFamily="34" charset="-122"/>
                <a:cs typeface="Poppins" pitchFamily="34" charset="-120"/>
              </a:rPr>
              <a:t>Postgres plus auth and storage in minutes.</a:t>
            </a:r>
            <a:endParaRPr lang="en-US" sz="1200" dirty="0"/>
          </a:p>
        </p:txBody>
      </p:sp>
      <p:sp>
        <p:nvSpPr>
          <p:cNvPr id="47" name="A3-t7"/>
          <p:cNvSpPr/>
          <p:nvPr/>
        </p:nvSpPr>
        <p:spPr>
          <a:xfrm>
            <a:off x="5105278" y="3675888"/>
            <a:ext cx="1981139" cy="1920240"/>
          </a:xfrm>
          <a:prstGeom prst="roundRect">
            <a:avLst>
              <a:gd name="adj" fmla="val 6667"/>
            </a:avLst>
          </a:prstGeom>
          <a:solidFill>
            <a:srgbClr val="FFFFFF"/>
          </a:solidFill>
          <a:ln w="9525">
            <a:solidFill>
              <a:srgbClr val="D5E3E3"/>
            </a:solidFill>
            <a:prstDash val="solid"/>
          </a:ln>
          <a:effectLst>
            <a:outerShdw sx="100000" sy="100000" kx="0" ky="0" algn="bl" rotWithShape="0" blurRad="127000" dist="38100" dir="5400000">
              <a:srgbClr val="000000">
                <a:alpha val="10000"/>
              </a:srgbClr>
            </a:outerShdw>
          </a:effectLst>
        </p:spPr>
      </p:sp>
      <p:pic>
        <p:nvPicPr>
          <p:cNvPr id="48" name="A3-i7" descr="preencoded.png">    </p:cNvPr>
          <p:cNvPicPr>
            <a:picLocks noChangeAspect="1"/>
          </p:cNvPicPr>
          <p:nvPr/>
        </p:nvPicPr>
        <p:blipFill>
          <a:blip r:embed="rId8"/>
          <a:stretch>
            <a:fillRect/>
          </a:stretch>
        </p:blipFill>
        <p:spPr>
          <a:xfrm>
            <a:off x="5306446" y="3895344"/>
            <a:ext cx="420624" cy="420624"/>
          </a:xfrm>
          <a:prstGeom prst="rect">
            <a:avLst/>
          </a:prstGeom>
        </p:spPr>
      </p:pic>
      <p:sp>
        <p:nvSpPr>
          <p:cNvPr id="49" name="A3-g7"/>
          <p:cNvSpPr/>
          <p:nvPr/>
        </p:nvSpPr>
        <p:spPr>
          <a:xfrm>
            <a:off x="6464625" y="3950208"/>
            <a:ext cx="457200" cy="237744"/>
          </a:xfrm>
          <a:prstGeom prst="roundRect">
            <a:avLst>
              <a:gd name="adj" fmla="val 50000"/>
            </a:avLst>
          </a:prstGeom>
          <a:solidFill>
            <a:srgbClr val="DDF3F3"/>
          </a:solidFill>
          <a:ln/>
        </p:spPr>
      </p:sp>
      <p:sp>
        <p:nvSpPr>
          <p:cNvPr id="50" name="A3-gt7"/>
          <p:cNvSpPr txBox="1"/>
          <p:nvPr/>
        </p:nvSpPr>
        <p:spPr>
          <a:xfrm>
            <a:off x="6464625" y="3950208"/>
            <a:ext cx="457200" cy="237744"/>
          </a:xfrm>
          <a:prstGeom prst="rect">
            <a:avLst/>
          </a:prstGeom>
          <a:noFill/>
          <a:ln/>
        </p:spPr>
        <p:txBody>
          <a:bodyPr wrap="square" lIns="0" tIns="0" rIns="0" bIns="0" rtlCol="0" anchor="ctr"/>
          <a:lstStyle/>
          <a:p>
            <a:pPr algn="ctr" indent="0" marL="0">
              <a:buNone/>
            </a:pPr>
            <a:r>
              <a:rPr lang="en-US" sz="800" spc="100" kern="0" dirty="0">
                <a:solidFill>
                  <a:srgbClr val="017A7A"/>
                </a:solidFill>
                <a:latin typeface="Poppins SemiBold" pitchFamily="34" charset="0"/>
                <a:ea typeface="Poppins SemiBold" pitchFamily="34" charset="-122"/>
                <a:cs typeface="Poppins SemiBold" pitchFamily="34" charset="-120"/>
              </a:rPr>
              <a:t>TEST</a:t>
            </a:r>
            <a:endParaRPr lang="en-US" sz="800" dirty="0"/>
          </a:p>
        </p:txBody>
      </p:sp>
      <p:sp>
        <p:nvSpPr>
          <p:cNvPr id="51" name="A3-n7"/>
          <p:cNvSpPr txBox="1"/>
          <p:nvPr/>
        </p:nvSpPr>
        <p:spPr>
          <a:xfrm>
            <a:off x="5306446" y="4462272"/>
            <a:ext cx="1615379" cy="329184"/>
          </a:xfrm>
          <a:prstGeom prst="rect">
            <a:avLst/>
          </a:prstGeom>
          <a:noFill/>
          <a:ln/>
        </p:spPr>
        <p:txBody>
          <a:bodyPr wrap="square" lIns="0" tIns="0" rIns="0" bIns="0" rtlCol="0" anchor="t"/>
          <a:lstStyle/>
          <a:p>
            <a:pPr indent="0" marL="0">
              <a:buNone/>
            </a:pPr>
            <a:r>
              <a:rPr lang="en-US" sz="1500" dirty="0">
                <a:solidFill>
                  <a:srgbClr val="0B1414"/>
                </a:solidFill>
                <a:latin typeface="Poppins SemiBold" pitchFamily="34" charset="0"/>
                <a:ea typeface="Poppins SemiBold" pitchFamily="34" charset="-122"/>
                <a:cs typeface="Poppins SemiBold" pitchFamily="34" charset="-120"/>
              </a:rPr>
              <a:t>Postman</a:t>
            </a:r>
            <a:endParaRPr lang="en-US" sz="1500" dirty="0"/>
          </a:p>
        </p:txBody>
      </p:sp>
      <p:sp>
        <p:nvSpPr>
          <p:cNvPr id="52" name="A3-r7"/>
          <p:cNvSpPr txBox="1"/>
          <p:nvPr/>
        </p:nvSpPr>
        <p:spPr>
          <a:xfrm>
            <a:off x="5306446" y="4809744"/>
            <a:ext cx="1633667" cy="685800"/>
          </a:xfrm>
          <a:prstGeom prst="rect">
            <a:avLst/>
          </a:prstGeom>
          <a:noFill/>
          <a:ln/>
        </p:spPr>
        <p:txBody>
          <a:bodyPr wrap="square" lIns="0" tIns="0" rIns="0" bIns="0" rtlCol="0" anchor="t"/>
          <a:lstStyle/>
          <a:p>
            <a:pPr indent="0" marL="0">
              <a:buNone/>
            </a:pPr>
            <a:r>
              <a:rPr lang="en-US" sz="1200" dirty="0">
                <a:solidFill>
                  <a:srgbClr val="3A4B4B"/>
                </a:solidFill>
                <a:latin typeface="Poppins" pitchFamily="34" charset="0"/>
                <a:ea typeface="Poppins" pitchFamily="34" charset="-122"/>
                <a:cs typeface="Poppins" pitchFamily="34" charset="-120"/>
              </a:rPr>
              <a:t>Send requests, test and document your API.</a:t>
            </a:r>
            <a:endParaRPr lang="en-US" sz="1200" dirty="0"/>
          </a:p>
        </p:txBody>
      </p:sp>
      <p:sp>
        <p:nvSpPr>
          <p:cNvPr id="53" name="A4-t8"/>
          <p:cNvSpPr/>
          <p:nvPr/>
        </p:nvSpPr>
        <p:spPr>
          <a:xfrm>
            <a:off x="7315017" y="3675888"/>
            <a:ext cx="1981139" cy="1920240"/>
          </a:xfrm>
          <a:prstGeom prst="roundRect">
            <a:avLst>
              <a:gd name="adj" fmla="val 6667"/>
            </a:avLst>
          </a:prstGeom>
          <a:solidFill>
            <a:srgbClr val="FFFFFF"/>
          </a:solidFill>
          <a:ln w="9525">
            <a:solidFill>
              <a:srgbClr val="D5E3E3"/>
            </a:solidFill>
            <a:prstDash val="solid"/>
          </a:ln>
          <a:effectLst>
            <a:outerShdw sx="100000" sy="100000" kx="0" ky="0" algn="bl" rotWithShape="0" blurRad="127000" dist="38100" dir="5400000">
              <a:srgbClr val="000000">
                <a:alpha val="10000"/>
              </a:srgbClr>
            </a:outerShdw>
          </a:effectLst>
        </p:spPr>
      </p:sp>
      <p:pic>
        <p:nvPicPr>
          <p:cNvPr id="54" name="A4-i8" descr="preencoded.png">    </p:cNvPr>
          <p:cNvPicPr>
            <a:picLocks noChangeAspect="1"/>
          </p:cNvPicPr>
          <p:nvPr/>
        </p:nvPicPr>
        <p:blipFill>
          <a:blip r:embed="rId9"/>
          <a:stretch>
            <a:fillRect/>
          </a:stretch>
        </p:blipFill>
        <p:spPr>
          <a:xfrm>
            <a:off x="7516185" y="3895344"/>
            <a:ext cx="420624" cy="420624"/>
          </a:xfrm>
          <a:prstGeom prst="rect">
            <a:avLst/>
          </a:prstGeom>
        </p:spPr>
      </p:pic>
      <p:sp>
        <p:nvSpPr>
          <p:cNvPr id="55" name="A4-g8"/>
          <p:cNvSpPr/>
          <p:nvPr/>
        </p:nvSpPr>
        <p:spPr>
          <a:xfrm>
            <a:off x="8674364" y="3950208"/>
            <a:ext cx="457200" cy="237744"/>
          </a:xfrm>
          <a:prstGeom prst="roundRect">
            <a:avLst>
              <a:gd name="adj" fmla="val 50000"/>
            </a:avLst>
          </a:prstGeom>
          <a:solidFill>
            <a:srgbClr val="DDF3F3"/>
          </a:solidFill>
          <a:ln/>
        </p:spPr>
      </p:sp>
      <p:sp>
        <p:nvSpPr>
          <p:cNvPr id="56" name="A4-gt8"/>
          <p:cNvSpPr txBox="1"/>
          <p:nvPr/>
        </p:nvSpPr>
        <p:spPr>
          <a:xfrm>
            <a:off x="8674364" y="3950208"/>
            <a:ext cx="457200" cy="237744"/>
          </a:xfrm>
          <a:prstGeom prst="rect">
            <a:avLst/>
          </a:prstGeom>
          <a:noFill/>
          <a:ln/>
        </p:spPr>
        <p:txBody>
          <a:bodyPr wrap="square" lIns="0" tIns="0" rIns="0" bIns="0" rtlCol="0" anchor="ctr"/>
          <a:lstStyle/>
          <a:p>
            <a:pPr algn="ctr" indent="0" marL="0">
              <a:buNone/>
            </a:pPr>
            <a:r>
              <a:rPr lang="en-US" sz="800" spc="100" kern="0" dirty="0">
                <a:solidFill>
                  <a:srgbClr val="017A7A"/>
                </a:solidFill>
                <a:latin typeface="Poppins SemiBold" pitchFamily="34" charset="0"/>
                <a:ea typeface="Poppins SemiBold" pitchFamily="34" charset="-122"/>
                <a:cs typeface="Poppins SemiBold" pitchFamily="34" charset="-120"/>
              </a:rPr>
              <a:t>SHIP</a:t>
            </a:r>
            <a:endParaRPr lang="en-US" sz="800" dirty="0"/>
          </a:p>
        </p:txBody>
      </p:sp>
      <p:sp>
        <p:nvSpPr>
          <p:cNvPr id="57" name="A4-n8"/>
          <p:cNvSpPr txBox="1"/>
          <p:nvPr/>
        </p:nvSpPr>
        <p:spPr>
          <a:xfrm>
            <a:off x="7516185" y="4462272"/>
            <a:ext cx="1615379" cy="329184"/>
          </a:xfrm>
          <a:prstGeom prst="rect">
            <a:avLst/>
          </a:prstGeom>
          <a:noFill/>
          <a:ln/>
        </p:spPr>
        <p:txBody>
          <a:bodyPr wrap="square" lIns="0" tIns="0" rIns="0" bIns="0" rtlCol="0" anchor="t"/>
          <a:lstStyle/>
          <a:p>
            <a:pPr indent="0" marL="0">
              <a:buNone/>
            </a:pPr>
            <a:r>
              <a:rPr lang="en-US" sz="1500" dirty="0">
                <a:solidFill>
                  <a:srgbClr val="0B1414"/>
                </a:solidFill>
                <a:latin typeface="Poppins SemiBold" pitchFamily="34" charset="0"/>
                <a:ea typeface="Poppins SemiBold" pitchFamily="34" charset="-122"/>
                <a:cs typeface="Poppins SemiBold" pitchFamily="34" charset="-120"/>
              </a:rPr>
              <a:t>Docker</a:t>
            </a:r>
            <a:endParaRPr lang="en-US" sz="1500" dirty="0"/>
          </a:p>
        </p:txBody>
      </p:sp>
      <p:sp>
        <p:nvSpPr>
          <p:cNvPr id="58" name="A4-r8"/>
          <p:cNvSpPr txBox="1"/>
          <p:nvPr/>
        </p:nvSpPr>
        <p:spPr>
          <a:xfrm>
            <a:off x="7516185" y="4809744"/>
            <a:ext cx="1633667" cy="685800"/>
          </a:xfrm>
          <a:prstGeom prst="rect">
            <a:avLst/>
          </a:prstGeom>
          <a:noFill/>
          <a:ln/>
        </p:spPr>
        <p:txBody>
          <a:bodyPr wrap="square" lIns="0" tIns="0" rIns="0" bIns="0" rtlCol="0" anchor="t"/>
          <a:lstStyle/>
          <a:p>
            <a:pPr indent="0" marL="0">
              <a:buNone/>
            </a:pPr>
            <a:r>
              <a:rPr lang="en-US" sz="1200" dirty="0">
                <a:solidFill>
                  <a:srgbClr val="3A4B4B"/>
                </a:solidFill>
                <a:latin typeface="Poppins" pitchFamily="34" charset="0"/>
                <a:ea typeface="Poppins" pitchFamily="34" charset="-122"/>
                <a:cs typeface="Poppins" pitchFamily="34" charset="-120"/>
              </a:rPr>
              <a:t>Package your app to run the same everywhere.</a:t>
            </a:r>
            <a:endParaRPr lang="en-US" sz="1200" dirty="0"/>
          </a:p>
        </p:txBody>
      </p:sp>
      <p:sp>
        <p:nvSpPr>
          <p:cNvPr id="59" name="A5-t9"/>
          <p:cNvSpPr/>
          <p:nvPr/>
        </p:nvSpPr>
        <p:spPr>
          <a:xfrm>
            <a:off x="9524756" y="3675888"/>
            <a:ext cx="1981139" cy="1920240"/>
          </a:xfrm>
          <a:prstGeom prst="roundRect">
            <a:avLst>
              <a:gd name="adj" fmla="val 6667"/>
            </a:avLst>
          </a:prstGeom>
          <a:solidFill>
            <a:srgbClr val="FFFFFF"/>
          </a:solidFill>
          <a:ln w="9525">
            <a:solidFill>
              <a:srgbClr val="D5E3E3"/>
            </a:solidFill>
            <a:prstDash val="solid"/>
          </a:ln>
          <a:effectLst>
            <a:outerShdw sx="100000" sy="100000" kx="0" ky="0" algn="bl" rotWithShape="0" blurRad="127000" dist="38100" dir="5400000">
              <a:srgbClr val="000000">
                <a:alpha val="10000"/>
              </a:srgbClr>
            </a:outerShdw>
          </a:effectLst>
        </p:spPr>
      </p:sp>
      <p:pic>
        <p:nvPicPr>
          <p:cNvPr id="60" name="A5-i9" descr="preencoded.png">    </p:cNvPr>
          <p:cNvPicPr>
            <a:picLocks noChangeAspect="1"/>
          </p:cNvPicPr>
          <p:nvPr/>
        </p:nvPicPr>
        <p:blipFill>
          <a:blip r:embed="rId10"/>
          <a:stretch>
            <a:fillRect/>
          </a:stretch>
        </p:blipFill>
        <p:spPr>
          <a:xfrm>
            <a:off x="9725924" y="3895344"/>
            <a:ext cx="420624" cy="420624"/>
          </a:xfrm>
          <a:prstGeom prst="rect">
            <a:avLst/>
          </a:prstGeom>
        </p:spPr>
      </p:pic>
      <p:sp>
        <p:nvSpPr>
          <p:cNvPr id="61" name="A5-g9"/>
          <p:cNvSpPr/>
          <p:nvPr/>
        </p:nvSpPr>
        <p:spPr>
          <a:xfrm>
            <a:off x="10746943" y="3950208"/>
            <a:ext cx="594360" cy="237744"/>
          </a:xfrm>
          <a:prstGeom prst="roundRect">
            <a:avLst>
              <a:gd name="adj" fmla="val 50000"/>
            </a:avLst>
          </a:prstGeom>
          <a:solidFill>
            <a:srgbClr val="DDF3F3"/>
          </a:solidFill>
          <a:ln/>
        </p:spPr>
      </p:sp>
      <p:sp>
        <p:nvSpPr>
          <p:cNvPr id="62" name="A5-gt9"/>
          <p:cNvSpPr txBox="1"/>
          <p:nvPr/>
        </p:nvSpPr>
        <p:spPr>
          <a:xfrm>
            <a:off x="10746943" y="3950208"/>
            <a:ext cx="594360" cy="237744"/>
          </a:xfrm>
          <a:prstGeom prst="rect">
            <a:avLst/>
          </a:prstGeom>
          <a:noFill/>
          <a:ln/>
        </p:spPr>
        <p:txBody>
          <a:bodyPr wrap="square" lIns="0" tIns="0" rIns="0" bIns="0" rtlCol="0" anchor="ctr"/>
          <a:lstStyle/>
          <a:p>
            <a:pPr algn="ctr" indent="0" marL="0">
              <a:buNone/>
            </a:pPr>
            <a:r>
              <a:rPr lang="en-US" sz="800" spc="100" kern="0" dirty="0">
                <a:solidFill>
                  <a:srgbClr val="017A7A"/>
                </a:solidFill>
                <a:latin typeface="Poppins SemiBold" pitchFamily="34" charset="0"/>
                <a:ea typeface="Poppins SemiBold" pitchFamily="34" charset="-122"/>
                <a:cs typeface="Poppins SemiBold" pitchFamily="34" charset="-120"/>
              </a:rPr>
              <a:t>DEPLOY</a:t>
            </a:r>
            <a:endParaRPr lang="en-US" sz="800" dirty="0"/>
          </a:p>
        </p:txBody>
      </p:sp>
      <p:sp>
        <p:nvSpPr>
          <p:cNvPr id="63" name="A5-n9"/>
          <p:cNvSpPr txBox="1"/>
          <p:nvPr/>
        </p:nvSpPr>
        <p:spPr>
          <a:xfrm>
            <a:off x="9725924" y="4462272"/>
            <a:ext cx="1615379" cy="329184"/>
          </a:xfrm>
          <a:prstGeom prst="rect">
            <a:avLst/>
          </a:prstGeom>
          <a:noFill/>
          <a:ln/>
        </p:spPr>
        <p:txBody>
          <a:bodyPr wrap="square" lIns="0" tIns="0" rIns="0" bIns="0" rtlCol="0" anchor="t"/>
          <a:lstStyle/>
          <a:p>
            <a:pPr indent="0" marL="0">
              <a:buNone/>
            </a:pPr>
            <a:r>
              <a:rPr lang="en-US" sz="1500" dirty="0">
                <a:solidFill>
                  <a:srgbClr val="0B1414"/>
                </a:solidFill>
                <a:latin typeface="Poppins SemiBold" pitchFamily="34" charset="0"/>
                <a:ea typeface="Poppins SemiBold" pitchFamily="34" charset="-122"/>
                <a:cs typeface="Poppins SemiBold" pitchFamily="34" charset="-120"/>
              </a:rPr>
              <a:t>Vercel / Render</a:t>
            </a:r>
            <a:endParaRPr lang="en-US" sz="1500" dirty="0"/>
          </a:p>
        </p:txBody>
      </p:sp>
      <p:sp>
        <p:nvSpPr>
          <p:cNvPr id="64" name="A5-r9"/>
          <p:cNvSpPr txBox="1"/>
          <p:nvPr/>
        </p:nvSpPr>
        <p:spPr>
          <a:xfrm>
            <a:off x="9725924" y="4809744"/>
            <a:ext cx="1633667" cy="685800"/>
          </a:xfrm>
          <a:prstGeom prst="rect">
            <a:avLst/>
          </a:prstGeom>
          <a:noFill/>
          <a:ln/>
        </p:spPr>
        <p:txBody>
          <a:bodyPr wrap="square" lIns="0" tIns="0" rIns="0" bIns="0" rtlCol="0" anchor="t"/>
          <a:lstStyle/>
          <a:p>
            <a:pPr indent="0" marL="0">
              <a:buNone/>
            </a:pPr>
            <a:r>
              <a:rPr lang="en-US" sz="1200" dirty="0">
                <a:solidFill>
                  <a:srgbClr val="3A4B4B"/>
                </a:solidFill>
                <a:latin typeface="Poppins" pitchFamily="34" charset="0"/>
                <a:ea typeface="Poppins" pitchFamily="34" charset="-122"/>
                <a:cs typeface="Poppins" pitchFamily="34" charset="-120"/>
              </a:rPr>
              <a:t>Put your app online with a public URL.</a:t>
            </a:r>
            <a:endParaRPr lang="en-US" sz="1200" dirty="0"/>
          </a:p>
        </p:txBody>
      </p:sp>
      <p:sp>
        <p:nvSpPr>
          <p:cNvPr id="65" name="A6-rule"/>
          <p:cNvSpPr txBox="1"/>
          <p:nvPr/>
        </p:nvSpPr>
        <p:spPr>
          <a:xfrm>
            <a:off x="685800" y="5833872"/>
            <a:ext cx="10820095" cy="365760"/>
          </a:xfrm>
          <a:prstGeom prst="rect">
            <a:avLst/>
          </a:prstGeom>
          <a:noFill/>
          <a:ln/>
        </p:spPr>
        <p:txBody>
          <a:bodyPr wrap="square" lIns="0" tIns="0" rIns="0" bIns="0" rtlCol="0" anchor="ctr"/>
          <a:lstStyle/>
          <a:p>
            <a:pPr indent="0" marL="0">
              <a:buNone/>
            </a:pPr>
            <a:r>
              <a:rPr lang="en-US" sz="1400" spc="200" kern="0" dirty="0">
                <a:solidFill>
                  <a:srgbClr val="017A7A"/>
                </a:solidFill>
                <a:latin typeface="Poppins SemiBold" pitchFamily="34" charset="0"/>
                <a:ea typeface="Poppins SemiBold" pitchFamily="34" charset="-122"/>
                <a:cs typeface="Poppins SemiBold" pitchFamily="34" charset="-120"/>
              </a:rPr>
              <a:t>RULE OF THUMB   </a:t>
            </a:r>
            <a:pPr indent="0" marL="0">
              <a:buNone/>
            </a:pPr>
            <a:r>
              <a:rPr lang="en-US" sz="1400" dirty="0">
                <a:solidFill>
                  <a:srgbClr val="0B1414"/>
                </a:solidFill>
                <a:latin typeface="Poppins" pitchFamily="34" charset="0"/>
                <a:ea typeface="Poppins" pitchFamily="34" charset="-122"/>
                <a:cs typeface="Poppins" pitchFamily="34" charset="-120"/>
              </a:rPr>
              <a:t>Learn one tool per layer deeply. Tools change every year; fundamentals don't.</a:t>
            </a:r>
            <a:endParaRPr lang="en-US" sz="1400" dirty="0"/>
          </a:p>
        </p:txBody>
      </p:sp>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7070"/>
                </a:solidFill>
                <a:latin typeface="Poppins SemiBold"/>
                <a:ea typeface="Poppins SemiBold"/>
                <a:cs typeface="Poppins SemiBold"/>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80"/>
                                        <p:tgtEl>
                                          <p:spTgt spid="3"/>
                                        </p:tgtEl>
                                      </p:cBhvr>
                                    </p:animEffect>
                                  </p:childTnLst>
                                </p:cTn>
                              </p:par>
                              <p:par>
                                <p:cTn id="8" presetID="10" presetClass="entr" presetSubtype="0" fill="hold" grpId="0" nodeType="withEffect">
                                  <p:stCondLst>
                                    <p:cond delay="32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80"/>
                                        <p:tgtEl>
                                          <p:spTgt spid="5"/>
                                        </p:tgtEl>
                                      </p:cBhvr>
                                    </p:animEffect>
                                  </p:childTnLst>
                                </p:cTn>
                              </p:par>
                              <p:par>
                                <p:cTn id="11" presetID="10" presetClass="entr" presetSubtype="0" fill="hold" grpId="0"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80"/>
                                        <p:tgtEl>
                                          <p:spTgt spid="6"/>
                                        </p:tgtEl>
                                      </p:cBhvr>
                                    </p:animEffect>
                                  </p:childTnLst>
                                </p:cTn>
                              </p:par>
                              <p:par>
                                <p:cTn id="14" presetID="10" presetClass="entr" presetSubtype="0" fill="hold" grpId="0" nodeType="withEffect">
                                  <p:stCondLst>
                                    <p:cond delay="32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80"/>
                                        <p:tgtEl>
                                          <p:spTgt spid="7"/>
                                        </p:tgtEl>
                                      </p:cBhvr>
                                    </p:animEffect>
                                  </p:childTnLst>
                                </p:cTn>
                              </p:par>
                              <p:par>
                                <p:cTn id="17" presetID="10" presetClass="entr" presetSubtype="0" fill="hold" grpId="0" nodeType="withEffect">
                                  <p:stCondLst>
                                    <p:cond delay="32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80"/>
                                        <p:tgtEl>
                                          <p:spTgt spid="8"/>
                                        </p:tgtEl>
                                      </p:cBhvr>
                                    </p:animEffect>
                                  </p:childTnLst>
                                </p:cTn>
                              </p:par>
                              <p:par>
                                <p:cTn id="20" presetID="10" presetClass="entr" presetSubtype="0" fill="hold" grpId="0" nodeType="withEffect">
                                  <p:stCondLst>
                                    <p:cond delay="32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80"/>
                                        <p:tgtEl>
                                          <p:spTgt spid="9"/>
                                        </p:tgtEl>
                                      </p:cBhvr>
                                    </p:animEffect>
                                  </p:childTnLst>
                                </p:cTn>
                              </p:par>
                              <p:par>
                                <p:cTn id="23" presetID="10" presetClass="entr" presetSubtype="0" fill="hold" grpId="0" nodeType="withEffect">
                                  <p:stCondLst>
                                    <p:cond delay="32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80"/>
                                        <p:tgtEl>
                                          <p:spTgt spid="10"/>
                                        </p:tgtEl>
                                      </p:cBhvr>
                                    </p:animEffect>
                                  </p:childTnLst>
                                </p:cTn>
                              </p:par>
                              <p:par>
                                <p:cTn id="26" presetID="10" presetClass="entr" presetSubtype="0" fill="hold" grpId="0" nodeType="withEffect">
                                  <p:stCondLst>
                                    <p:cond delay="32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480"/>
                                        <p:tgtEl>
                                          <p:spTgt spid="35"/>
                                        </p:tgtEl>
                                      </p:cBhvr>
                                    </p:animEffect>
                                  </p:childTnLst>
                                </p:cTn>
                              </p:par>
                              <p:par>
                                <p:cTn id="29" presetID="10" presetClass="entr" presetSubtype="0" fill="hold" grpId="0" nodeType="withEffect">
                                  <p:stCondLst>
                                    <p:cond delay="32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480"/>
                                        <p:tgtEl>
                                          <p:spTgt spid="36"/>
                                        </p:tgtEl>
                                      </p:cBhvr>
                                    </p:animEffect>
                                  </p:childTnLst>
                                </p:cTn>
                              </p:par>
                              <p:par>
                                <p:cTn id="32" presetID="10" presetClass="entr" presetSubtype="0" fill="hold" grpId="0" nodeType="withEffect">
                                  <p:stCondLst>
                                    <p:cond delay="32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480"/>
                                        <p:tgtEl>
                                          <p:spTgt spid="37"/>
                                        </p:tgtEl>
                                      </p:cBhvr>
                                    </p:animEffect>
                                  </p:childTnLst>
                                </p:cTn>
                              </p:par>
                              <p:par>
                                <p:cTn id="35" presetID="10" presetClass="entr" presetSubtype="0" fill="hold" grpId="0" nodeType="withEffect">
                                  <p:stCondLst>
                                    <p:cond delay="32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80"/>
                                        <p:tgtEl>
                                          <p:spTgt spid="38"/>
                                        </p:tgtEl>
                                      </p:cBhvr>
                                    </p:animEffect>
                                  </p:childTnLst>
                                </p:cTn>
                              </p:par>
                              <p:par>
                                <p:cTn id="38" presetID="10" presetClass="entr" presetSubtype="0" fill="hold" grpId="0" nodeType="withEffect">
                                  <p:stCondLst>
                                    <p:cond delay="32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480"/>
                                        <p:tgtEl>
                                          <p:spTgt spid="39"/>
                                        </p:tgtEl>
                                      </p:cBhvr>
                                    </p:animEffect>
                                  </p:childTnLst>
                                </p:cTn>
                              </p:par>
                              <p:par>
                                <p:cTn id="41" presetID="10" presetClass="entr" presetSubtype="0" fill="hold" grpId="0" nodeType="withEffect">
                                  <p:stCondLst>
                                    <p:cond delay="32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480"/>
                                        <p:tgtEl>
                                          <p:spTgt spid="40"/>
                                        </p:tgtEl>
                                      </p:cBhvr>
                                    </p:animEffect>
                                  </p:childTnLst>
                                </p:cTn>
                              </p:par>
                              <p:par>
                                <p:cTn id="44" presetID="10" presetClass="entr" presetSubtype="0" fill="hold" grpId="0" nodeType="withEffect">
                                  <p:stCondLst>
                                    <p:cond delay="64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480"/>
                                        <p:tgtEl>
                                          <p:spTgt spid="11"/>
                                        </p:tgtEl>
                                      </p:cBhvr>
                                    </p:animEffect>
                                  </p:childTnLst>
                                </p:cTn>
                              </p:par>
                              <p:par>
                                <p:cTn id="47" presetID="10" presetClass="entr" presetSubtype="0" fill="hold" grpId="0" nodeType="withEffect">
                                  <p:stCondLst>
                                    <p:cond delay="64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480"/>
                                        <p:tgtEl>
                                          <p:spTgt spid="12"/>
                                        </p:tgtEl>
                                      </p:cBhvr>
                                    </p:animEffect>
                                  </p:childTnLst>
                                </p:cTn>
                              </p:par>
                              <p:par>
                                <p:cTn id="50" presetID="10" presetClass="entr" presetSubtype="0" fill="hold" grpId="0" nodeType="withEffect">
                                  <p:stCondLst>
                                    <p:cond delay="64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480"/>
                                        <p:tgtEl>
                                          <p:spTgt spid="13"/>
                                        </p:tgtEl>
                                      </p:cBhvr>
                                    </p:animEffect>
                                  </p:childTnLst>
                                </p:cTn>
                              </p:par>
                              <p:par>
                                <p:cTn id="53" presetID="10" presetClass="entr" presetSubtype="0" fill="hold" grpId="0" nodeType="withEffect">
                                  <p:stCondLst>
                                    <p:cond delay="64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80"/>
                                        <p:tgtEl>
                                          <p:spTgt spid="14"/>
                                        </p:tgtEl>
                                      </p:cBhvr>
                                    </p:animEffect>
                                  </p:childTnLst>
                                </p:cTn>
                              </p:par>
                              <p:par>
                                <p:cTn id="56" presetID="10" presetClass="entr" presetSubtype="0" fill="hold" grpId="0" nodeType="withEffect">
                                  <p:stCondLst>
                                    <p:cond delay="64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480"/>
                                        <p:tgtEl>
                                          <p:spTgt spid="15"/>
                                        </p:tgtEl>
                                      </p:cBhvr>
                                    </p:animEffect>
                                  </p:childTnLst>
                                </p:cTn>
                              </p:par>
                              <p:par>
                                <p:cTn id="59" presetID="10" presetClass="entr" presetSubtype="0" fill="hold" grpId="0" nodeType="withEffect">
                                  <p:stCondLst>
                                    <p:cond delay="64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480"/>
                                        <p:tgtEl>
                                          <p:spTgt spid="16"/>
                                        </p:tgtEl>
                                      </p:cBhvr>
                                    </p:animEffect>
                                  </p:childTnLst>
                                </p:cTn>
                              </p:par>
                              <p:par>
                                <p:cTn id="62" presetID="10" presetClass="entr" presetSubtype="0" fill="hold" grpId="0" nodeType="withEffect">
                                  <p:stCondLst>
                                    <p:cond delay="64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480"/>
                                        <p:tgtEl>
                                          <p:spTgt spid="41"/>
                                        </p:tgtEl>
                                      </p:cBhvr>
                                    </p:animEffect>
                                  </p:childTnLst>
                                </p:cTn>
                              </p:par>
                              <p:par>
                                <p:cTn id="65" presetID="10" presetClass="entr" presetSubtype="0" fill="hold" grpId="0" nodeType="withEffect">
                                  <p:stCondLst>
                                    <p:cond delay="640"/>
                                  </p:stCondLst>
                                  <p:childTnLst>
                                    <p:set>
                                      <p:cBhvr>
                                        <p:cTn id="66" dur="1" fill="hold">
                                          <p:stCondLst>
                                            <p:cond delay="0"/>
                                          </p:stCondLst>
                                        </p:cTn>
                                        <p:tgtEl>
                                          <p:spTgt spid="42"/>
                                        </p:tgtEl>
                                        <p:attrNameLst>
                                          <p:attrName>style.visibility</p:attrName>
                                        </p:attrNameLst>
                                      </p:cBhvr>
                                      <p:to>
                                        <p:strVal val="visible"/>
                                      </p:to>
                                    </p:set>
                                    <p:animEffect transition="in" filter="fade">
                                      <p:cBhvr>
                                        <p:cTn id="67" dur="480"/>
                                        <p:tgtEl>
                                          <p:spTgt spid="42"/>
                                        </p:tgtEl>
                                      </p:cBhvr>
                                    </p:animEffect>
                                  </p:childTnLst>
                                </p:cTn>
                              </p:par>
                              <p:par>
                                <p:cTn id="68" presetID="10" presetClass="entr" presetSubtype="0" fill="hold" grpId="0" nodeType="withEffect">
                                  <p:stCondLst>
                                    <p:cond delay="640"/>
                                  </p:stCondLst>
                                  <p:childTnLst>
                                    <p:set>
                                      <p:cBhvr>
                                        <p:cTn id="69" dur="1" fill="hold">
                                          <p:stCondLst>
                                            <p:cond delay="0"/>
                                          </p:stCondLst>
                                        </p:cTn>
                                        <p:tgtEl>
                                          <p:spTgt spid="43"/>
                                        </p:tgtEl>
                                        <p:attrNameLst>
                                          <p:attrName>style.visibility</p:attrName>
                                        </p:attrNameLst>
                                      </p:cBhvr>
                                      <p:to>
                                        <p:strVal val="visible"/>
                                      </p:to>
                                    </p:set>
                                    <p:animEffect transition="in" filter="fade">
                                      <p:cBhvr>
                                        <p:cTn id="70" dur="480"/>
                                        <p:tgtEl>
                                          <p:spTgt spid="43"/>
                                        </p:tgtEl>
                                      </p:cBhvr>
                                    </p:animEffect>
                                  </p:childTnLst>
                                </p:cTn>
                              </p:par>
                              <p:par>
                                <p:cTn id="71" presetID="10" presetClass="entr" presetSubtype="0" fill="hold" grpId="0" nodeType="withEffect">
                                  <p:stCondLst>
                                    <p:cond delay="640"/>
                                  </p:stCondLst>
                                  <p:childTnLst>
                                    <p:set>
                                      <p:cBhvr>
                                        <p:cTn id="72" dur="1" fill="hold">
                                          <p:stCondLst>
                                            <p:cond delay="0"/>
                                          </p:stCondLst>
                                        </p:cTn>
                                        <p:tgtEl>
                                          <p:spTgt spid="44"/>
                                        </p:tgtEl>
                                        <p:attrNameLst>
                                          <p:attrName>style.visibility</p:attrName>
                                        </p:attrNameLst>
                                      </p:cBhvr>
                                      <p:to>
                                        <p:strVal val="visible"/>
                                      </p:to>
                                    </p:set>
                                    <p:animEffect transition="in" filter="fade">
                                      <p:cBhvr>
                                        <p:cTn id="73" dur="480"/>
                                        <p:tgtEl>
                                          <p:spTgt spid="44"/>
                                        </p:tgtEl>
                                      </p:cBhvr>
                                    </p:animEffect>
                                  </p:childTnLst>
                                </p:cTn>
                              </p:par>
                              <p:par>
                                <p:cTn id="74" presetID="10" presetClass="entr" presetSubtype="0" fill="hold" grpId="0" nodeType="withEffect">
                                  <p:stCondLst>
                                    <p:cond delay="640"/>
                                  </p:stCondLst>
                                  <p:childTnLst>
                                    <p:set>
                                      <p:cBhvr>
                                        <p:cTn id="75" dur="1" fill="hold">
                                          <p:stCondLst>
                                            <p:cond delay="0"/>
                                          </p:stCondLst>
                                        </p:cTn>
                                        <p:tgtEl>
                                          <p:spTgt spid="45"/>
                                        </p:tgtEl>
                                        <p:attrNameLst>
                                          <p:attrName>style.visibility</p:attrName>
                                        </p:attrNameLst>
                                      </p:cBhvr>
                                      <p:to>
                                        <p:strVal val="visible"/>
                                      </p:to>
                                    </p:set>
                                    <p:animEffect transition="in" filter="fade">
                                      <p:cBhvr>
                                        <p:cTn id="76" dur="480"/>
                                        <p:tgtEl>
                                          <p:spTgt spid="45"/>
                                        </p:tgtEl>
                                      </p:cBhvr>
                                    </p:animEffect>
                                  </p:childTnLst>
                                </p:cTn>
                              </p:par>
                              <p:par>
                                <p:cTn id="77" presetID="10" presetClass="entr" presetSubtype="0" fill="hold" grpId="0" nodeType="withEffect">
                                  <p:stCondLst>
                                    <p:cond delay="640"/>
                                  </p:stCondLst>
                                  <p:childTnLst>
                                    <p:set>
                                      <p:cBhvr>
                                        <p:cTn id="78" dur="1" fill="hold">
                                          <p:stCondLst>
                                            <p:cond delay="0"/>
                                          </p:stCondLst>
                                        </p:cTn>
                                        <p:tgtEl>
                                          <p:spTgt spid="46"/>
                                        </p:tgtEl>
                                        <p:attrNameLst>
                                          <p:attrName>style.visibility</p:attrName>
                                        </p:attrNameLst>
                                      </p:cBhvr>
                                      <p:to>
                                        <p:strVal val="visible"/>
                                      </p:to>
                                    </p:set>
                                    <p:animEffect transition="in" filter="fade">
                                      <p:cBhvr>
                                        <p:cTn id="79" dur="480"/>
                                        <p:tgtEl>
                                          <p:spTgt spid="46"/>
                                        </p:tgtEl>
                                      </p:cBhvr>
                                    </p:animEffect>
                                  </p:childTnLst>
                                </p:cTn>
                              </p:par>
                              <p:par>
                                <p:cTn id="80" presetID="10" presetClass="entr" presetSubtype="0" fill="hold" grpId="0" nodeType="withEffect">
                                  <p:stCondLst>
                                    <p:cond delay="96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480"/>
                                        <p:tgtEl>
                                          <p:spTgt spid="17"/>
                                        </p:tgtEl>
                                      </p:cBhvr>
                                    </p:animEffect>
                                  </p:childTnLst>
                                </p:cTn>
                              </p:par>
                              <p:par>
                                <p:cTn id="83" presetID="10" presetClass="entr" presetSubtype="0" fill="hold" grpId="0" nodeType="withEffect">
                                  <p:stCondLst>
                                    <p:cond delay="96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480"/>
                                        <p:tgtEl>
                                          <p:spTgt spid="18"/>
                                        </p:tgtEl>
                                      </p:cBhvr>
                                    </p:animEffect>
                                  </p:childTnLst>
                                </p:cTn>
                              </p:par>
                              <p:par>
                                <p:cTn id="86" presetID="10" presetClass="entr" presetSubtype="0" fill="hold" grpId="0" nodeType="withEffect">
                                  <p:stCondLst>
                                    <p:cond delay="96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480"/>
                                        <p:tgtEl>
                                          <p:spTgt spid="19"/>
                                        </p:tgtEl>
                                      </p:cBhvr>
                                    </p:animEffect>
                                  </p:childTnLst>
                                </p:cTn>
                              </p:par>
                              <p:par>
                                <p:cTn id="89" presetID="10" presetClass="entr" presetSubtype="0" fill="hold" grpId="0" nodeType="withEffect">
                                  <p:stCondLst>
                                    <p:cond delay="96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480"/>
                                        <p:tgtEl>
                                          <p:spTgt spid="20"/>
                                        </p:tgtEl>
                                      </p:cBhvr>
                                    </p:animEffect>
                                  </p:childTnLst>
                                </p:cTn>
                              </p:par>
                              <p:par>
                                <p:cTn id="92" presetID="10" presetClass="entr" presetSubtype="0" fill="hold" grpId="0" nodeType="withEffect">
                                  <p:stCondLst>
                                    <p:cond delay="96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480"/>
                                        <p:tgtEl>
                                          <p:spTgt spid="21"/>
                                        </p:tgtEl>
                                      </p:cBhvr>
                                    </p:animEffect>
                                  </p:childTnLst>
                                </p:cTn>
                              </p:par>
                              <p:par>
                                <p:cTn id="95" presetID="10" presetClass="entr" presetSubtype="0" fill="hold" grpId="0" nodeType="withEffect">
                                  <p:stCondLst>
                                    <p:cond delay="96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480"/>
                                        <p:tgtEl>
                                          <p:spTgt spid="22"/>
                                        </p:tgtEl>
                                      </p:cBhvr>
                                    </p:animEffect>
                                  </p:childTnLst>
                                </p:cTn>
                              </p:par>
                              <p:par>
                                <p:cTn id="98" presetID="10" presetClass="entr" presetSubtype="0" fill="hold" grpId="0" nodeType="withEffect">
                                  <p:stCondLst>
                                    <p:cond delay="960"/>
                                  </p:stCondLst>
                                  <p:childTnLst>
                                    <p:set>
                                      <p:cBhvr>
                                        <p:cTn id="99" dur="1" fill="hold">
                                          <p:stCondLst>
                                            <p:cond delay="0"/>
                                          </p:stCondLst>
                                        </p:cTn>
                                        <p:tgtEl>
                                          <p:spTgt spid="47"/>
                                        </p:tgtEl>
                                        <p:attrNameLst>
                                          <p:attrName>style.visibility</p:attrName>
                                        </p:attrNameLst>
                                      </p:cBhvr>
                                      <p:to>
                                        <p:strVal val="visible"/>
                                      </p:to>
                                    </p:set>
                                    <p:animEffect transition="in" filter="fade">
                                      <p:cBhvr>
                                        <p:cTn id="100" dur="480"/>
                                        <p:tgtEl>
                                          <p:spTgt spid="47"/>
                                        </p:tgtEl>
                                      </p:cBhvr>
                                    </p:animEffect>
                                  </p:childTnLst>
                                </p:cTn>
                              </p:par>
                              <p:par>
                                <p:cTn id="101" presetID="10" presetClass="entr" presetSubtype="0" fill="hold" grpId="0" nodeType="withEffect">
                                  <p:stCondLst>
                                    <p:cond delay="960"/>
                                  </p:stCondLst>
                                  <p:childTnLst>
                                    <p:set>
                                      <p:cBhvr>
                                        <p:cTn id="102" dur="1" fill="hold">
                                          <p:stCondLst>
                                            <p:cond delay="0"/>
                                          </p:stCondLst>
                                        </p:cTn>
                                        <p:tgtEl>
                                          <p:spTgt spid="48"/>
                                        </p:tgtEl>
                                        <p:attrNameLst>
                                          <p:attrName>style.visibility</p:attrName>
                                        </p:attrNameLst>
                                      </p:cBhvr>
                                      <p:to>
                                        <p:strVal val="visible"/>
                                      </p:to>
                                    </p:set>
                                    <p:animEffect transition="in" filter="fade">
                                      <p:cBhvr>
                                        <p:cTn id="103" dur="480"/>
                                        <p:tgtEl>
                                          <p:spTgt spid="48"/>
                                        </p:tgtEl>
                                      </p:cBhvr>
                                    </p:animEffect>
                                  </p:childTnLst>
                                </p:cTn>
                              </p:par>
                              <p:par>
                                <p:cTn id="104" presetID="10" presetClass="entr" presetSubtype="0" fill="hold" grpId="0" nodeType="withEffect">
                                  <p:stCondLst>
                                    <p:cond delay="960"/>
                                  </p:stCondLst>
                                  <p:childTnLst>
                                    <p:set>
                                      <p:cBhvr>
                                        <p:cTn id="105" dur="1" fill="hold">
                                          <p:stCondLst>
                                            <p:cond delay="0"/>
                                          </p:stCondLst>
                                        </p:cTn>
                                        <p:tgtEl>
                                          <p:spTgt spid="49"/>
                                        </p:tgtEl>
                                        <p:attrNameLst>
                                          <p:attrName>style.visibility</p:attrName>
                                        </p:attrNameLst>
                                      </p:cBhvr>
                                      <p:to>
                                        <p:strVal val="visible"/>
                                      </p:to>
                                    </p:set>
                                    <p:animEffect transition="in" filter="fade">
                                      <p:cBhvr>
                                        <p:cTn id="106" dur="480"/>
                                        <p:tgtEl>
                                          <p:spTgt spid="49"/>
                                        </p:tgtEl>
                                      </p:cBhvr>
                                    </p:animEffect>
                                  </p:childTnLst>
                                </p:cTn>
                              </p:par>
                              <p:par>
                                <p:cTn id="107" presetID="10" presetClass="entr" presetSubtype="0" fill="hold" grpId="0" nodeType="withEffect">
                                  <p:stCondLst>
                                    <p:cond delay="960"/>
                                  </p:stCondLst>
                                  <p:childTnLst>
                                    <p:set>
                                      <p:cBhvr>
                                        <p:cTn id="108" dur="1" fill="hold">
                                          <p:stCondLst>
                                            <p:cond delay="0"/>
                                          </p:stCondLst>
                                        </p:cTn>
                                        <p:tgtEl>
                                          <p:spTgt spid="50"/>
                                        </p:tgtEl>
                                        <p:attrNameLst>
                                          <p:attrName>style.visibility</p:attrName>
                                        </p:attrNameLst>
                                      </p:cBhvr>
                                      <p:to>
                                        <p:strVal val="visible"/>
                                      </p:to>
                                    </p:set>
                                    <p:animEffect transition="in" filter="fade">
                                      <p:cBhvr>
                                        <p:cTn id="109" dur="480"/>
                                        <p:tgtEl>
                                          <p:spTgt spid="50"/>
                                        </p:tgtEl>
                                      </p:cBhvr>
                                    </p:animEffect>
                                  </p:childTnLst>
                                </p:cTn>
                              </p:par>
                              <p:par>
                                <p:cTn id="110" presetID="10" presetClass="entr" presetSubtype="0" fill="hold" grpId="0" nodeType="withEffect">
                                  <p:stCondLst>
                                    <p:cond delay="960"/>
                                  </p:stCondLst>
                                  <p:childTnLst>
                                    <p:set>
                                      <p:cBhvr>
                                        <p:cTn id="111" dur="1" fill="hold">
                                          <p:stCondLst>
                                            <p:cond delay="0"/>
                                          </p:stCondLst>
                                        </p:cTn>
                                        <p:tgtEl>
                                          <p:spTgt spid="51"/>
                                        </p:tgtEl>
                                        <p:attrNameLst>
                                          <p:attrName>style.visibility</p:attrName>
                                        </p:attrNameLst>
                                      </p:cBhvr>
                                      <p:to>
                                        <p:strVal val="visible"/>
                                      </p:to>
                                    </p:set>
                                    <p:animEffect transition="in" filter="fade">
                                      <p:cBhvr>
                                        <p:cTn id="112" dur="480"/>
                                        <p:tgtEl>
                                          <p:spTgt spid="51"/>
                                        </p:tgtEl>
                                      </p:cBhvr>
                                    </p:animEffect>
                                  </p:childTnLst>
                                </p:cTn>
                              </p:par>
                              <p:par>
                                <p:cTn id="113" presetID="10" presetClass="entr" presetSubtype="0" fill="hold" grpId="0" nodeType="withEffect">
                                  <p:stCondLst>
                                    <p:cond delay="960"/>
                                  </p:stCondLst>
                                  <p:childTnLst>
                                    <p:set>
                                      <p:cBhvr>
                                        <p:cTn id="114" dur="1" fill="hold">
                                          <p:stCondLst>
                                            <p:cond delay="0"/>
                                          </p:stCondLst>
                                        </p:cTn>
                                        <p:tgtEl>
                                          <p:spTgt spid="52"/>
                                        </p:tgtEl>
                                        <p:attrNameLst>
                                          <p:attrName>style.visibility</p:attrName>
                                        </p:attrNameLst>
                                      </p:cBhvr>
                                      <p:to>
                                        <p:strVal val="visible"/>
                                      </p:to>
                                    </p:set>
                                    <p:animEffect transition="in" filter="fade">
                                      <p:cBhvr>
                                        <p:cTn id="115" dur="480"/>
                                        <p:tgtEl>
                                          <p:spTgt spid="52"/>
                                        </p:tgtEl>
                                      </p:cBhvr>
                                    </p:animEffect>
                                  </p:childTnLst>
                                </p:cTn>
                              </p:par>
                              <p:par>
                                <p:cTn id="116" presetID="10" presetClass="entr" presetSubtype="0" fill="hold" grpId="0" nodeType="withEffect">
                                  <p:stCondLst>
                                    <p:cond delay="1280"/>
                                  </p:stCondLst>
                                  <p:childTnLst>
                                    <p:set>
                                      <p:cBhvr>
                                        <p:cTn id="117" dur="1" fill="hold">
                                          <p:stCondLst>
                                            <p:cond delay="0"/>
                                          </p:stCondLst>
                                        </p:cTn>
                                        <p:tgtEl>
                                          <p:spTgt spid="23"/>
                                        </p:tgtEl>
                                        <p:attrNameLst>
                                          <p:attrName>style.visibility</p:attrName>
                                        </p:attrNameLst>
                                      </p:cBhvr>
                                      <p:to>
                                        <p:strVal val="visible"/>
                                      </p:to>
                                    </p:set>
                                    <p:animEffect transition="in" filter="fade">
                                      <p:cBhvr>
                                        <p:cTn id="118" dur="480"/>
                                        <p:tgtEl>
                                          <p:spTgt spid="23"/>
                                        </p:tgtEl>
                                      </p:cBhvr>
                                    </p:animEffect>
                                  </p:childTnLst>
                                </p:cTn>
                              </p:par>
                              <p:par>
                                <p:cTn id="119" presetID="10" presetClass="entr" presetSubtype="0" fill="hold" grpId="0" nodeType="withEffect">
                                  <p:stCondLst>
                                    <p:cond delay="128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480"/>
                                        <p:tgtEl>
                                          <p:spTgt spid="24"/>
                                        </p:tgtEl>
                                      </p:cBhvr>
                                    </p:animEffect>
                                  </p:childTnLst>
                                </p:cTn>
                              </p:par>
                              <p:par>
                                <p:cTn id="122" presetID="10" presetClass="entr" presetSubtype="0" fill="hold" grpId="0" nodeType="withEffect">
                                  <p:stCondLst>
                                    <p:cond delay="1280"/>
                                  </p:stCondLst>
                                  <p:childTnLst>
                                    <p:set>
                                      <p:cBhvr>
                                        <p:cTn id="123" dur="1" fill="hold">
                                          <p:stCondLst>
                                            <p:cond delay="0"/>
                                          </p:stCondLst>
                                        </p:cTn>
                                        <p:tgtEl>
                                          <p:spTgt spid="25"/>
                                        </p:tgtEl>
                                        <p:attrNameLst>
                                          <p:attrName>style.visibility</p:attrName>
                                        </p:attrNameLst>
                                      </p:cBhvr>
                                      <p:to>
                                        <p:strVal val="visible"/>
                                      </p:to>
                                    </p:set>
                                    <p:animEffect transition="in" filter="fade">
                                      <p:cBhvr>
                                        <p:cTn id="124" dur="480"/>
                                        <p:tgtEl>
                                          <p:spTgt spid="25"/>
                                        </p:tgtEl>
                                      </p:cBhvr>
                                    </p:animEffect>
                                  </p:childTnLst>
                                </p:cTn>
                              </p:par>
                              <p:par>
                                <p:cTn id="125" presetID="10" presetClass="entr" presetSubtype="0" fill="hold" grpId="0" nodeType="withEffect">
                                  <p:stCondLst>
                                    <p:cond delay="128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480"/>
                                        <p:tgtEl>
                                          <p:spTgt spid="26"/>
                                        </p:tgtEl>
                                      </p:cBhvr>
                                    </p:animEffect>
                                  </p:childTnLst>
                                </p:cTn>
                              </p:par>
                              <p:par>
                                <p:cTn id="128" presetID="10" presetClass="entr" presetSubtype="0" fill="hold" grpId="0" nodeType="withEffect">
                                  <p:stCondLst>
                                    <p:cond delay="1280"/>
                                  </p:stCondLst>
                                  <p:childTnLst>
                                    <p:set>
                                      <p:cBhvr>
                                        <p:cTn id="129" dur="1" fill="hold">
                                          <p:stCondLst>
                                            <p:cond delay="0"/>
                                          </p:stCondLst>
                                        </p:cTn>
                                        <p:tgtEl>
                                          <p:spTgt spid="27"/>
                                        </p:tgtEl>
                                        <p:attrNameLst>
                                          <p:attrName>style.visibility</p:attrName>
                                        </p:attrNameLst>
                                      </p:cBhvr>
                                      <p:to>
                                        <p:strVal val="visible"/>
                                      </p:to>
                                    </p:set>
                                    <p:animEffect transition="in" filter="fade">
                                      <p:cBhvr>
                                        <p:cTn id="130" dur="480"/>
                                        <p:tgtEl>
                                          <p:spTgt spid="27"/>
                                        </p:tgtEl>
                                      </p:cBhvr>
                                    </p:animEffect>
                                  </p:childTnLst>
                                </p:cTn>
                              </p:par>
                              <p:par>
                                <p:cTn id="131" presetID="10" presetClass="entr" presetSubtype="0" fill="hold" grpId="0" nodeType="withEffect">
                                  <p:stCondLst>
                                    <p:cond delay="128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480"/>
                                        <p:tgtEl>
                                          <p:spTgt spid="28"/>
                                        </p:tgtEl>
                                      </p:cBhvr>
                                    </p:animEffect>
                                  </p:childTnLst>
                                </p:cTn>
                              </p:par>
                              <p:par>
                                <p:cTn id="134" presetID="10" presetClass="entr" presetSubtype="0" fill="hold" grpId="0" nodeType="withEffect">
                                  <p:stCondLst>
                                    <p:cond delay="1280"/>
                                  </p:stCondLst>
                                  <p:childTnLst>
                                    <p:set>
                                      <p:cBhvr>
                                        <p:cTn id="135" dur="1" fill="hold">
                                          <p:stCondLst>
                                            <p:cond delay="0"/>
                                          </p:stCondLst>
                                        </p:cTn>
                                        <p:tgtEl>
                                          <p:spTgt spid="53"/>
                                        </p:tgtEl>
                                        <p:attrNameLst>
                                          <p:attrName>style.visibility</p:attrName>
                                        </p:attrNameLst>
                                      </p:cBhvr>
                                      <p:to>
                                        <p:strVal val="visible"/>
                                      </p:to>
                                    </p:set>
                                    <p:animEffect transition="in" filter="fade">
                                      <p:cBhvr>
                                        <p:cTn id="136" dur="480"/>
                                        <p:tgtEl>
                                          <p:spTgt spid="53"/>
                                        </p:tgtEl>
                                      </p:cBhvr>
                                    </p:animEffect>
                                  </p:childTnLst>
                                </p:cTn>
                              </p:par>
                              <p:par>
                                <p:cTn id="137" presetID="10" presetClass="entr" presetSubtype="0" fill="hold" grpId="0" nodeType="withEffect">
                                  <p:stCondLst>
                                    <p:cond delay="1280"/>
                                  </p:stCondLst>
                                  <p:childTnLst>
                                    <p:set>
                                      <p:cBhvr>
                                        <p:cTn id="138" dur="1" fill="hold">
                                          <p:stCondLst>
                                            <p:cond delay="0"/>
                                          </p:stCondLst>
                                        </p:cTn>
                                        <p:tgtEl>
                                          <p:spTgt spid="54"/>
                                        </p:tgtEl>
                                        <p:attrNameLst>
                                          <p:attrName>style.visibility</p:attrName>
                                        </p:attrNameLst>
                                      </p:cBhvr>
                                      <p:to>
                                        <p:strVal val="visible"/>
                                      </p:to>
                                    </p:set>
                                    <p:animEffect transition="in" filter="fade">
                                      <p:cBhvr>
                                        <p:cTn id="139" dur="480"/>
                                        <p:tgtEl>
                                          <p:spTgt spid="54"/>
                                        </p:tgtEl>
                                      </p:cBhvr>
                                    </p:animEffect>
                                  </p:childTnLst>
                                </p:cTn>
                              </p:par>
                              <p:par>
                                <p:cTn id="140" presetID="10" presetClass="entr" presetSubtype="0" fill="hold" grpId="0" nodeType="withEffect">
                                  <p:stCondLst>
                                    <p:cond delay="1280"/>
                                  </p:stCondLst>
                                  <p:childTnLst>
                                    <p:set>
                                      <p:cBhvr>
                                        <p:cTn id="141" dur="1" fill="hold">
                                          <p:stCondLst>
                                            <p:cond delay="0"/>
                                          </p:stCondLst>
                                        </p:cTn>
                                        <p:tgtEl>
                                          <p:spTgt spid="55"/>
                                        </p:tgtEl>
                                        <p:attrNameLst>
                                          <p:attrName>style.visibility</p:attrName>
                                        </p:attrNameLst>
                                      </p:cBhvr>
                                      <p:to>
                                        <p:strVal val="visible"/>
                                      </p:to>
                                    </p:set>
                                    <p:animEffect transition="in" filter="fade">
                                      <p:cBhvr>
                                        <p:cTn id="142" dur="480"/>
                                        <p:tgtEl>
                                          <p:spTgt spid="55"/>
                                        </p:tgtEl>
                                      </p:cBhvr>
                                    </p:animEffect>
                                  </p:childTnLst>
                                </p:cTn>
                              </p:par>
                              <p:par>
                                <p:cTn id="143" presetID="10" presetClass="entr" presetSubtype="0" fill="hold" grpId="0" nodeType="withEffect">
                                  <p:stCondLst>
                                    <p:cond delay="1280"/>
                                  </p:stCondLst>
                                  <p:childTnLst>
                                    <p:set>
                                      <p:cBhvr>
                                        <p:cTn id="144" dur="1" fill="hold">
                                          <p:stCondLst>
                                            <p:cond delay="0"/>
                                          </p:stCondLst>
                                        </p:cTn>
                                        <p:tgtEl>
                                          <p:spTgt spid="56"/>
                                        </p:tgtEl>
                                        <p:attrNameLst>
                                          <p:attrName>style.visibility</p:attrName>
                                        </p:attrNameLst>
                                      </p:cBhvr>
                                      <p:to>
                                        <p:strVal val="visible"/>
                                      </p:to>
                                    </p:set>
                                    <p:animEffect transition="in" filter="fade">
                                      <p:cBhvr>
                                        <p:cTn id="145" dur="480"/>
                                        <p:tgtEl>
                                          <p:spTgt spid="56"/>
                                        </p:tgtEl>
                                      </p:cBhvr>
                                    </p:animEffect>
                                  </p:childTnLst>
                                </p:cTn>
                              </p:par>
                              <p:par>
                                <p:cTn id="146" presetID="10" presetClass="entr" presetSubtype="0" fill="hold" grpId="0" nodeType="withEffect">
                                  <p:stCondLst>
                                    <p:cond delay="1280"/>
                                  </p:stCondLst>
                                  <p:childTnLst>
                                    <p:set>
                                      <p:cBhvr>
                                        <p:cTn id="147" dur="1" fill="hold">
                                          <p:stCondLst>
                                            <p:cond delay="0"/>
                                          </p:stCondLst>
                                        </p:cTn>
                                        <p:tgtEl>
                                          <p:spTgt spid="57"/>
                                        </p:tgtEl>
                                        <p:attrNameLst>
                                          <p:attrName>style.visibility</p:attrName>
                                        </p:attrNameLst>
                                      </p:cBhvr>
                                      <p:to>
                                        <p:strVal val="visible"/>
                                      </p:to>
                                    </p:set>
                                    <p:animEffect transition="in" filter="fade">
                                      <p:cBhvr>
                                        <p:cTn id="148" dur="480"/>
                                        <p:tgtEl>
                                          <p:spTgt spid="57"/>
                                        </p:tgtEl>
                                      </p:cBhvr>
                                    </p:animEffect>
                                  </p:childTnLst>
                                </p:cTn>
                              </p:par>
                              <p:par>
                                <p:cTn id="149" presetID="10" presetClass="entr" presetSubtype="0" fill="hold" grpId="0" nodeType="withEffect">
                                  <p:stCondLst>
                                    <p:cond delay="1280"/>
                                  </p:stCondLst>
                                  <p:childTnLst>
                                    <p:set>
                                      <p:cBhvr>
                                        <p:cTn id="150" dur="1" fill="hold">
                                          <p:stCondLst>
                                            <p:cond delay="0"/>
                                          </p:stCondLst>
                                        </p:cTn>
                                        <p:tgtEl>
                                          <p:spTgt spid="58"/>
                                        </p:tgtEl>
                                        <p:attrNameLst>
                                          <p:attrName>style.visibility</p:attrName>
                                        </p:attrNameLst>
                                      </p:cBhvr>
                                      <p:to>
                                        <p:strVal val="visible"/>
                                      </p:to>
                                    </p:set>
                                    <p:animEffect transition="in" filter="fade">
                                      <p:cBhvr>
                                        <p:cTn id="151" dur="480"/>
                                        <p:tgtEl>
                                          <p:spTgt spid="58"/>
                                        </p:tgtEl>
                                      </p:cBhvr>
                                    </p:animEffect>
                                  </p:childTnLst>
                                </p:cTn>
                              </p:par>
                              <p:par>
                                <p:cTn id="152" presetID="10" presetClass="entr" presetSubtype="0" fill="hold" grpId="0" nodeType="withEffect">
                                  <p:stCondLst>
                                    <p:cond delay="1600"/>
                                  </p:stCondLst>
                                  <p:childTnLst>
                                    <p:set>
                                      <p:cBhvr>
                                        <p:cTn id="153" dur="1" fill="hold">
                                          <p:stCondLst>
                                            <p:cond delay="0"/>
                                          </p:stCondLst>
                                        </p:cTn>
                                        <p:tgtEl>
                                          <p:spTgt spid="29"/>
                                        </p:tgtEl>
                                        <p:attrNameLst>
                                          <p:attrName>style.visibility</p:attrName>
                                        </p:attrNameLst>
                                      </p:cBhvr>
                                      <p:to>
                                        <p:strVal val="visible"/>
                                      </p:to>
                                    </p:set>
                                    <p:animEffect transition="in" filter="fade">
                                      <p:cBhvr>
                                        <p:cTn id="154" dur="480"/>
                                        <p:tgtEl>
                                          <p:spTgt spid="29"/>
                                        </p:tgtEl>
                                      </p:cBhvr>
                                    </p:animEffect>
                                  </p:childTnLst>
                                </p:cTn>
                              </p:par>
                              <p:par>
                                <p:cTn id="155" presetID="10" presetClass="entr" presetSubtype="0" fill="hold" grpId="0" nodeType="withEffect">
                                  <p:stCondLst>
                                    <p:cond delay="1600"/>
                                  </p:stCondLst>
                                  <p:childTnLst>
                                    <p:set>
                                      <p:cBhvr>
                                        <p:cTn id="156" dur="1" fill="hold">
                                          <p:stCondLst>
                                            <p:cond delay="0"/>
                                          </p:stCondLst>
                                        </p:cTn>
                                        <p:tgtEl>
                                          <p:spTgt spid="30"/>
                                        </p:tgtEl>
                                        <p:attrNameLst>
                                          <p:attrName>style.visibility</p:attrName>
                                        </p:attrNameLst>
                                      </p:cBhvr>
                                      <p:to>
                                        <p:strVal val="visible"/>
                                      </p:to>
                                    </p:set>
                                    <p:animEffect transition="in" filter="fade">
                                      <p:cBhvr>
                                        <p:cTn id="157" dur="480"/>
                                        <p:tgtEl>
                                          <p:spTgt spid="30"/>
                                        </p:tgtEl>
                                      </p:cBhvr>
                                    </p:animEffect>
                                  </p:childTnLst>
                                </p:cTn>
                              </p:par>
                              <p:par>
                                <p:cTn id="158" presetID="10" presetClass="entr" presetSubtype="0" fill="hold" grpId="0" nodeType="withEffect">
                                  <p:stCondLst>
                                    <p:cond delay="1600"/>
                                  </p:stCondLst>
                                  <p:childTnLst>
                                    <p:set>
                                      <p:cBhvr>
                                        <p:cTn id="159" dur="1" fill="hold">
                                          <p:stCondLst>
                                            <p:cond delay="0"/>
                                          </p:stCondLst>
                                        </p:cTn>
                                        <p:tgtEl>
                                          <p:spTgt spid="31"/>
                                        </p:tgtEl>
                                        <p:attrNameLst>
                                          <p:attrName>style.visibility</p:attrName>
                                        </p:attrNameLst>
                                      </p:cBhvr>
                                      <p:to>
                                        <p:strVal val="visible"/>
                                      </p:to>
                                    </p:set>
                                    <p:animEffect transition="in" filter="fade">
                                      <p:cBhvr>
                                        <p:cTn id="160" dur="480"/>
                                        <p:tgtEl>
                                          <p:spTgt spid="31"/>
                                        </p:tgtEl>
                                      </p:cBhvr>
                                    </p:animEffect>
                                  </p:childTnLst>
                                </p:cTn>
                              </p:par>
                              <p:par>
                                <p:cTn id="161" presetID="10" presetClass="entr" presetSubtype="0" fill="hold" grpId="0" nodeType="withEffect">
                                  <p:stCondLst>
                                    <p:cond delay="1600"/>
                                  </p:stCondLst>
                                  <p:childTnLst>
                                    <p:set>
                                      <p:cBhvr>
                                        <p:cTn id="162" dur="1" fill="hold">
                                          <p:stCondLst>
                                            <p:cond delay="0"/>
                                          </p:stCondLst>
                                        </p:cTn>
                                        <p:tgtEl>
                                          <p:spTgt spid="32"/>
                                        </p:tgtEl>
                                        <p:attrNameLst>
                                          <p:attrName>style.visibility</p:attrName>
                                        </p:attrNameLst>
                                      </p:cBhvr>
                                      <p:to>
                                        <p:strVal val="visible"/>
                                      </p:to>
                                    </p:set>
                                    <p:animEffect transition="in" filter="fade">
                                      <p:cBhvr>
                                        <p:cTn id="163" dur="480"/>
                                        <p:tgtEl>
                                          <p:spTgt spid="32"/>
                                        </p:tgtEl>
                                      </p:cBhvr>
                                    </p:animEffect>
                                  </p:childTnLst>
                                </p:cTn>
                              </p:par>
                              <p:par>
                                <p:cTn id="164" presetID="10" presetClass="entr" presetSubtype="0" fill="hold" grpId="0" nodeType="withEffect">
                                  <p:stCondLst>
                                    <p:cond delay="1600"/>
                                  </p:stCondLst>
                                  <p:childTnLst>
                                    <p:set>
                                      <p:cBhvr>
                                        <p:cTn id="165" dur="1" fill="hold">
                                          <p:stCondLst>
                                            <p:cond delay="0"/>
                                          </p:stCondLst>
                                        </p:cTn>
                                        <p:tgtEl>
                                          <p:spTgt spid="33"/>
                                        </p:tgtEl>
                                        <p:attrNameLst>
                                          <p:attrName>style.visibility</p:attrName>
                                        </p:attrNameLst>
                                      </p:cBhvr>
                                      <p:to>
                                        <p:strVal val="visible"/>
                                      </p:to>
                                    </p:set>
                                    <p:animEffect transition="in" filter="fade">
                                      <p:cBhvr>
                                        <p:cTn id="166" dur="480"/>
                                        <p:tgtEl>
                                          <p:spTgt spid="33"/>
                                        </p:tgtEl>
                                      </p:cBhvr>
                                    </p:animEffect>
                                  </p:childTnLst>
                                </p:cTn>
                              </p:par>
                              <p:par>
                                <p:cTn id="167" presetID="10" presetClass="entr" presetSubtype="0" fill="hold" grpId="0" nodeType="withEffect">
                                  <p:stCondLst>
                                    <p:cond delay="1600"/>
                                  </p:stCondLst>
                                  <p:childTnLst>
                                    <p:set>
                                      <p:cBhvr>
                                        <p:cTn id="168" dur="1" fill="hold">
                                          <p:stCondLst>
                                            <p:cond delay="0"/>
                                          </p:stCondLst>
                                        </p:cTn>
                                        <p:tgtEl>
                                          <p:spTgt spid="34"/>
                                        </p:tgtEl>
                                        <p:attrNameLst>
                                          <p:attrName>style.visibility</p:attrName>
                                        </p:attrNameLst>
                                      </p:cBhvr>
                                      <p:to>
                                        <p:strVal val="visible"/>
                                      </p:to>
                                    </p:set>
                                    <p:animEffect transition="in" filter="fade">
                                      <p:cBhvr>
                                        <p:cTn id="169" dur="480"/>
                                        <p:tgtEl>
                                          <p:spTgt spid="34"/>
                                        </p:tgtEl>
                                      </p:cBhvr>
                                    </p:animEffect>
                                  </p:childTnLst>
                                </p:cTn>
                              </p:par>
                              <p:par>
                                <p:cTn id="170" presetID="10" presetClass="entr" presetSubtype="0" fill="hold" grpId="0" nodeType="withEffect">
                                  <p:stCondLst>
                                    <p:cond delay="1600"/>
                                  </p:stCondLst>
                                  <p:childTnLst>
                                    <p:set>
                                      <p:cBhvr>
                                        <p:cTn id="171" dur="1" fill="hold">
                                          <p:stCondLst>
                                            <p:cond delay="0"/>
                                          </p:stCondLst>
                                        </p:cTn>
                                        <p:tgtEl>
                                          <p:spTgt spid="59"/>
                                        </p:tgtEl>
                                        <p:attrNameLst>
                                          <p:attrName>style.visibility</p:attrName>
                                        </p:attrNameLst>
                                      </p:cBhvr>
                                      <p:to>
                                        <p:strVal val="visible"/>
                                      </p:to>
                                    </p:set>
                                    <p:animEffect transition="in" filter="fade">
                                      <p:cBhvr>
                                        <p:cTn id="172" dur="480"/>
                                        <p:tgtEl>
                                          <p:spTgt spid="59"/>
                                        </p:tgtEl>
                                      </p:cBhvr>
                                    </p:animEffect>
                                  </p:childTnLst>
                                </p:cTn>
                              </p:par>
                              <p:par>
                                <p:cTn id="173" presetID="10" presetClass="entr" presetSubtype="0" fill="hold" grpId="0" nodeType="withEffect">
                                  <p:stCondLst>
                                    <p:cond delay="1600"/>
                                  </p:stCondLst>
                                  <p:childTnLst>
                                    <p:set>
                                      <p:cBhvr>
                                        <p:cTn id="174" dur="1" fill="hold">
                                          <p:stCondLst>
                                            <p:cond delay="0"/>
                                          </p:stCondLst>
                                        </p:cTn>
                                        <p:tgtEl>
                                          <p:spTgt spid="60"/>
                                        </p:tgtEl>
                                        <p:attrNameLst>
                                          <p:attrName>style.visibility</p:attrName>
                                        </p:attrNameLst>
                                      </p:cBhvr>
                                      <p:to>
                                        <p:strVal val="visible"/>
                                      </p:to>
                                    </p:set>
                                    <p:animEffect transition="in" filter="fade">
                                      <p:cBhvr>
                                        <p:cTn id="175" dur="480"/>
                                        <p:tgtEl>
                                          <p:spTgt spid="60"/>
                                        </p:tgtEl>
                                      </p:cBhvr>
                                    </p:animEffect>
                                  </p:childTnLst>
                                </p:cTn>
                              </p:par>
                              <p:par>
                                <p:cTn id="176" presetID="10" presetClass="entr" presetSubtype="0" fill="hold" grpId="0" nodeType="withEffect">
                                  <p:stCondLst>
                                    <p:cond delay="1600"/>
                                  </p:stCondLst>
                                  <p:childTnLst>
                                    <p:set>
                                      <p:cBhvr>
                                        <p:cTn id="177" dur="1" fill="hold">
                                          <p:stCondLst>
                                            <p:cond delay="0"/>
                                          </p:stCondLst>
                                        </p:cTn>
                                        <p:tgtEl>
                                          <p:spTgt spid="61"/>
                                        </p:tgtEl>
                                        <p:attrNameLst>
                                          <p:attrName>style.visibility</p:attrName>
                                        </p:attrNameLst>
                                      </p:cBhvr>
                                      <p:to>
                                        <p:strVal val="visible"/>
                                      </p:to>
                                    </p:set>
                                    <p:animEffect transition="in" filter="fade">
                                      <p:cBhvr>
                                        <p:cTn id="178" dur="480"/>
                                        <p:tgtEl>
                                          <p:spTgt spid="61"/>
                                        </p:tgtEl>
                                      </p:cBhvr>
                                    </p:animEffect>
                                  </p:childTnLst>
                                </p:cTn>
                              </p:par>
                              <p:par>
                                <p:cTn id="179" presetID="10" presetClass="entr" presetSubtype="0" fill="hold" grpId="0" nodeType="withEffect">
                                  <p:stCondLst>
                                    <p:cond delay="1600"/>
                                  </p:stCondLst>
                                  <p:childTnLst>
                                    <p:set>
                                      <p:cBhvr>
                                        <p:cTn id="180" dur="1" fill="hold">
                                          <p:stCondLst>
                                            <p:cond delay="0"/>
                                          </p:stCondLst>
                                        </p:cTn>
                                        <p:tgtEl>
                                          <p:spTgt spid="62"/>
                                        </p:tgtEl>
                                        <p:attrNameLst>
                                          <p:attrName>style.visibility</p:attrName>
                                        </p:attrNameLst>
                                      </p:cBhvr>
                                      <p:to>
                                        <p:strVal val="visible"/>
                                      </p:to>
                                    </p:set>
                                    <p:animEffect transition="in" filter="fade">
                                      <p:cBhvr>
                                        <p:cTn id="181" dur="480"/>
                                        <p:tgtEl>
                                          <p:spTgt spid="62"/>
                                        </p:tgtEl>
                                      </p:cBhvr>
                                    </p:animEffect>
                                  </p:childTnLst>
                                </p:cTn>
                              </p:par>
                              <p:par>
                                <p:cTn id="182" presetID="10" presetClass="entr" presetSubtype="0" fill="hold" grpId="0" nodeType="withEffect">
                                  <p:stCondLst>
                                    <p:cond delay="1600"/>
                                  </p:stCondLst>
                                  <p:childTnLst>
                                    <p:set>
                                      <p:cBhvr>
                                        <p:cTn id="183" dur="1" fill="hold">
                                          <p:stCondLst>
                                            <p:cond delay="0"/>
                                          </p:stCondLst>
                                        </p:cTn>
                                        <p:tgtEl>
                                          <p:spTgt spid="63"/>
                                        </p:tgtEl>
                                        <p:attrNameLst>
                                          <p:attrName>style.visibility</p:attrName>
                                        </p:attrNameLst>
                                      </p:cBhvr>
                                      <p:to>
                                        <p:strVal val="visible"/>
                                      </p:to>
                                    </p:set>
                                    <p:animEffect transition="in" filter="fade">
                                      <p:cBhvr>
                                        <p:cTn id="184" dur="480"/>
                                        <p:tgtEl>
                                          <p:spTgt spid="63"/>
                                        </p:tgtEl>
                                      </p:cBhvr>
                                    </p:animEffect>
                                  </p:childTnLst>
                                </p:cTn>
                              </p:par>
                              <p:par>
                                <p:cTn id="185" presetID="10" presetClass="entr" presetSubtype="0" fill="hold" grpId="0" nodeType="withEffect">
                                  <p:stCondLst>
                                    <p:cond delay="1600"/>
                                  </p:stCondLst>
                                  <p:childTnLst>
                                    <p:set>
                                      <p:cBhvr>
                                        <p:cTn id="186" dur="1" fill="hold">
                                          <p:stCondLst>
                                            <p:cond delay="0"/>
                                          </p:stCondLst>
                                        </p:cTn>
                                        <p:tgtEl>
                                          <p:spTgt spid="64"/>
                                        </p:tgtEl>
                                        <p:attrNameLst>
                                          <p:attrName>style.visibility</p:attrName>
                                        </p:attrNameLst>
                                      </p:cBhvr>
                                      <p:to>
                                        <p:strVal val="visible"/>
                                      </p:to>
                                    </p:set>
                                    <p:animEffect transition="in" filter="fade">
                                      <p:cBhvr>
                                        <p:cTn id="187" dur="480"/>
                                        <p:tgtEl>
                                          <p:spTgt spid="64"/>
                                        </p:tgtEl>
                                      </p:cBhvr>
                                    </p:animEffect>
                                  </p:childTnLst>
                                </p:cTn>
                              </p:par>
                              <p:par>
                                <p:cTn id="188" presetID="10" presetClass="entr" presetSubtype="0" fill="hold" grpId="0" nodeType="withEffect">
                                  <p:stCondLst>
                                    <p:cond delay="1920"/>
                                  </p:stCondLst>
                                  <p:childTnLst>
                                    <p:set>
                                      <p:cBhvr>
                                        <p:cTn id="189" dur="1" fill="hold">
                                          <p:stCondLst>
                                            <p:cond delay="0"/>
                                          </p:stCondLst>
                                        </p:cTn>
                                        <p:tgtEl>
                                          <p:spTgt spid="65"/>
                                        </p:tgtEl>
                                        <p:attrNameLst>
                                          <p:attrName>style.visibility</p:attrName>
                                        </p:attrNameLst>
                                      </p:cBhvr>
                                      <p:to>
                                        <p:strVal val="visible"/>
                                      </p:to>
                                    </p:set>
                                    <p:animEffect transition="in" filter="fade">
                                      <p:cBhvr>
                                        <p:cTn id="190" dur="48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7" grpId="0" animBg="1"/>
      <p:bldP spid="38" grpId="0" animBg="1"/>
      <p:bldP spid="39" grpId="0" animBg="1"/>
      <p:bldP spid="40" grpId="0" animBg="1"/>
      <p:bldP spid="41" grpId="0" animBg="1"/>
      <p:bldP spid="43" grpId="0" animBg="1"/>
      <p:bldP spid="44" grpId="0" animBg="1"/>
      <p:bldP spid="45" grpId="0" animBg="1"/>
      <p:bldP spid="46" grpId="0" animBg="1"/>
      <p:bldP spid="47" grpId="0" animBg="1"/>
      <p:bldP spid="49" grpId="0" animBg="1"/>
      <p:bldP spid="50" grpId="0" animBg="1"/>
      <p:bldP spid="51" grpId="0" animBg="1"/>
      <p:bldP spid="52" grpId="0" animBg="1"/>
      <p:bldP spid="53" grpId="0" animBg="1"/>
      <p:bldP spid="55" grpId="0" animBg="1"/>
      <p:bldP spid="56" grpId="0" animBg="1"/>
      <p:bldP spid="57" grpId="0" animBg="1"/>
      <p:bldP spid="58" grpId="0" animBg="1"/>
      <p:bldP spid="59" grpId="0" animBg="1"/>
      <p:bldP spid="61" grpId="0" animBg="1"/>
      <p:bldP spid="62" grpId="0" animBg="1"/>
      <p:bldP spid="63" grpId="0" animBg="1"/>
      <p:bldP spid="64" grpId="0" animBg="1"/>
      <p:bldP spid="6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ivate/tmp/claude-501/-Users-swibit-skillture/f1e62dc3-dfc1-4d04-897a-70d066cdcef5/scratchpad/deck/img/pat_full.png">    </p:cNvPr>
          <p:cNvPicPr>
            <a:picLocks noChangeAspect="1"/>
          </p:cNvPicPr>
          <p:nvPr/>
        </p:nvPicPr>
        <p:blipFill>
          <a:blip r:embed="rId1"/>
          <a:stretch>
            <a:fillRect/>
          </a:stretch>
        </p:blipFill>
        <p:spPr>
          <a:xfrm>
            <a:off x="0" y="0"/>
            <a:ext cx="12191695" cy="6858000"/>
          </a:xfrm>
          <a:prstGeom prst="rect">
            <a:avLst/>
          </a:prstGeom>
        </p:spPr>
      </p:pic>
      <p:sp>
        <p:nvSpPr>
          <p:cNvPr id="4" name="A0-eyebrow"/>
          <p:cNvSpPr txBox="1"/>
          <p:nvPr/>
        </p:nvSpPr>
        <p:spPr>
          <a:xfrm>
            <a:off x="685800" y="457200"/>
            <a:ext cx="8229600" cy="274320"/>
          </a:xfrm>
          <a:prstGeom prst="rect">
            <a:avLst/>
          </a:prstGeom>
          <a:noFill/>
          <a:ln/>
        </p:spPr>
        <p:txBody>
          <a:bodyPr wrap="square" lIns="0" tIns="0" rIns="0" bIns="0" rtlCol="0" anchor="t"/>
          <a:lstStyle/>
          <a:p>
            <a:pPr indent="0" marL="0">
              <a:buNone/>
            </a:pPr>
            <a:r>
              <a:rPr lang="en-US" sz="1200" spc="300" kern="0" dirty="0">
                <a:solidFill>
                  <a:srgbClr val="0CCCCC"/>
                </a:solidFill>
                <a:latin typeface="Poppins SemiBold" pitchFamily="34" charset="0"/>
                <a:ea typeface="Poppins SemiBold" pitchFamily="34" charset="-122"/>
                <a:cs typeface="Poppins SemiBold" pitchFamily="34" charset="-120"/>
              </a:rPr>
              <a:t>07  ·  LIVE CHALLENGE  ·  25 MINUTES</a:t>
            </a:r>
            <a:endParaRPr lang="en-US" sz="1200" dirty="0"/>
          </a:p>
        </p:txBody>
      </p:sp>
      <p:sp>
        <p:nvSpPr>
          <p:cNvPr id="5" name="Text 1"/>
          <p:cNvSpPr/>
          <p:nvPr>
            <p:ph idx="102" type="title" hasCustomPrompt="1"/>
          </p:nvPr>
        </p:nvSpPr>
        <p:spPr>
          <a:xfrm>
            <a:off x="685800" y="749808"/>
            <a:ext cx="10820095" cy="685800"/>
          </a:xfrm>
          <a:prstGeom prst="rect">
            <a:avLst/>
          </a:prstGeom>
          <a:noFill/>
          <a:ln/>
        </p:spPr>
        <p:txBody>
          <a:bodyPr wrap="square" lIns="0" tIns="0" rIns="0" bIns="0" rtlCol="0" anchor="t"/>
          <a:lstStyle/>
          <a:p>
            <a:pPr algn="l" indent="0" marL="0">
              <a:buNone/>
            </a:pPr>
            <a:r>
              <a:rPr lang="en-US" sz="3600" dirty="0">
                <a:solidFill>
                  <a:srgbClr val="FFFFFF"/>
                </a:solidFill>
                <a:latin typeface="Poppins ExtraBold" pitchFamily="34" charset="0"/>
                <a:ea typeface="Poppins ExtraBold" pitchFamily="34" charset="-122"/>
                <a:cs typeface="Poppins ExtraBold" pitchFamily="34" charset="-120"/>
              </a:rPr>
              <a:t>Let's Build Something</a:t>
            </a:r>
            <a:endParaRPr lang="en-US" sz="3600" dirty="0"/>
          </a:p>
        </p:txBody>
      </p:sp>
      <p:sp>
        <p:nvSpPr>
          <p:cNvPr id="6" name="A0-live"/>
          <p:cNvSpPr/>
          <p:nvPr/>
        </p:nvSpPr>
        <p:spPr>
          <a:xfrm>
            <a:off x="9494215" y="804672"/>
            <a:ext cx="2011680" cy="438912"/>
          </a:xfrm>
          <a:prstGeom prst="roundRect">
            <a:avLst>
              <a:gd name="adj" fmla="val 50000"/>
            </a:avLst>
          </a:prstGeom>
          <a:solidFill>
            <a:srgbClr val="FF4D4D"/>
          </a:solidFill>
          <a:ln/>
        </p:spPr>
      </p:sp>
      <p:sp>
        <p:nvSpPr>
          <p:cNvPr id="7" name="A0-liveDot"/>
          <p:cNvSpPr/>
          <p:nvPr/>
        </p:nvSpPr>
        <p:spPr>
          <a:xfrm>
            <a:off x="9677095" y="960120"/>
            <a:ext cx="128016" cy="128016"/>
          </a:xfrm>
          <a:prstGeom prst="ellipse">
            <a:avLst/>
          </a:prstGeom>
          <a:solidFill>
            <a:srgbClr val="FFFFFF"/>
          </a:solidFill>
          <a:ln/>
        </p:spPr>
      </p:sp>
      <p:sp>
        <p:nvSpPr>
          <p:cNvPr id="8" name="A0-liveT"/>
          <p:cNvSpPr txBox="1"/>
          <p:nvPr/>
        </p:nvSpPr>
        <p:spPr>
          <a:xfrm>
            <a:off x="9878263" y="804672"/>
            <a:ext cx="1554480" cy="438912"/>
          </a:xfrm>
          <a:prstGeom prst="rect">
            <a:avLst/>
          </a:prstGeom>
          <a:noFill/>
          <a:ln/>
        </p:spPr>
        <p:txBody>
          <a:bodyPr wrap="square" lIns="0" tIns="0" rIns="0" bIns="0" rtlCol="0" anchor="ctr"/>
          <a:lstStyle/>
          <a:p>
            <a:pPr indent="0" marL="0">
              <a:buNone/>
            </a:pPr>
            <a:r>
              <a:rPr lang="en-US" sz="1200" spc="100" kern="0" dirty="0">
                <a:solidFill>
                  <a:srgbClr val="FFFFFF"/>
                </a:solidFill>
                <a:latin typeface="Poppins ExtraBold" pitchFamily="34" charset="0"/>
                <a:ea typeface="Poppins ExtraBold" pitchFamily="34" charset="-122"/>
                <a:cs typeface="Poppins ExtraBold" pitchFamily="34" charset="-120"/>
              </a:rPr>
              <a:t>BUILDING LIVE</a:t>
            </a:r>
            <a:endParaRPr lang="en-US" sz="1200" dirty="0"/>
          </a:p>
        </p:txBody>
      </p:sp>
      <p:sp>
        <p:nvSpPr>
          <p:cNvPr id="9" name="A1-vl"/>
          <p:cNvSpPr txBox="1"/>
          <p:nvPr/>
        </p:nvSpPr>
        <p:spPr>
          <a:xfrm>
            <a:off x="685800" y="1627632"/>
            <a:ext cx="3474720" cy="256032"/>
          </a:xfrm>
          <a:prstGeom prst="rect">
            <a:avLst/>
          </a:prstGeom>
          <a:noFill/>
          <a:ln/>
        </p:spPr>
        <p:txBody>
          <a:bodyPr wrap="square" lIns="0" tIns="0" rIns="0" bIns="0" rtlCol="0" anchor="t"/>
          <a:lstStyle/>
          <a:p>
            <a:pPr indent="0" marL="0">
              <a:buNone/>
            </a:pPr>
            <a:r>
              <a:rPr lang="en-US" sz="1100" spc="200" kern="0" dirty="0">
                <a:solidFill>
                  <a:srgbClr val="0CCCCC"/>
                </a:solidFill>
                <a:latin typeface="Poppins SemiBold" pitchFamily="34" charset="0"/>
                <a:ea typeface="Poppins SemiBold" pitchFamily="34" charset="-122"/>
                <a:cs typeface="Poppins SemiBold" pitchFamily="34" charset="-120"/>
              </a:rPr>
              <a:t>STEP 0  ·  THE ROOM VOTES</a:t>
            </a:r>
            <a:endParaRPr lang="en-US" sz="1100" dirty="0"/>
          </a:p>
        </p:txBody>
      </p:sp>
      <p:sp>
        <p:nvSpPr>
          <p:cNvPr id="10" name="A1-v0"/>
          <p:cNvSpPr/>
          <p:nvPr/>
        </p:nvSpPr>
        <p:spPr>
          <a:xfrm>
            <a:off x="685800" y="1938528"/>
            <a:ext cx="3429000" cy="768096"/>
          </a:xfrm>
          <a:prstGeom prst="roundRect">
            <a:avLst>
              <a:gd name="adj" fmla="val 16667"/>
            </a:avLst>
          </a:prstGeom>
          <a:solidFill>
            <a:srgbClr val="0B2E30"/>
          </a:solidFill>
          <a:ln w="19050">
            <a:solidFill>
              <a:srgbClr val="0CCCCC"/>
            </a:solidFill>
            <a:prstDash val="solid"/>
          </a:ln>
        </p:spPr>
      </p:sp>
      <p:sp>
        <p:nvSpPr>
          <p:cNvPr id="11" name="A1-vb0"/>
          <p:cNvSpPr/>
          <p:nvPr/>
        </p:nvSpPr>
        <p:spPr>
          <a:xfrm>
            <a:off x="850392" y="2112264"/>
            <a:ext cx="420624" cy="420624"/>
          </a:xfrm>
          <a:prstGeom prst="ellipse">
            <a:avLst/>
          </a:prstGeom>
          <a:solidFill>
            <a:srgbClr val="0CCCCC"/>
          </a:solidFill>
          <a:ln/>
        </p:spPr>
      </p:sp>
      <p:sp>
        <p:nvSpPr>
          <p:cNvPr id="12" name="A1-vbt0"/>
          <p:cNvSpPr txBox="1"/>
          <p:nvPr/>
        </p:nvSpPr>
        <p:spPr>
          <a:xfrm>
            <a:off x="850392" y="2112264"/>
            <a:ext cx="420624" cy="420624"/>
          </a:xfrm>
          <a:prstGeom prst="rect">
            <a:avLst/>
          </a:prstGeom>
          <a:noFill/>
          <a:ln/>
        </p:spPr>
        <p:txBody>
          <a:bodyPr wrap="square" lIns="0" tIns="0" rIns="0" bIns="0" rtlCol="0" anchor="ctr"/>
          <a:lstStyle/>
          <a:p>
            <a:pPr algn="ctr" indent="0" marL="0">
              <a:buNone/>
            </a:pPr>
            <a:r>
              <a:rPr lang="en-US" sz="1500" dirty="0">
                <a:solidFill>
                  <a:srgbClr val="000000"/>
                </a:solidFill>
                <a:latin typeface="Poppins ExtraBold" pitchFamily="34" charset="0"/>
                <a:ea typeface="Poppins ExtraBold" pitchFamily="34" charset="-122"/>
                <a:cs typeface="Poppins ExtraBold" pitchFamily="34" charset="-120"/>
              </a:rPr>
              <a:t>A</a:t>
            </a:r>
            <a:endParaRPr lang="en-US" sz="1500" dirty="0"/>
          </a:p>
        </p:txBody>
      </p:sp>
      <p:sp>
        <p:nvSpPr>
          <p:cNvPr id="13" name="A1-vt0"/>
          <p:cNvSpPr txBox="1"/>
          <p:nvPr/>
        </p:nvSpPr>
        <p:spPr>
          <a:xfrm>
            <a:off x="1417320" y="2048256"/>
            <a:ext cx="2606040" cy="310896"/>
          </a:xfrm>
          <a:prstGeom prst="rect">
            <a:avLst/>
          </a:prstGeom>
          <a:noFill/>
          <a:ln/>
        </p:spPr>
        <p:txBody>
          <a:bodyPr wrap="square" lIns="0" tIns="0" rIns="0" bIns="0" rtlCol="0" anchor="t"/>
          <a:lstStyle/>
          <a:p>
            <a:pPr indent="0" marL="0">
              <a:buNone/>
            </a:pPr>
            <a:r>
              <a:rPr lang="en-US" sz="1250" dirty="0">
                <a:solidFill>
                  <a:srgbClr val="FFFFFF"/>
                </a:solidFill>
                <a:latin typeface="Poppins SemiBold" pitchFamily="34" charset="0"/>
                <a:ea typeface="Poppins SemiBold" pitchFamily="34" charset="-122"/>
                <a:cs typeface="Poppins SemiBold" pitchFamily="34" charset="-120"/>
              </a:rPr>
              <a:t>Generator Subscription Tracker</a:t>
            </a:r>
            <a:endParaRPr lang="en-US" sz="1250" dirty="0"/>
          </a:p>
        </p:txBody>
      </p:sp>
      <p:sp>
        <p:nvSpPr>
          <p:cNvPr id="14" name="A1-vd0"/>
          <p:cNvSpPr txBox="1"/>
          <p:nvPr/>
        </p:nvSpPr>
        <p:spPr>
          <a:xfrm>
            <a:off x="1417320" y="2350008"/>
            <a:ext cx="2651760" cy="274320"/>
          </a:xfrm>
          <a:prstGeom prst="rect">
            <a:avLst/>
          </a:prstGeom>
          <a:noFill/>
          <a:ln/>
        </p:spPr>
        <p:txBody>
          <a:bodyPr wrap="square" lIns="0" tIns="0" rIns="0" bIns="0" rtlCol="0" anchor="t"/>
          <a:lstStyle/>
          <a:p>
            <a:pPr indent="0" marL="0">
              <a:buNone/>
            </a:pPr>
            <a:r>
              <a:rPr lang="en-US" sz="1200" dirty="0">
                <a:solidFill>
                  <a:srgbClr val="9FB0B0"/>
                </a:solidFill>
                <a:latin typeface="Poppins" pitchFamily="34" charset="0"/>
                <a:ea typeface="Poppins" pitchFamily="34" charset="-122"/>
                <a:cs typeface="Poppins" pitchFamily="34" charset="-120"/>
              </a:rPr>
              <a:t>Who paid this month?</a:t>
            </a:r>
            <a:endParaRPr lang="en-US" sz="1200" dirty="0"/>
          </a:p>
        </p:txBody>
      </p:sp>
      <p:sp>
        <p:nvSpPr>
          <p:cNvPr id="15" name="A1-v1"/>
          <p:cNvSpPr/>
          <p:nvPr/>
        </p:nvSpPr>
        <p:spPr>
          <a:xfrm>
            <a:off x="685800" y="2834640"/>
            <a:ext cx="3429000" cy="768096"/>
          </a:xfrm>
          <a:prstGeom prst="roundRect">
            <a:avLst>
              <a:gd name="adj" fmla="val 16667"/>
            </a:avLst>
          </a:prstGeom>
          <a:solidFill>
            <a:srgbClr val="0D1617"/>
          </a:solidFill>
          <a:ln w="9525">
            <a:solidFill>
              <a:srgbClr val="1F3537"/>
            </a:solidFill>
            <a:prstDash val="solid"/>
          </a:ln>
        </p:spPr>
      </p:sp>
      <p:sp>
        <p:nvSpPr>
          <p:cNvPr id="16" name="A1-vb1"/>
          <p:cNvSpPr/>
          <p:nvPr/>
        </p:nvSpPr>
        <p:spPr>
          <a:xfrm>
            <a:off x="850392" y="3008376"/>
            <a:ext cx="420624" cy="420624"/>
          </a:xfrm>
          <a:prstGeom prst="ellipse">
            <a:avLst/>
          </a:prstGeom>
          <a:solidFill>
            <a:srgbClr val="122021"/>
          </a:solidFill>
          <a:ln/>
        </p:spPr>
      </p:sp>
      <p:sp>
        <p:nvSpPr>
          <p:cNvPr id="17" name="A1-vbt1"/>
          <p:cNvSpPr txBox="1"/>
          <p:nvPr/>
        </p:nvSpPr>
        <p:spPr>
          <a:xfrm>
            <a:off x="850392" y="3008376"/>
            <a:ext cx="420624" cy="420624"/>
          </a:xfrm>
          <a:prstGeom prst="rect">
            <a:avLst/>
          </a:prstGeom>
          <a:noFill/>
          <a:ln/>
        </p:spPr>
        <p:txBody>
          <a:bodyPr wrap="square" lIns="0" tIns="0" rIns="0" bIns="0" rtlCol="0" anchor="ctr"/>
          <a:lstStyle/>
          <a:p>
            <a:pPr algn="ctr" indent="0" marL="0">
              <a:buNone/>
            </a:pPr>
            <a:r>
              <a:rPr lang="en-US" sz="1500" dirty="0">
                <a:solidFill>
                  <a:srgbClr val="FFFFFF"/>
                </a:solidFill>
                <a:latin typeface="Poppins ExtraBold" pitchFamily="34" charset="0"/>
                <a:ea typeface="Poppins ExtraBold" pitchFamily="34" charset="-122"/>
                <a:cs typeface="Poppins ExtraBold" pitchFamily="34" charset="-120"/>
              </a:rPr>
              <a:t>B</a:t>
            </a:r>
            <a:endParaRPr lang="en-US" sz="1500" dirty="0"/>
          </a:p>
        </p:txBody>
      </p:sp>
      <p:sp>
        <p:nvSpPr>
          <p:cNvPr id="18" name="A1-vt1"/>
          <p:cNvSpPr txBox="1"/>
          <p:nvPr/>
        </p:nvSpPr>
        <p:spPr>
          <a:xfrm>
            <a:off x="1417320" y="2944368"/>
            <a:ext cx="2606040" cy="310896"/>
          </a:xfrm>
          <a:prstGeom prst="rect">
            <a:avLst/>
          </a:prstGeom>
          <a:noFill/>
          <a:ln/>
        </p:spPr>
        <p:txBody>
          <a:bodyPr wrap="square" lIns="0" tIns="0" rIns="0" bIns="0" rtlCol="0" anchor="t"/>
          <a:lstStyle/>
          <a:p>
            <a:pPr indent="0" marL="0">
              <a:buNone/>
            </a:pPr>
            <a:r>
              <a:rPr lang="en-US" sz="1250" dirty="0">
                <a:solidFill>
                  <a:srgbClr val="FFFFFF"/>
                </a:solidFill>
                <a:latin typeface="Poppins SemiBold" pitchFamily="34" charset="0"/>
                <a:ea typeface="Poppins SemiBold" pitchFamily="34" charset="-122"/>
                <a:cs typeface="Poppins SemiBold" pitchFamily="34" charset="-120"/>
              </a:rPr>
              <a:t>Clinic Queue System</a:t>
            </a:r>
            <a:endParaRPr lang="en-US" sz="1250" dirty="0"/>
          </a:p>
        </p:txBody>
      </p:sp>
      <p:sp>
        <p:nvSpPr>
          <p:cNvPr id="19" name="A1-vd1"/>
          <p:cNvSpPr txBox="1"/>
          <p:nvPr/>
        </p:nvSpPr>
        <p:spPr>
          <a:xfrm>
            <a:off x="1417320" y="3246120"/>
            <a:ext cx="2651760" cy="274320"/>
          </a:xfrm>
          <a:prstGeom prst="rect">
            <a:avLst/>
          </a:prstGeom>
          <a:noFill/>
          <a:ln/>
        </p:spPr>
        <p:txBody>
          <a:bodyPr wrap="square" lIns="0" tIns="0" rIns="0" bIns="0" rtlCol="0" anchor="t"/>
          <a:lstStyle/>
          <a:p>
            <a:pPr indent="0" marL="0">
              <a:buNone/>
            </a:pPr>
            <a:r>
              <a:rPr lang="en-US" sz="1200" dirty="0">
                <a:solidFill>
                  <a:srgbClr val="9FB0B0"/>
                </a:solidFill>
                <a:latin typeface="Poppins" pitchFamily="34" charset="0"/>
                <a:ea typeface="Poppins" pitchFamily="34" charset="-122"/>
                <a:cs typeface="Poppins" pitchFamily="34" charset="-120"/>
              </a:rPr>
              <a:t>Book a slot, skip the wait.</a:t>
            </a:r>
            <a:endParaRPr lang="en-US" sz="1200" dirty="0"/>
          </a:p>
        </p:txBody>
      </p:sp>
      <p:sp>
        <p:nvSpPr>
          <p:cNvPr id="20" name="A1-v2"/>
          <p:cNvSpPr/>
          <p:nvPr/>
        </p:nvSpPr>
        <p:spPr>
          <a:xfrm>
            <a:off x="685800" y="3730752"/>
            <a:ext cx="3429000" cy="768096"/>
          </a:xfrm>
          <a:prstGeom prst="roundRect">
            <a:avLst>
              <a:gd name="adj" fmla="val 16667"/>
            </a:avLst>
          </a:prstGeom>
          <a:solidFill>
            <a:srgbClr val="0D1617"/>
          </a:solidFill>
          <a:ln w="9525">
            <a:solidFill>
              <a:srgbClr val="1F3537"/>
            </a:solidFill>
            <a:prstDash val="solid"/>
          </a:ln>
        </p:spPr>
      </p:sp>
      <p:sp>
        <p:nvSpPr>
          <p:cNvPr id="21" name="A1-vb2"/>
          <p:cNvSpPr/>
          <p:nvPr/>
        </p:nvSpPr>
        <p:spPr>
          <a:xfrm>
            <a:off x="850392" y="3904488"/>
            <a:ext cx="420624" cy="420624"/>
          </a:xfrm>
          <a:prstGeom prst="ellipse">
            <a:avLst/>
          </a:prstGeom>
          <a:solidFill>
            <a:srgbClr val="122021"/>
          </a:solidFill>
          <a:ln/>
        </p:spPr>
      </p:sp>
      <p:sp>
        <p:nvSpPr>
          <p:cNvPr id="22" name="A1-vbt2"/>
          <p:cNvSpPr txBox="1"/>
          <p:nvPr/>
        </p:nvSpPr>
        <p:spPr>
          <a:xfrm>
            <a:off x="850392" y="3904488"/>
            <a:ext cx="420624" cy="420624"/>
          </a:xfrm>
          <a:prstGeom prst="rect">
            <a:avLst/>
          </a:prstGeom>
          <a:noFill/>
          <a:ln/>
        </p:spPr>
        <p:txBody>
          <a:bodyPr wrap="square" lIns="0" tIns="0" rIns="0" bIns="0" rtlCol="0" anchor="ctr"/>
          <a:lstStyle/>
          <a:p>
            <a:pPr algn="ctr" indent="0" marL="0">
              <a:buNone/>
            </a:pPr>
            <a:r>
              <a:rPr lang="en-US" sz="1500" dirty="0">
                <a:solidFill>
                  <a:srgbClr val="FFFFFF"/>
                </a:solidFill>
                <a:latin typeface="Poppins ExtraBold" pitchFamily="34" charset="0"/>
                <a:ea typeface="Poppins ExtraBold" pitchFamily="34" charset="-122"/>
                <a:cs typeface="Poppins ExtraBold" pitchFamily="34" charset="-120"/>
              </a:rPr>
              <a:t>C</a:t>
            </a:r>
            <a:endParaRPr lang="en-US" sz="1500" dirty="0"/>
          </a:p>
        </p:txBody>
      </p:sp>
      <p:sp>
        <p:nvSpPr>
          <p:cNvPr id="23" name="A1-vt2"/>
          <p:cNvSpPr txBox="1"/>
          <p:nvPr/>
        </p:nvSpPr>
        <p:spPr>
          <a:xfrm>
            <a:off x="1417320" y="3840480"/>
            <a:ext cx="2606040" cy="310896"/>
          </a:xfrm>
          <a:prstGeom prst="rect">
            <a:avLst/>
          </a:prstGeom>
          <a:noFill/>
          <a:ln/>
        </p:spPr>
        <p:txBody>
          <a:bodyPr wrap="square" lIns="0" tIns="0" rIns="0" bIns="0" rtlCol="0" anchor="t"/>
          <a:lstStyle/>
          <a:p>
            <a:pPr indent="0" marL="0">
              <a:buNone/>
            </a:pPr>
            <a:r>
              <a:rPr lang="en-US" sz="1250" dirty="0">
                <a:solidFill>
                  <a:srgbClr val="FFFFFF"/>
                </a:solidFill>
                <a:latin typeface="Poppins SemiBold" pitchFamily="34" charset="0"/>
                <a:ea typeface="Poppins SemiBold" pitchFamily="34" charset="-122"/>
                <a:cs typeface="Poppins SemiBold" pitchFamily="34" charset="-120"/>
              </a:rPr>
              <a:t>Campus Lost &amp; Found</a:t>
            </a:r>
            <a:endParaRPr lang="en-US" sz="1250" dirty="0"/>
          </a:p>
        </p:txBody>
      </p:sp>
      <p:sp>
        <p:nvSpPr>
          <p:cNvPr id="24" name="A1-vd2"/>
          <p:cNvSpPr txBox="1"/>
          <p:nvPr/>
        </p:nvSpPr>
        <p:spPr>
          <a:xfrm>
            <a:off x="1417320" y="4142232"/>
            <a:ext cx="2651760" cy="274320"/>
          </a:xfrm>
          <a:prstGeom prst="rect">
            <a:avLst/>
          </a:prstGeom>
          <a:noFill/>
          <a:ln/>
        </p:spPr>
        <p:txBody>
          <a:bodyPr wrap="square" lIns="0" tIns="0" rIns="0" bIns="0" rtlCol="0" anchor="t"/>
          <a:lstStyle/>
          <a:p>
            <a:pPr indent="0" marL="0">
              <a:buNone/>
            </a:pPr>
            <a:r>
              <a:rPr lang="en-US" sz="1200" dirty="0">
                <a:solidFill>
                  <a:srgbClr val="9FB0B0"/>
                </a:solidFill>
                <a:latin typeface="Poppins" pitchFamily="34" charset="0"/>
                <a:ea typeface="Poppins" pitchFamily="34" charset="-122"/>
                <a:cs typeface="Poppins" pitchFamily="34" charset="-120"/>
              </a:rPr>
              <a:t>Post it, find it, claim it.</a:t>
            </a:r>
            <a:endParaRPr lang="en-US" sz="1200" dirty="0"/>
          </a:p>
        </p:txBody>
      </p:sp>
      <p:sp>
        <p:nvSpPr>
          <p:cNvPr id="25" name="A2-roles"/>
          <p:cNvSpPr/>
          <p:nvPr/>
        </p:nvSpPr>
        <p:spPr>
          <a:xfrm>
            <a:off x="685800" y="4681728"/>
            <a:ext cx="3429000" cy="1417320"/>
          </a:xfrm>
          <a:prstGeom prst="roundRect">
            <a:avLst>
              <a:gd name="adj" fmla="val 9032"/>
            </a:avLst>
          </a:prstGeom>
          <a:solidFill>
            <a:srgbClr val="0D1617"/>
          </a:solidFill>
          <a:ln w="9525">
            <a:solidFill>
              <a:srgbClr val="1F3537"/>
            </a:solidFill>
            <a:prstDash val="solid"/>
          </a:ln>
        </p:spPr>
      </p:sp>
      <p:sp>
        <p:nvSpPr>
          <p:cNvPr id="26" name="A2-rl"/>
          <p:cNvSpPr txBox="1"/>
          <p:nvPr/>
        </p:nvSpPr>
        <p:spPr>
          <a:xfrm>
            <a:off x="886968" y="4800600"/>
            <a:ext cx="2743200" cy="237744"/>
          </a:xfrm>
          <a:prstGeom prst="rect">
            <a:avLst/>
          </a:prstGeom>
          <a:noFill/>
          <a:ln/>
        </p:spPr>
        <p:txBody>
          <a:bodyPr wrap="square" lIns="0" tIns="0" rIns="0" bIns="0" rtlCol="0" anchor="t"/>
          <a:lstStyle/>
          <a:p>
            <a:pPr indent="0" marL="0">
              <a:buNone/>
            </a:pPr>
            <a:r>
              <a:rPr lang="en-US" sz="1100" spc="200" kern="0" dirty="0">
                <a:solidFill>
                  <a:srgbClr val="FF4D4D"/>
                </a:solidFill>
                <a:latin typeface="Poppins SemiBold" pitchFamily="34" charset="0"/>
                <a:ea typeface="Poppins SemiBold" pitchFamily="34" charset="-122"/>
                <a:cs typeface="Poppins SemiBold" pitchFamily="34" charset="-120"/>
              </a:rPr>
              <a:t>3 VOLUNTEERS</a:t>
            </a:r>
            <a:endParaRPr lang="en-US" sz="1100" dirty="0"/>
          </a:p>
        </p:txBody>
      </p:sp>
      <p:sp>
        <p:nvSpPr>
          <p:cNvPr id="27" name="A2-r0"/>
          <p:cNvSpPr txBox="1"/>
          <p:nvPr/>
        </p:nvSpPr>
        <p:spPr>
          <a:xfrm>
            <a:off x="886968" y="5102352"/>
            <a:ext cx="3108960" cy="274320"/>
          </a:xfrm>
          <a:prstGeom prst="rect">
            <a:avLst/>
          </a:prstGeom>
          <a:noFill/>
          <a:ln/>
        </p:spPr>
        <p:txBody>
          <a:bodyPr wrap="square" lIns="0" tIns="0" rIns="0" bIns="0" rtlCol="0" anchor="t"/>
          <a:lstStyle/>
          <a:p>
            <a:pPr indent="0" marL="0">
              <a:buNone/>
            </a:pPr>
            <a:r>
              <a:rPr lang="en-US" sz="1200" dirty="0">
                <a:solidFill>
                  <a:srgbClr val="FFFFFF"/>
                </a:solidFill>
                <a:latin typeface="Poppins SemiBold" pitchFamily="34" charset="0"/>
                <a:ea typeface="Poppins SemiBold" pitchFamily="34" charset="-122"/>
                <a:cs typeface="Poppins SemiBold" pitchFamily="34" charset="-120"/>
              </a:rPr>
              <a:t>Driver  </a:t>
            </a:r>
            <a:pPr indent="0" marL="0">
              <a:buNone/>
            </a:pPr>
            <a:r>
              <a:rPr lang="en-US" sz="1200" dirty="0">
                <a:solidFill>
                  <a:srgbClr val="9FB0B0"/>
                </a:solidFill>
                <a:latin typeface="Poppins" pitchFamily="34" charset="0"/>
                <a:ea typeface="Poppins" pitchFamily="34" charset="-122"/>
                <a:cs typeface="Poppins" pitchFamily="34" charset="-120"/>
              </a:rPr>
              <a:t>types and runs the code</a:t>
            </a:r>
            <a:endParaRPr lang="en-US" sz="1200" dirty="0"/>
          </a:p>
        </p:txBody>
      </p:sp>
      <p:sp>
        <p:nvSpPr>
          <p:cNvPr id="28" name="A2-r1"/>
          <p:cNvSpPr txBox="1"/>
          <p:nvPr/>
        </p:nvSpPr>
        <p:spPr>
          <a:xfrm>
            <a:off x="886968" y="5404104"/>
            <a:ext cx="3108960" cy="274320"/>
          </a:xfrm>
          <a:prstGeom prst="rect">
            <a:avLst/>
          </a:prstGeom>
          <a:noFill/>
          <a:ln/>
        </p:spPr>
        <p:txBody>
          <a:bodyPr wrap="square" lIns="0" tIns="0" rIns="0" bIns="0" rtlCol="0" anchor="t"/>
          <a:lstStyle/>
          <a:p>
            <a:pPr indent="0" marL="0">
              <a:buNone/>
            </a:pPr>
            <a:r>
              <a:rPr lang="en-US" sz="1200" dirty="0">
                <a:solidFill>
                  <a:srgbClr val="FFFFFF"/>
                </a:solidFill>
                <a:latin typeface="Poppins SemiBold" pitchFamily="34" charset="0"/>
                <a:ea typeface="Poppins SemiBold" pitchFamily="34" charset="-122"/>
                <a:cs typeface="Poppins SemiBold" pitchFamily="34" charset="-120"/>
              </a:rPr>
              <a:t>Navigator  </a:t>
            </a:r>
            <a:pPr indent="0" marL="0">
              <a:buNone/>
            </a:pPr>
            <a:r>
              <a:rPr lang="en-US" sz="1200" dirty="0">
                <a:solidFill>
                  <a:srgbClr val="9FB0B0"/>
                </a:solidFill>
                <a:latin typeface="Poppins" pitchFamily="34" charset="0"/>
                <a:ea typeface="Poppins" pitchFamily="34" charset="-122"/>
                <a:cs typeface="Poppins" pitchFamily="34" charset="-120"/>
              </a:rPr>
              <a:t>writes the prompts</a:t>
            </a:r>
            <a:endParaRPr lang="en-US" sz="1200" dirty="0"/>
          </a:p>
        </p:txBody>
      </p:sp>
      <p:sp>
        <p:nvSpPr>
          <p:cNvPr id="29" name="A2-r2"/>
          <p:cNvSpPr txBox="1"/>
          <p:nvPr/>
        </p:nvSpPr>
        <p:spPr>
          <a:xfrm>
            <a:off x="886968" y="5705856"/>
            <a:ext cx="3108960" cy="274320"/>
          </a:xfrm>
          <a:prstGeom prst="rect">
            <a:avLst/>
          </a:prstGeom>
          <a:noFill/>
          <a:ln/>
        </p:spPr>
        <p:txBody>
          <a:bodyPr wrap="square" lIns="0" tIns="0" rIns="0" bIns="0" rtlCol="0" anchor="t"/>
          <a:lstStyle/>
          <a:p>
            <a:pPr indent="0" marL="0">
              <a:buNone/>
            </a:pPr>
            <a:r>
              <a:rPr lang="en-US" sz="1200" dirty="0">
                <a:solidFill>
                  <a:srgbClr val="FFFFFF"/>
                </a:solidFill>
                <a:latin typeface="Poppins SemiBold" pitchFamily="34" charset="0"/>
                <a:ea typeface="Poppins SemiBold" pitchFamily="34" charset="-122"/>
                <a:cs typeface="Poppins SemiBold" pitchFamily="34" charset="-120"/>
              </a:rPr>
              <a:t>Reviewer  </a:t>
            </a:r>
            <a:pPr indent="0" marL="0">
              <a:buNone/>
            </a:pPr>
            <a:r>
              <a:rPr lang="en-US" sz="1200" dirty="0">
                <a:solidFill>
                  <a:srgbClr val="9FB0B0"/>
                </a:solidFill>
                <a:latin typeface="Poppins" pitchFamily="34" charset="0"/>
                <a:ea typeface="Poppins" pitchFamily="34" charset="-122"/>
                <a:cs typeface="Poppins" pitchFamily="34" charset="-120"/>
              </a:rPr>
              <a:t>checks every output</a:t>
            </a:r>
            <a:endParaRPr lang="en-US" sz="1200" dirty="0"/>
          </a:p>
        </p:txBody>
      </p:sp>
      <p:sp>
        <p:nvSpPr>
          <p:cNvPr id="30" name="A3-c"/>
          <p:cNvSpPr/>
          <p:nvPr/>
        </p:nvSpPr>
        <p:spPr>
          <a:xfrm>
            <a:off x="4434840" y="1645920"/>
            <a:ext cx="2222906" cy="1389888"/>
          </a:xfrm>
          <a:prstGeom prst="roundRect">
            <a:avLst>
              <a:gd name="adj" fmla="val 9211"/>
            </a:avLst>
          </a:prstGeom>
          <a:solidFill>
            <a:srgbClr val="0D1617"/>
          </a:solidFill>
          <a:ln w="9525">
            <a:solidFill>
              <a:srgbClr val="1F3537"/>
            </a:solidFill>
            <a:prstDash val="solid"/>
          </a:ln>
        </p:spPr>
      </p:sp>
      <p:sp>
        <p:nvSpPr>
          <p:cNvPr id="31" name="A3-n"/>
          <p:cNvSpPr txBox="1"/>
          <p:nvPr/>
        </p:nvSpPr>
        <p:spPr>
          <a:xfrm>
            <a:off x="4636008" y="1810512"/>
            <a:ext cx="731520" cy="457200"/>
          </a:xfrm>
          <a:prstGeom prst="rect">
            <a:avLst/>
          </a:prstGeom>
          <a:noFill/>
          <a:ln/>
        </p:spPr>
        <p:txBody>
          <a:bodyPr wrap="square" lIns="0" tIns="0" rIns="0" bIns="0" rtlCol="0" anchor="t"/>
          <a:lstStyle/>
          <a:p>
            <a:pPr indent="0" marL="0">
              <a:buNone/>
            </a:pPr>
            <a:r>
              <a:rPr lang="en-US" sz="2600" dirty="0">
                <a:solidFill>
                  <a:srgbClr val="0CCCCC"/>
                </a:solidFill>
                <a:latin typeface="Poppins ExtraBold" pitchFamily="34" charset="0"/>
                <a:ea typeface="Poppins ExtraBold" pitchFamily="34" charset="-122"/>
                <a:cs typeface="Poppins ExtraBold" pitchFamily="34" charset="-120"/>
              </a:rPr>
              <a:t>01</a:t>
            </a:r>
            <a:endParaRPr lang="en-US" sz="2600" dirty="0"/>
          </a:p>
        </p:txBody>
      </p:sp>
      <p:sp>
        <p:nvSpPr>
          <p:cNvPr id="32" name="A3-tm"/>
          <p:cNvSpPr/>
          <p:nvPr/>
        </p:nvSpPr>
        <p:spPr>
          <a:xfrm>
            <a:off x="5743346" y="1865376"/>
            <a:ext cx="731520" cy="274320"/>
          </a:xfrm>
          <a:prstGeom prst="roundRect">
            <a:avLst>
              <a:gd name="adj" fmla="val 50000"/>
            </a:avLst>
          </a:prstGeom>
          <a:ln w="9525">
            <a:solidFill>
              <a:srgbClr val="01A3A3"/>
            </a:solidFill>
            <a:prstDash val="solid"/>
          </a:ln>
        </p:spPr>
      </p:sp>
      <p:sp>
        <p:nvSpPr>
          <p:cNvPr id="33" name="A3-tmT"/>
          <p:cNvSpPr txBox="1"/>
          <p:nvPr/>
        </p:nvSpPr>
        <p:spPr>
          <a:xfrm>
            <a:off x="5743346" y="1865376"/>
            <a:ext cx="731520" cy="274320"/>
          </a:xfrm>
          <a:prstGeom prst="rect">
            <a:avLst/>
          </a:prstGeom>
          <a:noFill/>
          <a:ln/>
        </p:spPr>
        <p:txBody>
          <a:bodyPr wrap="square" lIns="0" tIns="0" rIns="0" bIns="0" rtlCol="0" anchor="ctr"/>
          <a:lstStyle/>
          <a:p>
            <a:pPr algn="ctr" indent="0" marL="0">
              <a:buNone/>
            </a:pPr>
            <a:r>
              <a:rPr lang="en-US" sz="1000" dirty="0">
                <a:solidFill>
                  <a:srgbClr val="0CCCCC"/>
                </a:solidFill>
                <a:latin typeface="Poppins Medium" pitchFamily="34" charset="0"/>
                <a:ea typeface="Poppins Medium" pitchFamily="34" charset="-122"/>
                <a:cs typeface="Poppins Medium" pitchFamily="34" charset="-120"/>
              </a:rPr>
              <a:t>3 min</a:t>
            </a:r>
            <a:endParaRPr lang="en-US" sz="1000" dirty="0"/>
          </a:p>
        </p:txBody>
      </p:sp>
      <p:sp>
        <p:nvSpPr>
          <p:cNvPr id="34" name="A3-t"/>
          <p:cNvSpPr txBox="1"/>
          <p:nvPr/>
        </p:nvSpPr>
        <p:spPr>
          <a:xfrm>
            <a:off x="4636008" y="2267712"/>
            <a:ext cx="1857146"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Define</a:t>
            </a:r>
            <a:endParaRPr lang="en-US" sz="1600" dirty="0"/>
          </a:p>
        </p:txBody>
      </p:sp>
      <p:sp>
        <p:nvSpPr>
          <p:cNvPr id="35" name="A3-d"/>
          <p:cNvSpPr txBox="1"/>
          <p:nvPr/>
        </p:nvSpPr>
        <p:spPr>
          <a:xfrm>
            <a:off x="4636008" y="2551176"/>
            <a:ext cx="1857146" cy="438912"/>
          </a:xfrm>
          <a:prstGeom prst="rect">
            <a:avLst/>
          </a:prstGeom>
          <a:noFill/>
          <a:ln/>
        </p:spPr>
        <p:txBody>
          <a:bodyPr wrap="square" lIns="0" tIns="0" rIns="0" bIns="0" rtlCol="0" anchor="t"/>
          <a:lstStyle/>
          <a:p>
            <a:pPr indent="0" marL="0">
              <a:buNone/>
            </a:pPr>
            <a:r>
              <a:rPr lang="en-US" sz="1100" dirty="0">
                <a:solidFill>
                  <a:srgbClr val="9FB0B0"/>
                </a:solidFill>
                <a:latin typeface="Poppins" pitchFamily="34" charset="0"/>
                <a:ea typeface="Poppins" pitchFamily="34" charset="-122"/>
                <a:cs typeface="Poppins" pitchFamily="34" charset="-120"/>
              </a:rPr>
              <a:t>One user, one problem, three must-have features.</a:t>
            </a:r>
            <a:endParaRPr lang="en-US" sz="1100" dirty="0"/>
          </a:p>
        </p:txBody>
      </p:sp>
      <p:sp>
        <p:nvSpPr>
          <p:cNvPr id="36" name="A4-c"/>
          <p:cNvSpPr/>
          <p:nvPr/>
        </p:nvSpPr>
        <p:spPr>
          <a:xfrm>
            <a:off x="6858914" y="1645920"/>
            <a:ext cx="2222906" cy="1389888"/>
          </a:xfrm>
          <a:prstGeom prst="roundRect">
            <a:avLst>
              <a:gd name="adj" fmla="val 9211"/>
            </a:avLst>
          </a:prstGeom>
          <a:solidFill>
            <a:srgbClr val="0D1617"/>
          </a:solidFill>
          <a:ln w="9525">
            <a:solidFill>
              <a:srgbClr val="1F3537"/>
            </a:solidFill>
            <a:prstDash val="solid"/>
          </a:ln>
        </p:spPr>
      </p:sp>
      <p:sp>
        <p:nvSpPr>
          <p:cNvPr id="37" name="A4-n"/>
          <p:cNvSpPr txBox="1"/>
          <p:nvPr/>
        </p:nvSpPr>
        <p:spPr>
          <a:xfrm>
            <a:off x="7060082" y="1810512"/>
            <a:ext cx="731520" cy="457200"/>
          </a:xfrm>
          <a:prstGeom prst="rect">
            <a:avLst/>
          </a:prstGeom>
          <a:noFill/>
          <a:ln/>
        </p:spPr>
        <p:txBody>
          <a:bodyPr wrap="square" lIns="0" tIns="0" rIns="0" bIns="0" rtlCol="0" anchor="t"/>
          <a:lstStyle/>
          <a:p>
            <a:pPr indent="0" marL="0">
              <a:buNone/>
            </a:pPr>
            <a:r>
              <a:rPr lang="en-US" sz="2600" dirty="0">
                <a:solidFill>
                  <a:srgbClr val="0CCCCC"/>
                </a:solidFill>
                <a:latin typeface="Poppins ExtraBold" pitchFamily="34" charset="0"/>
                <a:ea typeface="Poppins ExtraBold" pitchFamily="34" charset="-122"/>
                <a:cs typeface="Poppins ExtraBold" pitchFamily="34" charset="-120"/>
              </a:rPr>
              <a:t>02</a:t>
            </a:r>
            <a:endParaRPr lang="en-US" sz="2600" dirty="0"/>
          </a:p>
        </p:txBody>
      </p:sp>
      <p:sp>
        <p:nvSpPr>
          <p:cNvPr id="38" name="A4-tm"/>
          <p:cNvSpPr/>
          <p:nvPr/>
        </p:nvSpPr>
        <p:spPr>
          <a:xfrm>
            <a:off x="8167421" y="1865376"/>
            <a:ext cx="731520" cy="274320"/>
          </a:xfrm>
          <a:prstGeom prst="roundRect">
            <a:avLst>
              <a:gd name="adj" fmla="val 50000"/>
            </a:avLst>
          </a:prstGeom>
          <a:ln w="9525">
            <a:solidFill>
              <a:srgbClr val="01A3A3"/>
            </a:solidFill>
            <a:prstDash val="solid"/>
          </a:ln>
        </p:spPr>
      </p:sp>
      <p:sp>
        <p:nvSpPr>
          <p:cNvPr id="39" name="A4-tmT"/>
          <p:cNvSpPr txBox="1"/>
          <p:nvPr/>
        </p:nvSpPr>
        <p:spPr>
          <a:xfrm>
            <a:off x="8167421" y="1865376"/>
            <a:ext cx="731520" cy="274320"/>
          </a:xfrm>
          <a:prstGeom prst="rect">
            <a:avLst/>
          </a:prstGeom>
          <a:noFill/>
          <a:ln/>
        </p:spPr>
        <p:txBody>
          <a:bodyPr wrap="square" lIns="0" tIns="0" rIns="0" bIns="0" rtlCol="0" anchor="ctr"/>
          <a:lstStyle/>
          <a:p>
            <a:pPr algn="ctr" indent="0" marL="0">
              <a:buNone/>
            </a:pPr>
            <a:r>
              <a:rPr lang="en-US" sz="1000" dirty="0">
                <a:solidFill>
                  <a:srgbClr val="0CCCCC"/>
                </a:solidFill>
                <a:latin typeface="Poppins Medium" pitchFamily="34" charset="0"/>
                <a:ea typeface="Poppins Medium" pitchFamily="34" charset="-122"/>
                <a:cs typeface="Poppins Medium" pitchFamily="34" charset="-120"/>
              </a:rPr>
              <a:t>4 min</a:t>
            </a:r>
            <a:endParaRPr lang="en-US" sz="1000" dirty="0"/>
          </a:p>
        </p:txBody>
      </p:sp>
      <p:sp>
        <p:nvSpPr>
          <p:cNvPr id="40" name="A4-t"/>
          <p:cNvSpPr txBox="1"/>
          <p:nvPr/>
        </p:nvSpPr>
        <p:spPr>
          <a:xfrm>
            <a:off x="7060082" y="2267712"/>
            <a:ext cx="1857146"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Model</a:t>
            </a:r>
            <a:endParaRPr lang="en-US" sz="1600" dirty="0"/>
          </a:p>
        </p:txBody>
      </p:sp>
      <p:sp>
        <p:nvSpPr>
          <p:cNvPr id="41" name="A4-d"/>
          <p:cNvSpPr txBox="1"/>
          <p:nvPr/>
        </p:nvSpPr>
        <p:spPr>
          <a:xfrm>
            <a:off x="7060082" y="2551176"/>
            <a:ext cx="1857146" cy="438912"/>
          </a:xfrm>
          <a:prstGeom prst="rect">
            <a:avLst/>
          </a:prstGeom>
          <a:noFill/>
          <a:ln/>
        </p:spPr>
        <p:txBody>
          <a:bodyPr wrap="square" lIns="0" tIns="0" rIns="0" bIns="0" rtlCol="0" anchor="t"/>
          <a:lstStyle/>
          <a:p>
            <a:pPr indent="0" marL="0">
              <a:buNone/>
            </a:pPr>
            <a:r>
              <a:rPr lang="en-US" sz="1100" dirty="0">
                <a:solidFill>
                  <a:srgbClr val="9FB0B0"/>
                </a:solidFill>
                <a:latin typeface="Poppins" pitchFamily="34" charset="0"/>
                <a:ea typeface="Poppins" pitchFamily="34" charset="-122"/>
                <a:cs typeface="Poppins" pitchFamily="34" charset="-120"/>
              </a:rPr>
              <a:t>AI drafts the tables. We fix keys and relations.</a:t>
            </a:r>
            <a:endParaRPr lang="en-US" sz="1100" dirty="0"/>
          </a:p>
        </p:txBody>
      </p:sp>
      <p:sp>
        <p:nvSpPr>
          <p:cNvPr id="42" name="A5-c"/>
          <p:cNvSpPr/>
          <p:nvPr/>
        </p:nvSpPr>
        <p:spPr>
          <a:xfrm>
            <a:off x="9282989" y="1645920"/>
            <a:ext cx="2222906" cy="1389888"/>
          </a:xfrm>
          <a:prstGeom prst="roundRect">
            <a:avLst>
              <a:gd name="adj" fmla="val 9211"/>
            </a:avLst>
          </a:prstGeom>
          <a:solidFill>
            <a:srgbClr val="0D1617"/>
          </a:solidFill>
          <a:ln w="9525">
            <a:solidFill>
              <a:srgbClr val="1F3537"/>
            </a:solidFill>
            <a:prstDash val="solid"/>
          </a:ln>
        </p:spPr>
      </p:sp>
      <p:sp>
        <p:nvSpPr>
          <p:cNvPr id="43" name="A5-n"/>
          <p:cNvSpPr txBox="1"/>
          <p:nvPr/>
        </p:nvSpPr>
        <p:spPr>
          <a:xfrm>
            <a:off x="9484157" y="1810512"/>
            <a:ext cx="731520" cy="457200"/>
          </a:xfrm>
          <a:prstGeom prst="rect">
            <a:avLst/>
          </a:prstGeom>
          <a:noFill/>
          <a:ln/>
        </p:spPr>
        <p:txBody>
          <a:bodyPr wrap="square" lIns="0" tIns="0" rIns="0" bIns="0" rtlCol="0" anchor="t"/>
          <a:lstStyle/>
          <a:p>
            <a:pPr indent="0" marL="0">
              <a:buNone/>
            </a:pPr>
            <a:r>
              <a:rPr lang="en-US" sz="2600" dirty="0">
                <a:solidFill>
                  <a:srgbClr val="0CCCCC"/>
                </a:solidFill>
                <a:latin typeface="Poppins ExtraBold" pitchFamily="34" charset="0"/>
                <a:ea typeface="Poppins ExtraBold" pitchFamily="34" charset="-122"/>
                <a:cs typeface="Poppins ExtraBold" pitchFamily="34" charset="-120"/>
              </a:rPr>
              <a:t>03</a:t>
            </a:r>
            <a:endParaRPr lang="en-US" sz="2600" dirty="0"/>
          </a:p>
        </p:txBody>
      </p:sp>
      <p:sp>
        <p:nvSpPr>
          <p:cNvPr id="44" name="A5-tm"/>
          <p:cNvSpPr/>
          <p:nvPr/>
        </p:nvSpPr>
        <p:spPr>
          <a:xfrm>
            <a:off x="10591495" y="1865376"/>
            <a:ext cx="731520" cy="274320"/>
          </a:xfrm>
          <a:prstGeom prst="roundRect">
            <a:avLst>
              <a:gd name="adj" fmla="val 50000"/>
            </a:avLst>
          </a:prstGeom>
          <a:ln w="9525">
            <a:solidFill>
              <a:srgbClr val="01A3A3"/>
            </a:solidFill>
            <a:prstDash val="solid"/>
          </a:ln>
        </p:spPr>
      </p:sp>
      <p:sp>
        <p:nvSpPr>
          <p:cNvPr id="45" name="A5-tmT"/>
          <p:cNvSpPr txBox="1"/>
          <p:nvPr/>
        </p:nvSpPr>
        <p:spPr>
          <a:xfrm>
            <a:off x="10591495" y="1865376"/>
            <a:ext cx="731520" cy="274320"/>
          </a:xfrm>
          <a:prstGeom prst="rect">
            <a:avLst/>
          </a:prstGeom>
          <a:noFill/>
          <a:ln/>
        </p:spPr>
        <p:txBody>
          <a:bodyPr wrap="square" lIns="0" tIns="0" rIns="0" bIns="0" rtlCol="0" anchor="ctr"/>
          <a:lstStyle/>
          <a:p>
            <a:pPr algn="ctr" indent="0" marL="0">
              <a:buNone/>
            </a:pPr>
            <a:r>
              <a:rPr lang="en-US" sz="1000" dirty="0">
                <a:solidFill>
                  <a:srgbClr val="0CCCCC"/>
                </a:solidFill>
                <a:latin typeface="Poppins Medium" pitchFamily="34" charset="0"/>
                <a:ea typeface="Poppins Medium" pitchFamily="34" charset="-122"/>
                <a:cs typeface="Poppins Medium" pitchFamily="34" charset="-120"/>
              </a:rPr>
              <a:t>6 min</a:t>
            </a:r>
            <a:endParaRPr lang="en-US" sz="1000" dirty="0"/>
          </a:p>
        </p:txBody>
      </p:sp>
      <p:sp>
        <p:nvSpPr>
          <p:cNvPr id="46" name="A5-t"/>
          <p:cNvSpPr txBox="1"/>
          <p:nvPr/>
        </p:nvSpPr>
        <p:spPr>
          <a:xfrm>
            <a:off x="9484157" y="2267712"/>
            <a:ext cx="1857146"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Generate</a:t>
            </a:r>
            <a:endParaRPr lang="en-US" sz="1600" dirty="0"/>
          </a:p>
        </p:txBody>
      </p:sp>
      <p:sp>
        <p:nvSpPr>
          <p:cNvPr id="47" name="A5-d"/>
          <p:cNvSpPr txBox="1"/>
          <p:nvPr/>
        </p:nvSpPr>
        <p:spPr>
          <a:xfrm>
            <a:off x="9484157" y="2551176"/>
            <a:ext cx="1857146" cy="438912"/>
          </a:xfrm>
          <a:prstGeom prst="rect">
            <a:avLst/>
          </a:prstGeom>
          <a:noFill/>
          <a:ln/>
        </p:spPr>
        <p:txBody>
          <a:bodyPr wrap="square" lIns="0" tIns="0" rIns="0" bIns="0" rtlCol="0" anchor="t"/>
          <a:lstStyle/>
          <a:p>
            <a:pPr indent="0" marL="0">
              <a:buNone/>
            </a:pPr>
            <a:r>
              <a:rPr lang="en-US" sz="1100" dirty="0">
                <a:solidFill>
                  <a:srgbClr val="9FB0B0"/>
                </a:solidFill>
                <a:latin typeface="Poppins" pitchFamily="34" charset="0"/>
                <a:ea typeface="Poppins" pitchFamily="34" charset="-122"/>
                <a:cs typeface="Poppins" pitchFamily="34" charset="-120"/>
              </a:rPr>
              <a:t>FastAPI + Supabase endpoints, written with AI.</a:t>
            </a:r>
            <a:endParaRPr lang="en-US" sz="1100" dirty="0"/>
          </a:p>
        </p:txBody>
      </p:sp>
      <p:sp>
        <p:nvSpPr>
          <p:cNvPr id="48" name="A6-c"/>
          <p:cNvSpPr/>
          <p:nvPr/>
        </p:nvSpPr>
        <p:spPr>
          <a:xfrm>
            <a:off x="4434840" y="3218688"/>
            <a:ext cx="2222906" cy="1389888"/>
          </a:xfrm>
          <a:prstGeom prst="roundRect">
            <a:avLst>
              <a:gd name="adj" fmla="val 9211"/>
            </a:avLst>
          </a:prstGeom>
          <a:solidFill>
            <a:srgbClr val="0D1617"/>
          </a:solidFill>
          <a:ln w="9525">
            <a:solidFill>
              <a:srgbClr val="1F3537"/>
            </a:solidFill>
            <a:prstDash val="solid"/>
          </a:ln>
        </p:spPr>
      </p:sp>
      <p:sp>
        <p:nvSpPr>
          <p:cNvPr id="49" name="A6-n"/>
          <p:cNvSpPr txBox="1"/>
          <p:nvPr/>
        </p:nvSpPr>
        <p:spPr>
          <a:xfrm>
            <a:off x="4636008" y="3383280"/>
            <a:ext cx="731520" cy="457200"/>
          </a:xfrm>
          <a:prstGeom prst="rect">
            <a:avLst/>
          </a:prstGeom>
          <a:noFill/>
          <a:ln/>
        </p:spPr>
        <p:txBody>
          <a:bodyPr wrap="square" lIns="0" tIns="0" rIns="0" bIns="0" rtlCol="0" anchor="t"/>
          <a:lstStyle/>
          <a:p>
            <a:pPr indent="0" marL="0">
              <a:buNone/>
            </a:pPr>
            <a:r>
              <a:rPr lang="en-US" sz="2600" dirty="0">
                <a:solidFill>
                  <a:srgbClr val="0CCCCC"/>
                </a:solidFill>
                <a:latin typeface="Poppins ExtraBold" pitchFamily="34" charset="0"/>
                <a:ea typeface="Poppins ExtraBold" pitchFamily="34" charset="-122"/>
                <a:cs typeface="Poppins ExtraBold" pitchFamily="34" charset="-120"/>
              </a:rPr>
              <a:t>04</a:t>
            </a:r>
            <a:endParaRPr lang="en-US" sz="2600" dirty="0"/>
          </a:p>
        </p:txBody>
      </p:sp>
      <p:sp>
        <p:nvSpPr>
          <p:cNvPr id="50" name="A6-tm"/>
          <p:cNvSpPr/>
          <p:nvPr/>
        </p:nvSpPr>
        <p:spPr>
          <a:xfrm>
            <a:off x="5743346" y="3438144"/>
            <a:ext cx="731520" cy="274320"/>
          </a:xfrm>
          <a:prstGeom prst="roundRect">
            <a:avLst>
              <a:gd name="adj" fmla="val 50000"/>
            </a:avLst>
          </a:prstGeom>
          <a:ln w="9525">
            <a:solidFill>
              <a:srgbClr val="01A3A3"/>
            </a:solidFill>
            <a:prstDash val="solid"/>
          </a:ln>
        </p:spPr>
      </p:sp>
      <p:sp>
        <p:nvSpPr>
          <p:cNvPr id="51" name="A6-tmT"/>
          <p:cNvSpPr txBox="1"/>
          <p:nvPr/>
        </p:nvSpPr>
        <p:spPr>
          <a:xfrm>
            <a:off x="5743346" y="3438144"/>
            <a:ext cx="731520" cy="274320"/>
          </a:xfrm>
          <a:prstGeom prst="rect">
            <a:avLst/>
          </a:prstGeom>
          <a:noFill/>
          <a:ln/>
        </p:spPr>
        <p:txBody>
          <a:bodyPr wrap="square" lIns="0" tIns="0" rIns="0" bIns="0" rtlCol="0" anchor="ctr"/>
          <a:lstStyle/>
          <a:p>
            <a:pPr algn="ctr" indent="0" marL="0">
              <a:buNone/>
            </a:pPr>
            <a:r>
              <a:rPr lang="en-US" sz="1000" dirty="0">
                <a:solidFill>
                  <a:srgbClr val="0CCCCC"/>
                </a:solidFill>
                <a:latin typeface="Poppins Medium" pitchFamily="34" charset="0"/>
                <a:ea typeface="Poppins Medium" pitchFamily="34" charset="-122"/>
                <a:cs typeface="Poppins Medium" pitchFamily="34" charset="-120"/>
              </a:rPr>
              <a:t>5 min</a:t>
            </a:r>
            <a:endParaRPr lang="en-US" sz="1000" dirty="0"/>
          </a:p>
        </p:txBody>
      </p:sp>
      <p:sp>
        <p:nvSpPr>
          <p:cNvPr id="52" name="A6-t"/>
          <p:cNvSpPr txBox="1"/>
          <p:nvPr/>
        </p:nvSpPr>
        <p:spPr>
          <a:xfrm>
            <a:off x="4636008" y="3840480"/>
            <a:ext cx="1857146"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Verify</a:t>
            </a:r>
            <a:endParaRPr lang="en-US" sz="1600" dirty="0"/>
          </a:p>
        </p:txBody>
      </p:sp>
      <p:sp>
        <p:nvSpPr>
          <p:cNvPr id="53" name="A6-d"/>
          <p:cNvSpPr txBox="1"/>
          <p:nvPr/>
        </p:nvSpPr>
        <p:spPr>
          <a:xfrm>
            <a:off x="4636008" y="4123944"/>
            <a:ext cx="1857146" cy="438912"/>
          </a:xfrm>
          <a:prstGeom prst="rect">
            <a:avLst/>
          </a:prstGeom>
          <a:noFill/>
          <a:ln/>
        </p:spPr>
        <p:txBody>
          <a:bodyPr wrap="square" lIns="0" tIns="0" rIns="0" bIns="0" rtlCol="0" anchor="t"/>
          <a:lstStyle/>
          <a:p>
            <a:pPr indent="0" marL="0">
              <a:buNone/>
            </a:pPr>
            <a:r>
              <a:rPr lang="en-US" sz="1100" dirty="0">
                <a:solidFill>
                  <a:srgbClr val="9FB0B0"/>
                </a:solidFill>
                <a:latin typeface="Poppins" pitchFamily="34" charset="0"/>
                <a:ea typeface="Poppins" pitchFamily="34" charset="-122"/>
                <a:cs typeface="Poppins" pitchFamily="34" charset="-120"/>
              </a:rPr>
              <a:t>Test in Postman. Find and fix one real bug.</a:t>
            </a:r>
            <a:endParaRPr lang="en-US" sz="1100" dirty="0"/>
          </a:p>
        </p:txBody>
      </p:sp>
      <p:sp>
        <p:nvSpPr>
          <p:cNvPr id="54" name="A7-c"/>
          <p:cNvSpPr/>
          <p:nvPr/>
        </p:nvSpPr>
        <p:spPr>
          <a:xfrm>
            <a:off x="6858914" y="3218688"/>
            <a:ext cx="2222906" cy="1389888"/>
          </a:xfrm>
          <a:prstGeom prst="roundRect">
            <a:avLst>
              <a:gd name="adj" fmla="val 9211"/>
            </a:avLst>
          </a:prstGeom>
          <a:solidFill>
            <a:srgbClr val="0D1617"/>
          </a:solidFill>
          <a:ln w="9525">
            <a:solidFill>
              <a:srgbClr val="1F3537"/>
            </a:solidFill>
            <a:prstDash val="solid"/>
          </a:ln>
        </p:spPr>
      </p:sp>
      <p:sp>
        <p:nvSpPr>
          <p:cNvPr id="55" name="A7-n"/>
          <p:cNvSpPr txBox="1"/>
          <p:nvPr/>
        </p:nvSpPr>
        <p:spPr>
          <a:xfrm>
            <a:off x="7060082" y="3383280"/>
            <a:ext cx="731520" cy="457200"/>
          </a:xfrm>
          <a:prstGeom prst="rect">
            <a:avLst/>
          </a:prstGeom>
          <a:noFill/>
          <a:ln/>
        </p:spPr>
        <p:txBody>
          <a:bodyPr wrap="square" lIns="0" tIns="0" rIns="0" bIns="0" rtlCol="0" anchor="t"/>
          <a:lstStyle/>
          <a:p>
            <a:pPr indent="0" marL="0">
              <a:buNone/>
            </a:pPr>
            <a:r>
              <a:rPr lang="en-US" sz="2600" dirty="0">
                <a:solidFill>
                  <a:srgbClr val="0CCCCC"/>
                </a:solidFill>
                <a:latin typeface="Poppins ExtraBold" pitchFamily="34" charset="0"/>
                <a:ea typeface="Poppins ExtraBold" pitchFamily="34" charset="-122"/>
                <a:cs typeface="Poppins ExtraBold" pitchFamily="34" charset="-120"/>
              </a:rPr>
              <a:t>05</a:t>
            </a:r>
            <a:endParaRPr lang="en-US" sz="2600" dirty="0"/>
          </a:p>
        </p:txBody>
      </p:sp>
      <p:sp>
        <p:nvSpPr>
          <p:cNvPr id="56" name="A7-tm"/>
          <p:cNvSpPr/>
          <p:nvPr/>
        </p:nvSpPr>
        <p:spPr>
          <a:xfrm>
            <a:off x="8167421" y="3438144"/>
            <a:ext cx="731520" cy="274320"/>
          </a:xfrm>
          <a:prstGeom prst="roundRect">
            <a:avLst>
              <a:gd name="adj" fmla="val 50000"/>
            </a:avLst>
          </a:prstGeom>
          <a:ln w="9525">
            <a:solidFill>
              <a:srgbClr val="01A3A3"/>
            </a:solidFill>
            <a:prstDash val="solid"/>
          </a:ln>
        </p:spPr>
      </p:sp>
      <p:sp>
        <p:nvSpPr>
          <p:cNvPr id="57" name="A7-tmT"/>
          <p:cNvSpPr txBox="1"/>
          <p:nvPr/>
        </p:nvSpPr>
        <p:spPr>
          <a:xfrm>
            <a:off x="8167421" y="3438144"/>
            <a:ext cx="731520" cy="274320"/>
          </a:xfrm>
          <a:prstGeom prst="rect">
            <a:avLst/>
          </a:prstGeom>
          <a:noFill/>
          <a:ln/>
        </p:spPr>
        <p:txBody>
          <a:bodyPr wrap="square" lIns="0" tIns="0" rIns="0" bIns="0" rtlCol="0" anchor="ctr"/>
          <a:lstStyle/>
          <a:p>
            <a:pPr algn="ctr" indent="0" marL="0">
              <a:buNone/>
            </a:pPr>
            <a:r>
              <a:rPr lang="en-US" sz="1000" dirty="0">
                <a:solidFill>
                  <a:srgbClr val="0CCCCC"/>
                </a:solidFill>
                <a:latin typeface="Poppins Medium" pitchFamily="34" charset="0"/>
                <a:ea typeface="Poppins Medium" pitchFamily="34" charset="-122"/>
                <a:cs typeface="Poppins Medium" pitchFamily="34" charset="-120"/>
              </a:rPr>
              <a:t>4 min</a:t>
            </a:r>
            <a:endParaRPr lang="en-US" sz="1000" dirty="0"/>
          </a:p>
        </p:txBody>
      </p:sp>
      <p:sp>
        <p:nvSpPr>
          <p:cNvPr id="58" name="A7-t"/>
          <p:cNvSpPr txBox="1"/>
          <p:nvPr/>
        </p:nvSpPr>
        <p:spPr>
          <a:xfrm>
            <a:off x="7060082" y="3840480"/>
            <a:ext cx="1857146"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Interface</a:t>
            </a:r>
            <a:endParaRPr lang="en-US" sz="1600" dirty="0"/>
          </a:p>
        </p:txBody>
      </p:sp>
      <p:sp>
        <p:nvSpPr>
          <p:cNvPr id="59" name="A7-d"/>
          <p:cNvSpPr txBox="1"/>
          <p:nvPr/>
        </p:nvSpPr>
        <p:spPr>
          <a:xfrm>
            <a:off x="7060082" y="4123944"/>
            <a:ext cx="1857146" cy="438912"/>
          </a:xfrm>
          <a:prstGeom prst="rect">
            <a:avLst/>
          </a:prstGeom>
          <a:noFill/>
          <a:ln/>
        </p:spPr>
        <p:txBody>
          <a:bodyPr wrap="square" lIns="0" tIns="0" rIns="0" bIns="0" rtlCol="0" anchor="t"/>
          <a:lstStyle/>
          <a:p>
            <a:pPr indent="0" marL="0">
              <a:buNone/>
            </a:pPr>
            <a:r>
              <a:rPr lang="en-US" sz="1100" dirty="0">
                <a:solidFill>
                  <a:srgbClr val="9FB0B0"/>
                </a:solidFill>
                <a:latin typeface="Poppins" pitchFamily="34" charset="0"/>
                <a:ea typeface="Poppins" pitchFamily="34" charset="-122"/>
                <a:cs typeface="Poppins" pitchFamily="34" charset="-120"/>
              </a:rPr>
              <a:t>One page: list subscribers, add one, mark paid.</a:t>
            </a:r>
            <a:endParaRPr lang="en-US" sz="1100" dirty="0"/>
          </a:p>
        </p:txBody>
      </p:sp>
      <p:sp>
        <p:nvSpPr>
          <p:cNvPr id="60" name="A8-c"/>
          <p:cNvSpPr/>
          <p:nvPr/>
        </p:nvSpPr>
        <p:spPr>
          <a:xfrm>
            <a:off x="9282989" y="3218688"/>
            <a:ext cx="2222906" cy="1389888"/>
          </a:xfrm>
          <a:prstGeom prst="roundRect">
            <a:avLst>
              <a:gd name="adj" fmla="val 9211"/>
            </a:avLst>
          </a:prstGeom>
          <a:solidFill>
            <a:srgbClr val="0D1617"/>
          </a:solidFill>
          <a:ln w="9525">
            <a:solidFill>
              <a:srgbClr val="1F3537"/>
            </a:solidFill>
            <a:prstDash val="solid"/>
          </a:ln>
        </p:spPr>
      </p:sp>
      <p:sp>
        <p:nvSpPr>
          <p:cNvPr id="61" name="A8-n"/>
          <p:cNvSpPr txBox="1"/>
          <p:nvPr/>
        </p:nvSpPr>
        <p:spPr>
          <a:xfrm>
            <a:off x="9484157" y="3383280"/>
            <a:ext cx="731520" cy="457200"/>
          </a:xfrm>
          <a:prstGeom prst="rect">
            <a:avLst/>
          </a:prstGeom>
          <a:noFill/>
          <a:ln/>
        </p:spPr>
        <p:txBody>
          <a:bodyPr wrap="square" lIns="0" tIns="0" rIns="0" bIns="0" rtlCol="0" anchor="t"/>
          <a:lstStyle/>
          <a:p>
            <a:pPr indent="0" marL="0">
              <a:buNone/>
            </a:pPr>
            <a:r>
              <a:rPr lang="en-US" sz="2600" dirty="0">
                <a:solidFill>
                  <a:srgbClr val="0CCCCC"/>
                </a:solidFill>
                <a:latin typeface="Poppins ExtraBold" pitchFamily="34" charset="0"/>
                <a:ea typeface="Poppins ExtraBold" pitchFamily="34" charset="-122"/>
                <a:cs typeface="Poppins ExtraBold" pitchFamily="34" charset="-120"/>
              </a:rPr>
              <a:t>06</a:t>
            </a:r>
            <a:endParaRPr lang="en-US" sz="2600" dirty="0"/>
          </a:p>
        </p:txBody>
      </p:sp>
      <p:sp>
        <p:nvSpPr>
          <p:cNvPr id="62" name="A8-tm"/>
          <p:cNvSpPr/>
          <p:nvPr/>
        </p:nvSpPr>
        <p:spPr>
          <a:xfrm>
            <a:off x="10591495" y="3438144"/>
            <a:ext cx="731520" cy="274320"/>
          </a:xfrm>
          <a:prstGeom prst="roundRect">
            <a:avLst>
              <a:gd name="adj" fmla="val 50000"/>
            </a:avLst>
          </a:prstGeom>
          <a:ln w="9525">
            <a:solidFill>
              <a:srgbClr val="01A3A3"/>
            </a:solidFill>
            <a:prstDash val="solid"/>
          </a:ln>
        </p:spPr>
      </p:sp>
      <p:sp>
        <p:nvSpPr>
          <p:cNvPr id="63" name="A8-tmT"/>
          <p:cNvSpPr txBox="1"/>
          <p:nvPr/>
        </p:nvSpPr>
        <p:spPr>
          <a:xfrm>
            <a:off x="10591495" y="3438144"/>
            <a:ext cx="731520" cy="274320"/>
          </a:xfrm>
          <a:prstGeom prst="rect">
            <a:avLst/>
          </a:prstGeom>
          <a:noFill/>
          <a:ln/>
        </p:spPr>
        <p:txBody>
          <a:bodyPr wrap="square" lIns="0" tIns="0" rIns="0" bIns="0" rtlCol="0" anchor="ctr"/>
          <a:lstStyle/>
          <a:p>
            <a:pPr algn="ctr" indent="0" marL="0">
              <a:buNone/>
            </a:pPr>
            <a:r>
              <a:rPr lang="en-US" sz="1000" dirty="0">
                <a:solidFill>
                  <a:srgbClr val="0CCCCC"/>
                </a:solidFill>
                <a:latin typeface="Poppins Medium" pitchFamily="34" charset="0"/>
                <a:ea typeface="Poppins Medium" pitchFamily="34" charset="-122"/>
                <a:cs typeface="Poppins Medium" pitchFamily="34" charset="-120"/>
              </a:rPr>
              <a:t>3 min</a:t>
            </a:r>
            <a:endParaRPr lang="en-US" sz="1000" dirty="0"/>
          </a:p>
        </p:txBody>
      </p:sp>
      <p:sp>
        <p:nvSpPr>
          <p:cNvPr id="64" name="A8-t"/>
          <p:cNvSpPr txBox="1"/>
          <p:nvPr/>
        </p:nvSpPr>
        <p:spPr>
          <a:xfrm>
            <a:off x="9484157" y="3840480"/>
            <a:ext cx="1857146"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Demo</a:t>
            </a:r>
            <a:endParaRPr lang="en-US" sz="1600" dirty="0"/>
          </a:p>
        </p:txBody>
      </p:sp>
      <p:sp>
        <p:nvSpPr>
          <p:cNvPr id="65" name="A8-d"/>
          <p:cNvSpPr txBox="1"/>
          <p:nvPr/>
        </p:nvSpPr>
        <p:spPr>
          <a:xfrm>
            <a:off x="9484157" y="4123944"/>
            <a:ext cx="1857146" cy="438912"/>
          </a:xfrm>
          <a:prstGeom prst="rect">
            <a:avLst/>
          </a:prstGeom>
          <a:noFill/>
          <a:ln/>
        </p:spPr>
        <p:txBody>
          <a:bodyPr wrap="square" lIns="0" tIns="0" rIns="0" bIns="0" rtlCol="0" anchor="t"/>
          <a:lstStyle/>
          <a:p>
            <a:pPr indent="0" marL="0">
              <a:buNone/>
            </a:pPr>
            <a:r>
              <a:rPr lang="en-US" sz="1100" dirty="0">
                <a:solidFill>
                  <a:srgbClr val="9FB0B0"/>
                </a:solidFill>
                <a:latin typeface="Poppins" pitchFamily="34" charset="0"/>
                <a:ea typeface="Poppins" pitchFamily="34" charset="-122"/>
                <a:cs typeface="Poppins" pitchFamily="34" charset="-120"/>
              </a:rPr>
              <a:t>Run it live. What would you build next?</a:t>
            </a:r>
            <a:endParaRPr lang="en-US" sz="1100" dirty="0"/>
          </a:p>
        </p:txBody>
      </p:sp>
      <p:sp>
        <p:nvSpPr>
          <p:cNvPr id="66" name="A9-out"/>
          <p:cNvSpPr/>
          <p:nvPr/>
        </p:nvSpPr>
        <p:spPr>
          <a:xfrm>
            <a:off x="4434840" y="4681728"/>
            <a:ext cx="7071055" cy="1417320"/>
          </a:xfrm>
          <a:prstGeom prst="roundRect">
            <a:avLst>
              <a:gd name="adj" fmla="val 9032"/>
            </a:avLst>
          </a:prstGeom>
          <a:solidFill>
            <a:srgbClr val="0B2E30"/>
          </a:solidFill>
          <a:ln w="15875">
            <a:solidFill>
              <a:srgbClr val="0CCCCC"/>
            </a:solidFill>
            <a:prstDash val="solid"/>
          </a:ln>
        </p:spPr>
      </p:sp>
      <p:pic>
        <p:nvPicPr>
          <p:cNvPr id="67" name="A9-outI" descr="preencoded.png">    </p:cNvPr>
          <p:cNvPicPr>
            <a:picLocks noChangeAspect="1"/>
          </p:cNvPicPr>
          <p:nvPr/>
        </p:nvPicPr>
        <p:blipFill>
          <a:blip r:embed="rId2"/>
          <a:stretch>
            <a:fillRect/>
          </a:stretch>
        </p:blipFill>
        <p:spPr>
          <a:xfrm>
            <a:off x="4663440" y="4910328"/>
            <a:ext cx="384048" cy="384048"/>
          </a:xfrm>
          <a:prstGeom prst="rect">
            <a:avLst/>
          </a:prstGeom>
        </p:spPr>
      </p:pic>
      <p:sp>
        <p:nvSpPr>
          <p:cNvPr id="68" name="A9-outL"/>
          <p:cNvSpPr txBox="1"/>
          <p:nvPr/>
        </p:nvSpPr>
        <p:spPr>
          <a:xfrm>
            <a:off x="5212080" y="4919472"/>
            <a:ext cx="4572000" cy="256032"/>
          </a:xfrm>
          <a:prstGeom prst="rect">
            <a:avLst/>
          </a:prstGeom>
          <a:noFill/>
          <a:ln/>
        </p:spPr>
        <p:txBody>
          <a:bodyPr wrap="square" lIns="0" tIns="0" rIns="0" bIns="0" rtlCol="0" anchor="t"/>
          <a:lstStyle/>
          <a:p>
            <a:pPr indent="0" marL="0">
              <a:buNone/>
            </a:pPr>
            <a:r>
              <a:rPr lang="en-US" sz="1100" spc="200" kern="0" dirty="0">
                <a:solidFill>
                  <a:srgbClr val="0CCCCC"/>
                </a:solidFill>
                <a:latin typeface="Poppins SemiBold" pitchFamily="34" charset="0"/>
                <a:ea typeface="Poppins SemiBold" pitchFamily="34" charset="-122"/>
                <a:cs typeface="Poppins SemiBold" pitchFamily="34" charset="-120"/>
              </a:rPr>
              <a:t>EXPECTED OUTPUT IN 25 MINUTES</a:t>
            </a:r>
            <a:endParaRPr lang="en-US" sz="1100" dirty="0"/>
          </a:p>
        </p:txBody>
      </p:sp>
      <p:sp>
        <p:nvSpPr>
          <p:cNvPr id="69" name="A9-o0"/>
          <p:cNvSpPr txBox="1"/>
          <p:nvPr/>
        </p:nvSpPr>
        <p:spPr>
          <a:xfrm>
            <a:off x="5212080" y="5212080"/>
            <a:ext cx="548640" cy="640080"/>
          </a:xfrm>
          <a:prstGeom prst="rect">
            <a:avLst/>
          </a:prstGeom>
          <a:noFill/>
          <a:ln/>
        </p:spPr>
        <p:txBody>
          <a:bodyPr wrap="square" lIns="0" tIns="0" rIns="0" bIns="0" rtlCol="0" anchor="t"/>
          <a:lstStyle/>
          <a:p>
            <a:pPr indent="0" marL="0">
              <a:buNone/>
            </a:pPr>
            <a:r>
              <a:rPr lang="en-US" sz="3600" dirty="0">
                <a:solidFill>
                  <a:srgbClr val="FFFFFF"/>
                </a:solidFill>
                <a:latin typeface="Poppins ExtraBold" pitchFamily="34" charset="0"/>
                <a:ea typeface="Poppins ExtraBold" pitchFamily="34" charset="-122"/>
                <a:cs typeface="Poppins ExtraBold" pitchFamily="34" charset="-120"/>
              </a:rPr>
              <a:t>2</a:t>
            </a:r>
            <a:endParaRPr lang="en-US" sz="3600" dirty="0"/>
          </a:p>
        </p:txBody>
      </p:sp>
      <p:sp>
        <p:nvSpPr>
          <p:cNvPr id="70" name="A9-ot0"/>
          <p:cNvSpPr txBox="1"/>
          <p:nvPr/>
        </p:nvSpPr>
        <p:spPr>
          <a:xfrm>
            <a:off x="5715000" y="5340096"/>
            <a:ext cx="967664" cy="457200"/>
          </a:xfrm>
          <a:prstGeom prst="rect">
            <a:avLst/>
          </a:prstGeom>
          <a:noFill/>
          <a:ln/>
        </p:spPr>
        <p:txBody>
          <a:bodyPr wrap="square" lIns="0" tIns="0" rIns="0" bIns="0" rtlCol="0" anchor="ctr"/>
          <a:lstStyle/>
          <a:p>
            <a:pPr indent="0" marL="0">
              <a:buNone/>
            </a:pPr>
            <a:r>
              <a:rPr lang="en-US" sz="1300" dirty="0">
                <a:solidFill>
                  <a:srgbClr val="CFE9E9"/>
                </a:solidFill>
                <a:latin typeface="Poppins" pitchFamily="34" charset="0"/>
                <a:ea typeface="Poppins" pitchFamily="34" charset="-122"/>
                <a:cs typeface="Poppins" pitchFamily="34" charset="-120"/>
              </a:rPr>
              <a:t>database tables</a:t>
            </a:r>
            <a:endParaRPr lang="en-US" sz="1300" dirty="0"/>
          </a:p>
        </p:txBody>
      </p:sp>
      <p:sp>
        <p:nvSpPr>
          <p:cNvPr id="71" name="A9-o1"/>
          <p:cNvSpPr txBox="1"/>
          <p:nvPr/>
        </p:nvSpPr>
        <p:spPr>
          <a:xfrm>
            <a:off x="6728384" y="5212080"/>
            <a:ext cx="548640" cy="640080"/>
          </a:xfrm>
          <a:prstGeom prst="rect">
            <a:avLst/>
          </a:prstGeom>
          <a:noFill/>
          <a:ln/>
        </p:spPr>
        <p:txBody>
          <a:bodyPr wrap="square" lIns="0" tIns="0" rIns="0" bIns="0" rtlCol="0" anchor="t"/>
          <a:lstStyle/>
          <a:p>
            <a:pPr indent="0" marL="0">
              <a:buNone/>
            </a:pPr>
            <a:r>
              <a:rPr lang="en-US" sz="3600" dirty="0">
                <a:solidFill>
                  <a:srgbClr val="FFFFFF"/>
                </a:solidFill>
                <a:latin typeface="Poppins ExtraBold" pitchFamily="34" charset="0"/>
                <a:ea typeface="Poppins ExtraBold" pitchFamily="34" charset="-122"/>
                <a:cs typeface="Poppins ExtraBold" pitchFamily="34" charset="-120"/>
              </a:rPr>
              <a:t>4</a:t>
            </a:r>
            <a:endParaRPr lang="en-US" sz="3600" dirty="0"/>
          </a:p>
        </p:txBody>
      </p:sp>
      <p:sp>
        <p:nvSpPr>
          <p:cNvPr id="72" name="A9-ot1"/>
          <p:cNvSpPr txBox="1"/>
          <p:nvPr/>
        </p:nvSpPr>
        <p:spPr>
          <a:xfrm>
            <a:off x="7231304" y="5340096"/>
            <a:ext cx="967664" cy="457200"/>
          </a:xfrm>
          <a:prstGeom prst="rect">
            <a:avLst/>
          </a:prstGeom>
          <a:noFill/>
          <a:ln/>
        </p:spPr>
        <p:txBody>
          <a:bodyPr wrap="square" lIns="0" tIns="0" rIns="0" bIns="0" rtlCol="0" anchor="ctr"/>
          <a:lstStyle/>
          <a:p>
            <a:pPr indent="0" marL="0">
              <a:buNone/>
            </a:pPr>
            <a:r>
              <a:rPr lang="en-US" sz="1300" dirty="0">
                <a:solidFill>
                  <a:srgbClr val="CFE9E9"/>
                </a:solidFill>
                <a:latin typeface="Poppins" pitchFamily="34" charset="0"/>
                <a:ea typeface="Poppins" pitchFamily="34" charset="-122"/>
                <a:cs typeface="Poppins" pitchFamily="34" charset="-120"/>
              </a:rPr>
              <a:t>API endpoints</a:t>
            </a:r>
            <a:endParaRPr lang="en-US" sz="1300" dirty="0"/>
          </a:p>
        </p:txBody>
      </p:sp>
      <p:sp>
        <p:nvSpPr>
          <p:cNvPr id="73" name="A9-o2"/>
          <p:cNvSpPr txBox="1"/>
          <p:nvPr/>
        </p:nvSpPr>
        <p:spPr>
          <a:xfrm>
            <a:off x="8244688" y="5212080"/>
            <a:ext cx="548640" cy="640080"/>
          </a:xfrm>
          <a:prstGeom prst="rect">
            <a:avLst/>
          </a:prstGeom>
          <a:noFill/>
          <a:ln/>
        </p:spPr>
        <p:txBody>
          <a:bodyPr wrap="square" lIns="0" tIns="0" rIns="0" bIns="0" rtlCol="0" anchor="t"/>
          <a:lstStyle/>
          <a:p>
            <a:pPr indent="0" marL="0">
              <a:buNone/>
            </a:pPr>
            <a:r>
              <a:rPr lang="en-US" sz="3600" dirty="0">
                <a:solidFill>
                  <a:srgbClr val="FFFFFF"/>
                </a:solidFill>
                <a:latin typeface="Poppins ExtraBold" pitchFamily="34" charset="0"/>
                <a:ea typeface="Poppins ExtraBold" pitchFamily="34" charset="-122"/>
                <a:cs typeface="Poppins ExtraBold" pitchFamily="34" charset="-120"/>
              </a:rPr>
              <a:t>1</a:t>
            </a:r>
            <a:endParaRPr lang="en-US" sz="3600" dirty="0"/>
          </a:p>
        </p:txBody>
      </p:sp>
      <p:sp>
        <p:nvSpPr>
          <p:cNvPr id="74" name="A9-ot2"/>
          <p:cNvSpPr txBox="1"/>
          <p:nvPr/>
        </p:nvSpPr>
        <p:spPr>
          <a:xfrm>
            <a:off x="8747608" y="5340096"/>
            <a:ext cx="967664" cy="457200"/>
          </a:xfrm>
          <a:prstGeom prst="rect">
            <a:avLst/>
          </a:prstGeom>
          <a:noFill/>
          <a:ln/>
        </p:spPr>
        <p:txBody>
          <a:bodyPr wrap="square" lIns="0" tIns="0" rIns="0" bIns="0" rtlCol="0" anchor="ctr"/>
          <a:lstStyle/>
          <a:p>
            <a:pPr indent="0" marL="0">
              <a:buNone/>
            </a:pPr>
            <a:r>
              <a:rPr lang="en-US" sz="1300" dirty="0">
                <a:solidFill>
                  <a:srgbClr val="CFE9E9"/>
                </a:solidFill>
                <a:latin typeface="Poppins" pitchFamily="34" charset="0"/>
                <a:ea typeface="Poppins" pitchFamily="34" charset="-122"/>
                <a:cs typeface="Poppins" pitchFamily="34" charset="-120"/>
              </a:rPr>
              <a:t>working web page</a:t>
            </a:r>
            <a:endParaRPr lang="en-US" sz="1300" dirty="0"/>
          </a:p>
        </p:txBody>
      </p:sp>
      <p:sp>
        <p:nvSpPr>
          <p:cNvPr id="75" name="A9-o3"/>
          <p:cNvSpPr txBox="1"/>
          <p:nvPr/>
        </p:nvSpPr>
        <p:spPr>
          <a:xfrm>
            <a:off x="9760991" y="5212080"/>
            <a:ext cx="548640" cy="640080"/>
          </a:xfrm>
          <a:prstGeom prst="rect">
            <a:avLst/>
          </a:prstGeom>
          <a:noFill/>
          <a:ln/>
        </p:spPr>
        <p:txBody>
          <a:bodyPr wrap="square" lIns="0" tIns="0" rIns="0" bIns="0" rtlCol="0" anchor="t"/>
          <a:lstStyle/>
          <a:p>
            <a:pPr indent="0" marL="0">
              <a:buNone/>
            </a:pPr>
            <a:r>
              <a:rPr lang="en-US" sz="3600" dirty="0">
                <a:solidFill>
                  <a:srgbClr val="FFFFFF"/>
                </a:solidFill>
                <a:latin typeface="Poppins ExtraBold" pitchFamily="34" charset="0"/>
                <a:ea typeface="Poppins ExtraBold" pitchFamily="34" charset="-122"/>
                <a:cs typeface="Poppins ExtraBold" pitchFamily="34" charset="-120"/>
              </a:rPr>
              <a:t>1</a:t>
            </a:r>
            <a:endParaRPr lang="en-US" sz="3600" dirty="0"/>
          </a:p>
        </p:txBody>
      </p:sp>
      <p:sp>
        <p:nvSpPr>
          <p:cNvPr id="76" name="A9-ot3"/>
          <p:cNvSpPr txBox="1"/>
          <p:nvPr/>
        </p:nvSpPr>
        <p:spPr>
          <a:xfrm>
            <a:off x="10263911" y="5340096"/>
            <a:ext cx="967664" cy="457200"/>
          </a:xfrm>
          <a:prstGeom prst="rect">
            <a:avLst/>
          </a:prstGeom>
          <a:noFill/>
          <a:ln/>
        </p:spPr>
        <p:txBody>
          <a:bodyPr wrap="square" lIns="0" tIns="0" rIns="0" bIns="0" rtlCol="0" anchor="ctr"/>
          <a:lstStyle/>
          <a:p>
            <a:pPr indent="0" marL="0">
              <a:buNone/>
            </a:pPr>
            <a:r>
              <a:rPr lang="en-US" sz="1300" dirty="0">
                <a:solidFill>
                  <a:srgbClr val="CFE9E9"/>
                </a:solidFill>
                <a:latin typeface="Poppins" pitchFamily="34" charset="0"/>
                <a:ea typeface="Poppins" pitchFamily="34" charset="-122"/>
                <a:cs typeface="Poppins" pitchFamily="34" charset="-120"/>
              </a:rPr>
              <a:t>README + demo</a:t>
            </a:r>
            <a:endParaRPr lang="en-US" sz="1300" dirty="0"/>
          </a:p>
        </p:txBody>
      </p:sp>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8282"/>
                </a:solidFill>
                <a:latin typeface="Poppins SemiBold"/>
                <a:ea typeface="Poppins SemiBold"/>
                <a:cs typeface="Poppins SemiBold"/>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8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8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8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80"/>
                                        <p:tgtEl>
                                          <p:spTgt spid="8"/>
                                        </p:tgtEl>
                                      </p:cBhvr>
                                    </p:animEffect>
                                  </p:childTnLst>
                                </p:cTn>
                              </p:par>
                              <p:par>
                                <p:cTn id="17" presetID="10" presetClass="entr" presetSubtype="0" fill="hold" grpId="0" nodeType="withEffect">
                                  <p:stCondLst>
                                    <p:cond delay="32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80"/>
                                        <p:tgtEl>
                                          <p:spTgt spid="9"/>
                                        </p:tgtEl>
                                      </p:cBhvr>
                                    </p:animEffect>
                                  </p:childTnLst>
                                </p:cTn>
                              </p:par>
                              <p:par>
                                <p:cTn id="20" presetID="10" presetClass="entr" presetSubtype="0" fill="hold" grpId="0" nodeType="withEffect">
                                  <p:stCondLst>
                                    <p:cond delay="32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80"/>
                                        <p:tgtEl>
                                          <p:spTgt spid="10"/>
                                        </p:tgtEl>
                                      </p:cBhvr>
                                    </p:animEffect>
                                  </p:childTnLst>
                                </p:cTn>
                              </p:par>
                              <p:par>
                                <p:cTn id="23" presetID="10" presetClass="entr" presetSubtype="0" fill="hold" grpId="0" nodeType="withEffect">
                                  <p:stCondLst>
                                    <p:cond delay="32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80"/>
                                        <p:tgtEl>
                                          <p:spTgt spid="11"/>
                                        </p:tgtEl>
                                      </p:cBhvr>
                                    </p:animEffect>
                                  </p:childTnLst>
                                </p:cTn>
                              </p:par>
                              <p:par>
                                <p:cTn id="26" presetID="10" presetClass="entr" presetSubtype="0" fill="hold" grpId="0" nodeType="withEffect">
                                  <p:stCondLst>
                                    <p:cond delay="32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80"/>
                                        <p:tgtEl>
                                          <p:spTgt spid="12"/>
                                        </p:tgtEl>
                                      </p:cBhvr>
                                    </p:animEffect>
                                  </p:childTnLst>
                                </p:cTn>
                              </p:par>
                              <p:par>
                                <p:cTn id="29" presetID="10" presetClass="entr" presetSubtype="0" fill="hold" grpId="0" nodeType="withEffect">
                                  <p:stCondLst>
                                    <p:cond delay="32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80"/>
                                        <p:tgtEl>
                                          <p:spTgt spid="13"/>
                                        </p:tgtEl>
                                      </p:cBhvr>
                                    </p:animEffect>
                                  </p:childTnLst>
                                </p:cTn>
                              </p:par>
                              <p:par>
                                <p:cTn id="32" presetID="10" presetClass="entr" presetSubtype="0" fill="hold" grpId="0" nodeType="withEffect">
                                  <p:stCondLst>
                                    <p:cond delay="32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80"/>
                                        <p:tgtEl>
                                          <p:spTgt spid="14"/>
                                        </p:tgtEl>
                                      </p:cBhvr>
                                    </p:animEffect>
                                  </p:childTnLst>
                                </p:cTn>
                              </p:par>
                              <p:par>
                                <p:cTn id="35" presetID="10" presetClass="entr" presetSubtype="0" fill="hold" grpId="0" nodeType="withEffect">
                                  <p:stCondLst>
                                    <p:cond delay="32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80"/>
                                        <p:tgtEl>
                                          <p:spTgt spid="15"/>
                                        </p:tgtEl>
                                      </p:cBhvr>
                                    </p:animEffect>
                                  </p:childTnLst>
                                </p:cTn>
                              </p:par>
                              <p:par>
                                <p:cTn id="38" presetID="10" presetClass="entr" presetSubtype="0" fill="hold" grpId="0" nodeType="withEffect">
                                  <p:stCondLst>
                                    <p:cond delay="32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80"/>
                                        <p:tgtEl>
                                          <p:spTgt spid="16"/>
                                        </p:tgtEl>
                                      </p:cBhvr>
                                    </p:animEffect>
                                  </p:childTnLst>
                                </p:cTn>
                              </p:par>
                              <p:par>
                                <p:cTn id="41" presetID="10" presetClass="entr" presetSubtype="0" fill="hold" grpId="0" nodeType="withEffect">
                                  <p:stCondLst>
                                    <p:cond delay="32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80"/>
                                        <p:tgtEl>
                                          <p:spTgt spid="17"/>
                                        </p:tgtEl>
                                      </p:cBhvr>
                                    </p:animEffect>
                                  </p:childTnLst>
                                </p:cTn>
                              </p:par>
                              <p:par>
                                <p:cTn id="44" presetID="10" presetClass="entr" presetSubtype="0" fill="hold" grpId="0" nodeType="withEffect">
                                  <p:stCondLst>
                                    <p:cond delay="32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80"/>
                                        <p:tgtEl>
                                          <p:spTgt spid="18"/>
                                        </p:tgtEl>
                                      </p:cBhvr>
                                    </p:animEffect>
                                  </p:childTnLst>
                                </p:cTn>
                              </p:par>
                              <p:par>
                                <p:cTn id="47" presetID="10" presetClass="entr" presetSubtype="0" fill="hold" grpId="0" nodeType="withEffect">
                                  <p:stCondLst>
                                    <p:cond delay="32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80"/>
                                        <p:tgtEl>
                                          <p:spTgt spid="19"/>
                                        </p:tgtEl>
                                      </p:cBhvr>
                                    </p:animEffect>
                                  </p:childTnLst>
                                </p:cTn>
                              </p:par>
                              <p:par>
                                <p:cTn id="50" presetID="10" presetClass="entr" presetSubtype="0" fill="hold" grpId="0" nodeType="withEffect">
                                  <p:stCondLst>
                                    <p:cond delay="32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80"/>
                                        <p:tgtEl>
                                          <p:spTgt spid="20"/>
                                        </p:tgtEl>
                                      </p:cBhvr>
                                    </p:animEffect>
                                  </p:childTnLst>
                                </p:cTn>
                              </p:par>
                              <p:par>
                                <p:cTn id="53" presetID="10" presetClass="entr" presetSubtype="0" fill="hold" grpId="0" nodeType="withEffect">
                                  <p:stCondLst>
                                    <p:cond delay="32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80"/>
                                        <p:tgtEl>
                                          <p:spTgt spid="21"/>
                                        </p:tgtEl>
                                      </p:cBhvr>
                                    </p:animEffect>
                                  </p:childTnLst>
                                </p:cTn>
                              </p:par>
                              <p:par>
                                <p:cTn id="56" presetID="10" presetClass="entr" presetSubtype="0" fill="hold" grpId="0" nodeType="withEffect">
                                  <p:stCondLst>
                                    <p:cond delay="32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80"/>
                                        <p:tgtEl>
                                          <p:spTgt spid="22"/>
                                        </p:tgtEl>
                                      </p:cBhvr>
                                    </p:animEffect>
                                  </p:childTnLst>
                                </p:cTn>
                              </p:par>
                              <p:par>
                                <p:cTn id="59" presetID="10" presetClass="entr" presetSubtype="0" fill="hold" grpId="0" nodeType="withEffect">
                                  <p:stCondLst>
                                    <p:cond delay="32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80"/>
                                        <p:tgtEl>
                                          <p:spTgt spid="23"/>
                                        </p:tgtEl>
                                      </p:cBhvr>
                                    </p:animEffect>
                                  </p:childTnLst>
                                </p:cTn>
                              </p:par>
                              <p:par>
                                <p:cTn id="62" presetID="10" presetClass="entr" presetSubtype="0" fill="hold" grpId="0" nodeType="withEffect">
                                  <p:stCondLst>
                                    <p:cond delay="32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80"/>
                                        <p:tgtEl>
                                          <p:spTgt spid="24"/>
                                        </p:tgtEl>
                                      </p:cBhvr>
                                    </p:animEffect>
                                  </p:childTnLst>
                                </p:cTn>
                              </p:par>
                              <p:par>
                                <p:cTn id="65" presetID="10" presetClass="entr" presetSubtype="0" fill="hold" grpId="0" nodeType="withEffect">
                                  <p:stCondLst>
                                    <p:cond delay="64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80"/>
                                        <p:tgtEl>
                                          <p:spTgt spid="25"/>
                                        </p:tgtEl>
                                      </p:cBhvr>
                                    </p:animEffect>
                                  </p:childTnLst>
                                </p:cTn>
                              </p:par>
                              <p:par>
                                <p:cTn id="68" presetID="10" presetClass="entr" presetSubtype="0" fill="hold" grpId="0" nodeType="withEffect">
                                  <p:stCondLst>
                                    <p:cond delay="64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80"/>
                                        <p:tgtEl>
                                          <p:spTgt spid="26"/>
                                        </p:tgtEl>
                                      </p:cBhvr>
                                    </p:animEffect>
                                  </p:childTnLst>
                                </p:cTn>
                              </p:par>
                              <p:par>
                                <p:cTn id="71" presetID="10" presetClass="entr" presetSubtype="0" fill="hold" grpId="0" nodeType="withEffect">
                                  <p:stCondLst>
                                    <p:cond delay="64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80"/>
                                        <p:tgtEl>
                                          <p:spTgt spid="27"/>
                                        </p:tgtEl>
                                      </p:cBhvr>
                                    </p:animEffect>
                                  </p:childTnLst>
                                </p:cTn>
                              </p:par>
                              <p:par>
                                <p:cTn id="74" presetID="10" presetClass="entr" presetSubtype="0" fill="hold" grpId="0" nodeType="withEffect">
                                  <p:stCondLst>
                                    <p:cond delay="64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80"/>
                                        <p:tgtEl>
                                          <p:spTgt spid="28"/>
                                        </p:tgtEl>
                                      </p:cBhvr>
                                    </p:animEffect>
                                  </p:childTnLst>
                                </p:cTn>
                              </p:par>
                              <p:par>
                                <p:cTn id="77" presetID="10" presetClass="entr" presetSubtype="0" fill="hold" grpId="0" nodeType="withEffect">
                                  <p:stCondLst>
                                    <p:cond delay="64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480"/>
                                        <p:tgtEl>
                                          <p:spTgt spid="29"/>
                                        </p:tgtEl>
                                      </p:cBhvr>
                                    </p:animEffect>
                                  </p:childTnLst>
                                </p:cTn>
                              </p:par>
                              <p:par>
                                <p:cTn id="80" presetID="10" presetClass="entr" presetSubtype="0" fill="hold" grpId="0" nodeType="withEffect">
                                  <p:stCondLst>
                                    <p:cond delay="96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480"/>
                                        <p:tgtEl>
                                          <p:spTgt spid="30"/>
                                        </p:tgtEl>
                                      </p:cBhvr>
                                    </p:animEffect>
                                  </p:childTnLst>
                                </p:cTn>
                              </p:par>
                              <p:par>
                                <p:cTn id="83" presetID="10" presetClass="entr" presetSubtype="0" fill="hold" grpId="0" nodeType="withEffect">
                                  <p:stCondLst>
                                    <p:cond delay="96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480"/>
                                        <p:tgtEl>
                                          <p:spTgt spid="31"/>
                                        </p:tgtEl>
                                      </p:cBhvr>
                                    </p:animEffect>
                                  </p:childTnLst>
                                </p:cTn>
                              </p:par>
                              <p:par>
                                <p:cTn id="86" presetID="10" presetClass="entr" presetSubtype="0" fill="hold" grpId="0" nodeType="withEffect">
                                  <p:stCondLst>
                                    <p:cond delay="96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480"/>
                                        <p:tgtEl>
                                          <p:spTgt spid="32"/>
                                        </p:tgtEl>
                                      </p:cBhvr>
                                    </p:animEffect>
                                  </p:childTnLst>
                                </p:cTn>
                              </p:par>
                              <p:par>
                                <p:cTn id="89" presetID="10" presetClass="entr" presetSubtype="0" fill="hold" grpId="0" nodeType="withEffect">
                                  <p:stCondLst>
                                    <p:cond delay="96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480"/>
                                        <p:tgtEl>
                                          <p:spTgt spid="33"/>
                                        </p:tgtEl>
                                      </p:cBhvr>
                                    </p:animEffect>
                                  </p:childTnLst>
                                </p:cTn>
                              </p:par>
                              <p:par>
                                <p:cTn id="92" presetID="10" presetClass="entr" presetSubtype="0" fill="hold" grpId="0" nodeType="withEffect">
                                  <p:stCondLst>
                                    <p:cond delay="96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80"/>
                                        <p:tgtEl>
                                          <p:spTgt spid="34"/>
                                        </p:tgtEl>
                                      </p:cBhvr>
                                    </p:animEffect>
                                  </p:childTnLst>
                                </p:cTn>
                              </p:par>
                              <p:par>
                                <p:cTn id="95" presetID="10" presetClass="entr" presetSubtype="0" fill="hold" grpId="0" nodeType="withEffect">
                                  <p:stCondLst>
                                    <p:cond delay="96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480"/>
                                        <p:tgtEl>
                                          <p:spTgt spid="35"/>
                                        </p:tgtEl>
                                      </p:cBhvr>
                                    </p:animEffect>
                                  </p:childTnLst>
                                </p:cTn>
                              </p:par>
                              <p:par>
                                <p:cTn id="98" presetID="10" presetClass="entr" presetSubtype="0" fill="hold" grpId="0" nodeType="withEffect">
                                  <p:stCondLst>
                                    <p:cond delay="128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480"/>
                                        <p:tgtEl>
                                          <p:spTgt spid="36"/>
                                        </p:tgtEl>
                                      </p:cBhvr>
                                    </p:animEffect>
                                  </p:childTnLst>
                                </p:cTn>
                              </p:par>
                              <p:par>
                                <p:cTn id="101" presetID="10" presetClass="entr" presetSubtype="0" fill="hold" grpId="0" nodeType="withEffect">
                                  <p:stCondLst>
                                    <p:cond delay="128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480"/>
                                        <p:tgtEl>
                                          <p:spTgt spid="37"/>
                                        </p:tgtEl>
                                      </p:cBhvr>
                                    </p:animEffect>
                                  </p:childTnLst>
                                </p:cTn>
                              </p:par>
                              <p:par>
                                <p:cTn id="104" presetID="10" presetClass="entr" presetSubtype="0" fill="hold" grpId="0" nodeType="withEffect">
                                  <p:stCondLst>
                                    <p:cond delay="128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480"/>
                                        <p:tgtEl>
                                          <p:spTgt spid="38"/>
                                        </p:tgtEl>
                                      </p:cBhvr>
                                    </p:animEffect>
                                  </p:childTnLst>
                                </p:cTn>
                              </p:par>
                              <p:par>
                                <p:cTn id="107" presetID="10" presetClass="entr" presetSubtype="0" fill="hold" grpId="0" nodeType="withEffect">
                                  <p:stCondLst>
                                    <p:cond delay="128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480"/>
                                        <p:tgtEl>
                                          <p:spTgt spid="39"/>
                                        </p:tgtEl>
                                      </p:cBhvr>
                                    </p:animEffect>
                                  </p:childTnLst>
                                </p:cTn>
                              </p:par>
                              <p:par>
                                <p:cTn id="110" presetID="10" presetClass="entr" presetSubtype="0" fill="hold" grpId="0" nodeType="withEffect">
                                  <p:stCondLst>
                                    <p:cond delay="128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480"/>
                                        <p:tgtEl>
                                          <p:spTgt spid="40"/>
                                        </p:tgtEl>
                                      </p:cBhvr>
                                    </p:animEffect>
                                  </p:childTnLst>
                                </p:cTn>
                              </p:par>
                              <p:par>
                                <p:cTn id="113" presetID="10" presetClass="entr" presetSubtype="0" fill="hold" grpId="0" nodeType="withEffect">
                                  <p:stCondLst>
                                    <p:cond delay="128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480"/>
                                        <p:tgtEl>
                                          <p:spTgt spid="41"/>
                                        </p:tgtEl>
                                      </p:cBhvr>
                                    </p:animEffect>
                                  </p:childTnLst>
                                </p:cTn>
                              </p:par>
                              <p:par>
                                <p:cTn id="116" presetID="10" presetClass="entr" presetSubtype="0" fill="hold" grpId="0" nodeType="withEffect">
                                  <p:stCondLst>
                                    <p:cond delay="160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480"/>
                                        <p:tgtEl>
                                          <p:spTgt spid="42"/>
                                        </p:tgtEl>
                                      </p:cBhvr>
                                    </p:animEffect>
                                  </p:childTnLst>
                                </p:cTn>
                              </p:par>
                              <p:par>
                                <p:cTn id="119" presetID="10" presetClass="entr" presetSubtype="0" fill="hold" grpId="0" nodeType="withEffect">
                                  <p:stCondLst>
                                    <p:cond delay="160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480"/>
                                        <p:tgtEl>
                                          <p:spTgt spid="43"/>
                                        </p:tgtEl>
                                      </p:cBhvr>
                                    </p:animEffect>
                                  </p:childTnLst>
                                </p:cTn>
                              </p:par>
                              <p:par>
                                <p:cTn id="122" presetID="10" presetClass="entr" presetSubtype="0" fill="hold" grpId="0" nodeType="withEffect">
                                  <p:stCondLst>
                                    <p:cond delay="160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480"/>
                                        <p:tgtEl>
                                          <p:spTgt spid="44"/>
                                        </p:tgtEl>
                                      </p:cBhvr>
                                    </p:animEffect>
                                  </p:childTnLst>
                                </p:cTn>
                              </p:par>
                              <p:par>
                                <p:cTn id="125" presetID="10" presetClass="entr" presetSubtype="0" fill="hold" grpId="0" nodeType="withEffect">
                                  <p:stCondLst>
                                    <p:cond delay="160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480"/>
                                        <p:tgtEl>
                                          <p:spTgt spid="45"/>
                                        </p:tgtEl>
                                      </p:cBhvr>
                                    </p:animEffect>
                                  </p:childTnLst>
                                </p:cTn>
                              </p:par>
                              <p:par>
                                <p:cTn id="128" presetID="10" presetClass="entr" presetSubtype="0" fill="hold" grpId="0" nodeType="withEffect">
                                  <p:stCondLst>
                                    <p:cond delay="160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480"/>
                                        <p:tgtEl>
                                          <p:spTgt spid="46"/>
                                        </p:tgtEl>
                                      </p:cBhvr>
                                    </p:animEffect>
                                  </p:childTnLst>
                                </p:cTn>
                              </p:par>
                              <p:par>
                                <p:cTn id="131" presetID="10" presetClass="entr" presetSubtype="0" fill="hold" grpId="0" nodeType="withEffect">
                                  <p:stCondLst>
                                    <p:cond delay="160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480"/>
                                        <p:tgtEl>
                                          <p:spTgt spid="47"/>
                                        </p:tgtEl>
                                      </p:cBhvr>
                                    </p:animEffect>
                                  </p:childTnLst>
                                </p:cTn>
                              </p:par>
                              <p:par>
                                <p:cTn id="134" presetID="10" presetClass="entr" presetSubtype="0" fill="hold" grpId="0" nodeType="withEffect">
                                  <p:stCondLst>
                                    <p:cond delay="192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480"/>
                                        <p:tgtEl>
                                          <p:spTgt spid="48"/>
                                        </p:tgtEl>
                                      </p:cBhvr>
                                    </p:animEffect>
                                  </p:childTnLst>
                                </p:cTn>
                              </p:par>
                              <p:par>
                                <p:cTn id="137" presetID="10" presetClass="entr" presetSubtype="0" fill="hold" grpId="0" nodeType="withEffect">
                                  <p:stCondLst>
                                    <p:cond delay="192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480"/>
                                        <p:tgtEl>
                                          <p:spTgt spid="49"/>
                                        </p:tgtEl>
                                      </p:cBhvr>
                                    </p:animEffect>
                                  </p:childTnLst>
                                </p:cTn>
                              </p:par>
                              <p:par>
                                <p:cTn id="140" presetID="10" presetClass="entr" presetSubtype="0" fill="hold" grpId="0" nodeType="withEffect">
                                  <p:stCondLst>
                                    <p:cond delay="192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480"/>
                                        <p:tgtEl>
                                          <p:spTgt spid="50"/>
                                        </p:tgtEl>
                                      </p:cBhvr>
                                    </p:animEffect>
                                  </p:childTnLst>
                                </p:cTn>
                              </p:par>
                              <p:par>
                                <p:cTn id="143" presetID="10" presetClass="entr" presetSubtype="0" fill="hold" grpId="0" nodeType="withEffect">
                                  <p:stCondLst>
                                    <p:cond delay="1920"/>
                                  </p:stCondLst>
                                  <p:childTnLst>
                                    <p:set>
                                      <p:cBhvr>
                                        <p:cTn id="144" dur="1" fill="hold">
                                          <p:stCondLst>
                                            <p:cond delay="0"/>
                                          </p:stCondLst>
                                        </p:cTn>
                                        <p:tgtEl>
                                          <p:spTgt spid="51"/>
                                        </p:tgtEl>
                                        <p:attrNameLst>
                                          <p:attrName>style.visibility</p:attrName>
                                        </p:attrNameLst>
                                      </p:cBhvr>
                                      <p:to>
                                        <p:strVal val="visible"/>
                                      </p:to>
                                    </p:set>
                                    <p:animEffect transition="in" filter="fade">
                                      <p:cBhvr>
                                        <p:cTn id="145" dur="480"/>
                                        <p:tgtEl>
                                          <p:spTgt spid="51"/>
                                        </p:tgtEl>
                                      </p:cBhvr>
                                    </p:animEffect>
                                  </p:childTnLst>
                                </p:cTn>
                              </p:par>
                              <p:par>
                                <p:cTn id="146" presetID="10" presetClass="entr" presetSubtype="0" fill="hold" grpId="0" nodeType="withEffect">
                                  <p:stCondLst>
                                    <p:cond delay="1920"/>
                                  </p:stCondLst>
                                  <p:childTnLst>
                                    <p:set>
                                      <p:cBhvr>
                                        <p:cTn id="147" dur="1" fill="hold">
                                          <p:stCondLst>
                                            <p:cond delay="0"/>
                                          </p:stCondLst>
                                        </p:cTn>
                                        <p:tgtEl>
                                          <p:spTgt spid="52"/>
                                        </p:tgtEl>
                                        <p:attrNameLst>
                                          <p:attrName>style.visibility</p:attrName>
                                        </p:attrNameLst>
                                      </p:cBhvr>
                                      <p:to>
                                        <p:strVal val="visible"/>
                                      </p:to>
                                    </p:set>
                                    <p:animEffect transition="in" filter="fade">
                                      <p:cBhvr>
                                        <p:cTn id="148" dur="480"/>
                                        <p:tgtEl>
                                          <p:spTgt spid="52"/>
                                        </p:tgtEl>
                                      </p:cBhvr>
                                    </p:animEffect>
                                  </p:childTnLst>
                                </p:cTn>
                              </p:par>
                              <p:par>
                                <p:cTn id="149" presetID="10" presetClass="entr" presetSubtype="0" fill="hold" grpId="0" nodeType="withEffect">
                                  <p:stCondLst>
                                    <p:cond delay="1920"/>
                                  </p:stCondLst>
                                  <p:childTnLst>
                                    <p:set>
                                      <p:cBhvr>
                                        <p:cTn id="150" dur="1" fill="hold">
                                          <p:stCondLst>
                                            <p:cond delay="0"/>
                                          </p:stCondLst>
                                        </p:cTn>
                                        <p:tgtEl>
                                          <p:spTgt spid="53"/>
                                        </p:tgtEl>
                                        <p:attrNameLst>
                                          <p:attrName>style.visibility</p:attrName>
                                        </p:attrNameLst>
                                      </p:cBhvr>
                                      <p:to>
                                        <p:strVal val="visible"/>
                                      </p:to>
                                    </p:set>
                                    <p:animEffect transition="in" filter="fade">
                                      <p:cBhvr>
                                        <p:cTn id="151" dur="480"/>
                                        <p:tgtEl>
                                          <p:spTgt spid="53"/>
                                        </p:tgtEl>
                                      </p:cBhvr>
                                    </p:animEffect>
                                  </p:childTnLst>
                                </p:cTn>
                              </p:par>
                              <p:par>
                                <p:cTn id="152" presetID="10" presetClass="entr" presetSubtype="0" fill="hold" grpId="0" nodeType="withEffect">
                                  <p:stCondLst>
                                    <p:cond delay="2240"/>
                                  </p:stCondLst>
                                  <p:childTnLst>
                                    <p:set>
                                      <p:cBhvr>
                                        <p:cTn id="153" dur="1" fill="hold">
                                          <p:stCondLst>
                                            <p:cond delay="0"/>
                                          </p:stCondLst>
                                        </p:cTn>
                                        <p:tgtEl>
                                          <p:spTgt spid="54"/>
                                        </p:tgtEl>
                                        <p:attrNameLst>
                                          <p:attrName>style.visibility</p:attrName>
                                        </p:attrNameLst>
                                      </p:cBhvr>
                                      <p:to>
                                        <p:strVal val="visible"/>
                                      </p:to>
                                    </p:set>
                                    <p:animEffect transition="in" filter="fade">
                                      <p:cBhvr>
                                        <p:cTn id="154" dur="480"/>
                                        <p:tgtEl>
                                          <p:spTgt spid="54"/>
                                        </p:tgtEl>
                                      </p:cBhvr>
                                    </p:animEffect>
                                  </p:childTnLst>
                                </p:cTn>
                              </p:par>
                              <p:par>
                                <p:cTn id="155" presetID="10" presetClass="entr" presetSubtype="0" fill="hold" grpId="0" nodeType="withEffect">
                                  <p:stCondLst>
                                    <p:cond delay="2240"/>
                                  </p:stCondLst>
                                  <p:childTnLst>
                                    <p:set>
                                      <p:cBhvr>
                                        <p:cTn id="156" dur="1" fill="hold">
                                          <p:stCondLst>
                                            <p:cond delay="0"/>
                                          </p:stCondLst>
                                        </p:cTn>
                                        <p:tgtEl>
                                          <p:spTgt spid="55"/>
                                        </p:tgtEl>
                                        <p:attrNameLst>
                                          <p:attrName>style.visibility</p:attrName>
                                        </p:attrNameLst>
                                      </p:cBhvr>
                                      <p:to>
                                        <p:strVal val="visible"/>
                                      </p:to>
                                    </p:set>
                                    <p:animEffect transition="in" filter="fade">
                                      <p:cBhvr>
                                        <p:cTn id="157" dur="480"/>
                                        <p:tgtEl>
                                          <p:spTgt spid="55"/>
                                        </p:tgtEl>
                                      </p:cBhvr>
                                    </p:animEffect>
                                  </p:childTnLst>
                                </p:cTn>
                              </p:par>
                              <p:par>
                                <p:cTn id="158" presetID="10" presetClass="entr" presetSubtype="0" fill="hold" grpId="0" nodeType="withEffect">
                                  <p:stCondLst>
                                    <p:cond delay="2240"/>
                                  </p:stCondLst>
                                  <p:childTnLst>
                                    <p:set>
                                      <p:cBhvr>
                                        <p:cTn id="159" dur="1" fill="hold">
                                          <p:stCondLst>
                                            <p:cond delay="0"/>
                                          </p:stCondLst>
                                        </p:cTn>
                                        <p:tgtEl>
                                          <p:spTgt spid="56"/>
                                        </p:tgtEl>
                                        <p:attrNameLst>
                                          <p:attrName>style.visibility</p:attrName>
                                        </p:attrNameLst>
                                      </p:cBhvr>
                                      <p:to>
                                        <p:strVal val="visible"/>
                                      </p:to>
                                    </p:set>
                                    <p:animEffect transition="in" filter="fade">
                                      <p:cBhvr>
                                        <p:cTn id="160" dur="480"/>
                                        <p:tgtEl>
                                          <p:spTgt spid="56"/>
                                        </p:tgtEl>
                                      </p:cBhvr>
                                    </p:animEffect>
                                  </p:childTnLst>
                                </p:cTn>
                              </p:par>
                              <p:par>
                                <p:cTn id="161" presetID="10" presetClass="entr" presetSubtype="0" fill="hold" grpId="0" nodeType="withEffect">
                                  <p:stCondLst>
                                    <p:cond delay="2240"/>
                                  </p:stCondLst>
                                  <p:childTnLst>
                                    <p:set>
                                      <p:cBhvr>
                                        <p:cTn id="162" dur="1" fill="hold">
                                          <p:stCondLst>
                                            <p:cond delay="0"/>
                                          </p:stCondLst>
                                        </p:cTn>
                                        <p:tgtEl>
                                          <p:spTgt spid="57"/>
                                        </p:tgtEl>
                                        <p:attrNameLst>
                                          <p:attrName>style.visibility</p:attrName>
                                        </p:attrNameLst>
                                      </p:cBhvr>
                                      <p:to>
                                        <p:strVal val="visible"/>
                                      </p:to>
                                    </p:set>
                                    <p:animEffect transition="in" filter="fade">
                                      <p:cBhvr>
                                        <p:cTn id="163" dur="480"/>
                                        <p:tgtEl>
                                          <p:spTgt spid="57"/>
                                        </p:tgtEl>
                                      </p:cBhvr>
                                    </p:animEffect>
                                  </p:childTnLst>
                                </p:cTn>
                              </p:par>
                              <p:par>
                                <p:cTn id="164" presetID="10" presetClass="entr" presetSubtype="0" fill="hold" grpId="0" nodeType="withEffect">
                                  <p:stCondLst>
                                    <p:cond delay="2240"/>
                                  </p:stCondLst>
                                  <p:childTnLst>
                                    <p:set>
                                      <p:cBhvr>
                                        <p:cTn id="165" dur="1" fill="hold">
                                          <p:stCondLst>
                                            <p:cond delay="0"/>
                                          </p:stCondLst>
                                        </p:cTn>
                                        <p:tgtEl>
                                          <p:spTgt spid="58"/>
                                        </p:tgtEl>
                                        <p:attrNameLst>
                                          <p:attrName>style.visibility</p:attrName>
                                        </p:attrNameLst>
                                      </p:cBhvr>
                                      <p:to>
                                        <p:strVal val="visible"/>
                                      </p:to>
                                    </p:set>
                                    <p:animEffect transition="in" filter="fade">
                                      <p:cBhvr>
                                        <p:cTn id="166" dur="480"/>
                                        <p:tgtEl>
                                          <p:spTgt spid="58"/>
                                        </p:tgtEl>
                                      </p:cBhvr>
                                    </p:animEffect>
                                  </p:childTnLst>
                                </p:cTn>
                              </p:par>
                              <p:par>
                                <p:cTn id="167" presetID="10" presetClass="entr" presetSubtype="0" fill="hold" grpId="0" nodeType="withEffect">
                                  <p:stCondLst>
                                    <p:cond delay="2240"/>
                                  </p:stCondLst>
                                  <p:childTnLst>
                                    <p:set>
                                      <p:cBhvr>
                                        <p:cTn id="168" dur="1" fill="hold">
                                          <p:stCondLst>
                                            <p:cond delay="0"/>
                                          </p:stCondLst>
                                        </p:cTn>
                                        <p:tgtEl>
                                          <p:spTgt spid="59"/>
                                        </p:tgtEl>
                                        <p:attrNameLst>
                                          <p:attrName>style.visibility</p:attrName>
                                        </p:attrNameLst>
                                      </p:cBhvr>
                                      <p:to>
                                        <p:strVal val="visible"/>
                                      </p:to>
                                    </p:set>
                                    <p:animEffect transition="in" filter="fade">
                                      <p:cBhvr>
                                        <p:cTn id="169" dur="480"/>
                                        <p:tgtEl>
                                          <p:spTgt spid="59"/>
                                        </p:tgtEl>
                                      </p:cBhvr>
                                    </p:animEffect>
                                  </p:childTnLst>
                                </p:cTn>
                              </p:par>
                              <p:par>
                                <p:cTn id="170" presetID="10" presetClass="entr" presetSubtype="0" fill="hold" grpId="0" nodeType="withEffect">
                                  <p:stCondLst>
                                    <p:cond delay="2560"/>
                                  </p:stCondLst>
                                  <p:childTnLst>
                                    <p:set>
                                      <p:cBhvr>
                                        <p:cTn id="171" dur="1" fill="hold">
                                          <p:stCondLst>
                                            <p:cond delay="0"/>
                                          </p:stCondLst>
                                        </p:cTn>
                                        <p:tgtEl>
                                          <p:spTgt spid="60"/>
                                        </p:tgtEl>
                                        <p:attrNameLst>
                                          <p:attrName>style.visibility</p:attrName>
                                        </p:attrNameLst>
                                      </p:cBhvr>
                                      <p:to>
                                        <p:strVal val="visible"/>
                                      </p:to>
                                    </p:set>
                                    <p:animEffect transition="in" filter="fade">
                                      <p:cBhvr>
                                        <p:cTn id="172" dur="480"/>
                                        <p:tgtEl>
                                          <p:spTgt spid="60"/>
                                        </p:tgtEl>
                                      </p:cBhvr>
                                    </p:animEffect>
                                  </p:childTnLst>
                                </p:cTn>
                              </p:par>
                              <p:par>
                                <p:cTn id="173" presetID="10" presetClass="entr" presetSubtype="0" fill="hold" grpId="0" nodeType="withEffect">
                                  <p:stCondLst>
                                    <p:cond delay="2560"/>
                                  </p:stCondLst>
                                  <p:childTnLst>
                                    <p:set>
                                      <p:cBhvr>
                                        <p:cTn id="174" dur="1" fill="hold">
                                          <p:stCondLst>
                                            <p:cond delay="0"/>
                                          </p:stCondLst>
                                        </p:cTn>
                                        <p:tgtEl>
                                          <p:spTgt spid="61"/>
                                        </p:tgtEl>
                                        <p:attrNameLst>
                                          <p:attrName>style.visibility</p:attrName>
                                        </p:attrNameLst>
                                      </p:cBhvr>
                                      <p:to>
                                        <p:strVal val="visible"/>
                                      </p:to>
                                    </p:set>
                                    <p:animEffect transition="in" filter="fade">
                                      <p:cBhvr>
                                        <p:cTn id="175" dur="480"/>
                                        <p:tgtEl>
                                          <p:spTgt spid="61"/>
                                        </p:tgtEl>
                                      </p:cBhvr>
                                    </p:animEffect>
                                  </p:childTnLst>
                                </p:cTn>
                              </p:par>
                              <p:par>
                                <p:cTn id="176" presetID="10" presetClass="entr" presetSubtype="0" fill="hold" grpId="0" nodeType="withEffect">
                                  <p:stCondLst>
                                    <p:cond delay="2560"/>
                                  </p:stCondLst>
                                  <p:childTnLst>
                                    <p:set>
                                      <p:cBhvr>
                                        <p:cTn id="177" dur="1" fill="hold">
                                          <p:stCondLst>
                                            <p:cond delay="0"/>
                                          </p:stCondLst>
                                        </p:cTn>
                                        <p:tgtEl>
                                          <p:spTgt spid="62"/>
                                        </p:tgtEl>
                                        <p:attrNameLst>
                                          <p:attrName>style.visibility</p:attrName>
                                        </p:attrNameLst>
                                      </p:cBhvr>
                                      <p:to>
                                        <p:strVal val="visible"/>
                                      </p:to>
                                    </p:set>
                                    <p:animEffect transition="in" filter="fade">
                                      <p:cBhvr>
                                        <p:cTn id="178" dur="480"/>
                                        <p:tgtEl>
                                          <p:spTgt spid="62"/>
                                        </p:tgtEl>
                                      </p:cBhvr>
                                    </p:animEffect>
                                  </p:childTnLst>
                                </p:cTn>
                              </p:par>
                              <p:par>
                                <p:cTn id="179" presetID="10" presetClass="entr" presetSubtype="0" fill="hold" grpId="0" nodeType="withEffect">
                                  <p:stCondLst>
                                    <p:cond delay="2560"/>
                                  </p:stCondLst>
                                  <p:childTnLst>
                                    <p:set>
                                      <p:cBhvr>
                                        <p:cTn id="180" dur="1" fill="hold">
                                          <p:stCondLst>
                                            <p:cond delay="0"/>
                                          </p:stCondLst>
                                        </p:cTn>
                                        <p:tgtEl>
                                          <p:spTgt spid="63"/>
                                        </p:tgtEl>
                                        <p:attrNameLst>
                                          <p:attrName>style.visibility</p:attrName>
                                        </p:attrNameLst>
                                      </p:cBhvr>
                                      <p:to>
                                        <p:strVal val="visible"/>
                                      </p:to>
                                    </p:set>
                                    <p:animEffect transition="in" filter="fade">
                                      <p:cBhvr>
                                        <p:cTn id="181" dur="480"/>
                                        <p:tgtEl>
                                          <p:spTgt spid="63"/>
                                        </p:tgtEl>
                                      </p:cBhvr>
                                    </p:animEffect>
                                  </p:childTnLst>
                                </p:cTn>
                              </p:par>
                              <p:par>
                                <p:cTn id="182" presetID="10" presetClass="entr" presetSubtype="0" fill="hold" grpId="0" nodeType="withEffect">
                                  <p:stCondLst>
                                    <p:cond delay="2560"/>
                                  </p:stCondLst>
                                  <p:childTnLst>
                                    <p:set>
                                      <p:cBhvr>
                                        <p:cTn id="183" dur="1" fill="hold">
                                          <p:stCondLst>
                                            <p:cond delay="0"/>
                                          </p:stCondLst>
                                        </p:cTn>
                                        <p:tgtEl>
                                          <p:spTgt spid="64"/>
                                        </p:tgtEl>
                                        <p:attrNameLst>
                                          <p:attrName>style.visibility</p:attrName>
                                        </p:attrNameLst>
                                      </p:cBhvr>
                                      <p:to>
                                        <p:strVal val="visible"/>
                                      </p:to>
                                    </p:set>
                                    <p:animEffect transition="in" filter="fade">
                                      <p:cBhvr>
                                        <p:cTn id="184" dur="480"/>
                                        <p:tgtEl>
                                          <p:spTgt spid="64"/>
                                        </p:tgtEl>
                                      </p:cBhvr>
                                    </p:animEffect>
                                  </p:childTnLst>
                                </p:cTn>
                              </p:par>
                              <p:par>
                                <p:cTn id="185" presetID="10" presetClass="entr" presetSubtype="0" fill="hold" grpId="0" nodeType="withEffect">
                                  <p:stCondLst>
                                    <p:cond delay="2560"/>
                                  </p:stCondLst>
                                  <p:childTnLst>
                                    <p:set>
                                      <p:cBhvr>
                                        <p:cTn id="186" dur="1" fill="hold">
                                          <p:stCondLst>
                                            <p:cond delay="0"/>
                                          </p:stCondLst>
                                        </p:cTn>
                                        <p:tgtEl>
                                          <p:spTgt spid="65"/>
                                        </p:tgtEl>
                                        <p:attrNameLst>
                                          <p:attrName>style.visibility</p:attrName>
                                        </p:attrNameLst>
                                      </p:cBhvr>
                                      <p:to>
                                        <p:strVal val="visible"/>
                                      </p:to>
                                    </p:set>
                                    <p:animEffect transition="in" filter="fade">
                                      <p:cBhvr>
                                        <p:cTn id="187" dur="480"/>
                                        <p:tgtEl>
                                          <p:spTgt spid="65"/>
                                        </p:tgtEl>
                                      </p:cBhvr>
                                    </p:animEffect>
                                  </p:childTnLst>
                                </p:cTn>
                              </p:par>
                              <p:par>
                                <p:cTn id="188" presetID="10" presetClass="entr" presetSubtype="0" fill="hold" grpId="0" nodeType="withEffect">
                                  <p:stCondLst>
                                    <p:cond delay="2880"/>
                                  </p:stCondLst>
                                  <p:childTnLst>
                                    <p:set>
                                      <p:cBhvr>
                                        <p:cTn id="189" dur="1" fill="hold">
                                          <p:stCondLst>
                                            <p:cond delay="0"/>
                                          </p:stCondLst>
                                        </p:cTn>
                                        <p:tgtEl>
                                          <p:spTgt spid="66"/>
                                        </p:tgtEl>
                                        <p:attrNameLst>
                                          <p:attrName>style.visibility</p:attrName>
                                        </p:attrNameLst>
                                      </p:cBhvr>
                                      <p:to>
                                        <p:strVal val="visible"/>
                                      </p:to>
                                    </p:set>
                                    <p:animEffect transition="in" filter="fade">
                                      <p:cBhvr>
                                        <p:cTn id="190" dur="480"/>
                                        <p:tgtEl>
                                          <p:spTgt spid="66"/>
                                        </p:tgtEl>
                                      </p:cBhvr>
                                    </p:animEffect>
                                  </p:childTnLst>
                                </p:cTn>
                              </p:par>
                              <p:par>
                                <p:cTn id="191" presetID="10" presetClass="entr" presetSubtype="0" fill="hold" grpId="0" nodeType="withEffect">
                                  <p:stCondLst>
                                    <p:cond delay="2880"/>
                                  </p:stCondLst>
                                  <p:childTnLst>
                                    <p:set>
                                      <p:cBhvr>
                                        <p:cTn id="192" dur="1" fill="hold">
                                          <p:stCondLst>
                                            <p:cond delay="0"/>
                                          </p:stCondLst>
                                        </p:cTn>
                                        <p:tgtEl>
                                          <p:spTgt spid="67"/>
                                        </p:tgtEl>
                                        <p:attrNameLst>
                                          <p:attrName>style.visibility</p:attrName>
                                        </p:attrNameLst>
                                      </p:cBhvr>
                                      <p:to>
                                        <p:strVal val="visible"/>
                                      </p:to>
                                    </p:set>
                                    <p:animEffect transition="in" filter="fade">
                                      <p:cBhvr>
                                        <p:cTn id="193" dur="480"/>
                                        <p:tgtEl>
                                          <p:spTgt spid="67"/>
                                        </p:tgtEl>
                                      </p:cBhvr>
                                    </p:animEffect>
                                  </p:childTnLst>
                                </p:cTn>
                              </p:par>
                              <p:par>
                                <p:cTn id="194" presetID="10" presetClass="entr" presetSubtype="0" fill="hold" grpId="0" nodeType="withEffect">
                                  <p:stCondLst>
                                    <p:cond delay="2880"/>
                                  </p:stCondLst>
                                  <p:childTnLst>
                                    <p:set>
                                      <p:cBhvr>
                                        <p:cTn id="195" dur="1" fill="hold">
                                          <p:stCondLst>
                                            <p:cond delay="0"/>
                                          </p:stCondLst>
                                        </p:cTn>
                                        <p:tgtEl>
                                          <p:spTgt spid="68"/>
                                        </p:tgtEl>
                                        <p:attrNameLst>
                                          <p:attrName>style.visibility</p:attrName>
                                        </p:attrNameLst>
                                      </p:cBhvr>
                                      <p:to>
                                        <p:strVal val="visible"/>
                                      </p:to>
                                    </p:set>
                                    <p:animEffect transition="in" filter="fade">
                                      <p:cBhvr>
                                        <p:cTn id="196" dur="480"/>
                                        <p:tgtEl>
                                          <p:spTgt spid="68"/>
                                        </p:tgtEl>
                                      </p:cBhvr>
                                    </p:animEffect>
                                  </p:childTnLst>
                                </p:cTn>
                              </p:par>
                              <p:par>
                                <p:cTn id="197" presetID="10" presetClass="entr" presetSubtype="0" fill="hold" grpId="0" nodeType="withEffect">
                                  <p:stCondLst>
                                    <p:cond delay="2880"/>
                                  </p:stCondLst>
                                  <p:childTnLst>
                                    <p:set>
                                      <p:cBhvr>
                                        <p:cTn id="198" dur="1" fill="hold">
                                          <p:stCondLst>
                                            <p:cond delay="0"/>
                                          </p:stCondLst>
                                        </p:cTn>
                                        <p:tgtEl>
                                          <p:spTgt spid="69"/>
                                        </p:tgtEl>
                                        <p:attrNameLst>
                                          <p:attrName>style.visibility</p:attrName>
                                        </p:attrNameLst>
                                      </p:cBhvr>
                                      <p:to>
                                        <p:strVal val="visible"/>
                                      </p:to>
                                    </p:set>
                                    <p:animEffect transition="in" filter="fade">
                                      <p:cBhvr>
                                        <p:cTn id="199" dur="480"/>
                                        <p:tgtEl>
                                          <p:spTgt spid="69"/>
                                        </p:tgtEl>
                                      </p:cBhvr>
                                    </p:animEffect>
                                  </p:childTnLst>
                                </p:cTn>
                              </p:par>
                              <p:par>
                                <p:cTn id="200" presetID="10" presetClass="entr" presetSubtype="0" fill="hold" grpId="0" nodeType="withEffect">
                                  <p:stCondLst>
                                    <p:cond delay="2880"/>
                                  </p:stCondLst>
                                  <p:childTnLst>
                                    <p:set>
                                      <p:cBhvr>
                                        <p:cTn id="201" dur="1" fill="hold">
                                          <p:stCondLst>
                                            <p:cond delay="0"/>
                                          </p:stCondLst>
                                        </p:cTn>
                                        <p:tgtEl>
                                          <p:spTgt spid="70"/>
                                        </p:tgtEl>
                                        <p:attrNameLst>
                                          <p:attrName>style.visibility</p:attrName>
                                        </p:attrNameLst>
                                      </p:cBhvr>
                                      <p:to>
                                        <p:strVal val="visible"/>
                                      </p:to>
                                    </p:set>
                                    <p:animEffect transition="in" filter="fade">
                                      <p:cBhvr>
                                        <p:cTn id="202" dur="480"/>
                                        <p:tgtEl>
                                          <p:spTgt spid="70"/>
                                        </p:tgtEl>
                                      </p:cBhvr>
                                    </p:animEffect>
                                  </p:childTnLst>
                                </p:cTn>
                              </p:par>
                              <p:par>
                                <p:cTn id="203" presetID="10" presetClass="entr" presetSubtype="0" fill="hold" grpId="0" nodeType="withEffect">
                                  <p:stCondLst>
                                    <p:cond delay="2880"/>
                                  </p:stCondLst>
                                  <p:childTnLst>
                                    <p:set>
                                      <p:cBhvr>
                                        <p:cTn id="204" dur="1" fill="hold">
                                          <p:stCondLst>
                                            <p:cond delay="0"/>
                                          </p:stCondLst>
                                        </p:cTn>
                                        <p:tgtEl>
                                          <p:spTgt spid="71"/>
                                        </p:tgtEl>
                                        <p:attrNameLst>
                                          <p:attrName>style.visibility</p:attrName>
                                        </p:attrNameLst>
                                      </p:cBhvr>
                                      <p:to>
                                        <p:strVal val="visible"/>
                                      </p:to>
                                    </p:set>
                                    <p:animEffect transition="in" filter="fade">
                                      <p:cBhvr>
                                        <p:cTn id="205" dur="480"/>
                                        <p:tgtEl>
                                          <p:spTgt spid="71"/>
                                        </p:tgtEl>
                                      </p:cBhvr>
                                    </p:animEffect>
                                  </p:childTnLst>
                                </p:cTn>
                              </p:par>
                              <p:par>
                                <p:cTn id="206" presetID="10" presetClass="entr" presetSubtype="0" fill="hold" grpId="0" nodeType="withEffect">
                                  <p:stCondLst>
                                    <p:cond delay="2880"/>
                                  </p:stCondLst>
                                  <p:childTnLst>
                                    <p:set>
                                      <p:cBhvr>
                                        <p:cTn id="207" dur="1" fill="hold">
                                          <p:stCondLst>
                                            <p:cond delay="0"/>
                                          </p:stCondLst>
                                        </p:cTn>
                                        <p:tgtEl>
                                          <p:spTgt spid="72"/>
                                        </p:tgtEl>
                                        <p:attrNameLst>
                                          <p:attrName>style.visibility</p:attrName>
                                        </p:attrNameLst>
                                      </p:cBhvr>
                                      <p:to>
                                        <p:strVal val="visible"/>
                                      </p:to>
                                    </p:set>
                                    <p:animEffect transition="in" filter="fade">
                                      <p:cBhvr>
                                        <p:cTn id="208" dur="480"/>
                                        <p:tgtEl>
                                          <p:spTgt spid="72"/>
                                        </p:tgtEl>
                                      </p:cBhvr>
                                    </p:animEffect>
                                  </p:childTnLst>
                                </p:cTn>
                              </p:par>
                              <p:par>
                                <p:cTn id="209" presetID="10" presetClass="entr" presetSubtype="0" fill="hold" grpId="0" nodeType="withEffect">
                                  <p:stCondLst>
                                    <p:cond delay="2880"/>
                                  </p:stCondLst>
                                  <p:childTnLst>
                                    <p:set>
                                      <p:cBhvr>
                                        <p:cTn id="210" dur="1" fill="hold">
                                          <p:stCondLst>
                                            <p:cond delay="0"/>
                                          </p:stCondLst>
                                        </p:cTn>
                                        <p:tgtEl>
                                          <p:spTgt spid="73"/>
                                        </p:tgtEl>
                                        <p:attrNameLst>
                                          <p:attrName>style.visibility</p:attrName>
                                        </p:attrNameLst>
                                      </p:cBhvr>
                                      <p:to>
                                        <p:strVal val="visible"/>
                                      </p:to>
                                    </p:set>
                                    <p:animEffect transition="in" filter="fade">
                                      <p:cBhvr>
                                        <p:cTn id="211" dur="480"/>
                                        <p:tgtEl>
                                          <p:spTgt spid="73"/>
                                        </p:tgtEl>
                                      </p:cBhvr>
                                    </p:animEffect>
                                  </p:childTnLst>
                                </p:cTn>
                              </p:par>
                              <p:par>
                                <p:cTn id="212" presetID="10" presetClass="entr" presetSubtype="0" fill="hold" grpId="0" nodeType="withEffect">
                                  <p:stCondLst>
                                    <p:cond delay="2880"/>
                                  </p:stCondLst>
                                  <p:childTnLst>
                                    <p:set>
                                      <p:cBhvr>
                                        <p:cTn id="213" dur="1" fill="hold">
                                          <p:stCondLst>
                                            <p:cond delay="0"/>
                                          </p:stCondLst>
                                        </p:cTn>
                                        <p:tgtEl>
                                          <p:spTgt spid="74"/>
                                        </p:tgtEl>
                                        <p:attrNameLst>
                                          <p:attrName>style.visibility</p:attrName>
                                        </p:attrNameLst>
                                      </p:cBhvr>
                                      <p:to>
                                        <p:strVal val="visible"/>
                                      </p:to>
                                    </p:set>
                                    <p:animEffect transition="in" filter="fade">
                                      <p:cBhvr>
                                        <p:cTn id="214" dur="480"/>
                                        <p:tgtEl>
                                          <p:spTgt spid="74"/>
                                        </p:tgtEl>
                                      </p:cBhvr>
                                    </p:animEffect>
                                  </p:childTnLst>
                                </p:cTn>
                              </p:par>
                              <p:par>
                                <p:cTn id="215" presetID="10" presetClass="entr" presetSubtype="0" fill="hold" grpId="0" nodeType="withEffect">
                                  <p:stCondLst>
                                    <p:cond delay="2880"/>
                                  </p:stCondLst>
                                  <p:childTnLst>
                                    <p:set>
                                      <p:cBhvr>
                                        <p:cTn id="216" dur="1" fill="hold">
                                          <p:stCondLst>
                                            <p:cond delay="0"/>
                                          </p:stCondLst>
                                        </p:cTn>
                                        <p:tgtEl>
                                          <p:spTgt spid="75"/>
                                        </p:tgtEl>
                                        <p:attrNameLst>
                                          <p:attrName>style.visibility</p:attrName>
                                        </p:attrNameLst>
                                      </p:cBhvr>
                                      <p:to>
                                        <p:strVal val="visible"/>
                                      </p:to>
                                    </p:set>
                                    <p:animEffect transition="in" filter="fade">
                                      <p:cBhvr>
                                        <p:cTn id="217" dur="480"/>
                                        <p:tgtEl>
                                          <p:spTgt spid="75"/>
                                        </p:tgtEl>
                                      </p:cBhvr>
                                    </p:animEffect>
                                  </p:childTnLst>
                                </p:cTn>
                              </p:par>
                              <p:par>
                                <p:cTn id="218" presetID="10" presetClass="entr" presetSubtype="0" fill="hold" grpId="0" nodeType="withEffect">
                                  <p:stCondLst>
                                    <p:cond delay="2880"/>
                                  </p:stCondLst>
                                  <p:childTnLst>
                                    <p:set>
                                      <p:cBhvr>
                                        <p:cTn id="219" dur="1" fill="hold">
                                          <p:stCondLst>
                                            <p:cond delay="0"/>
                                          </p:stCondLst>
                                        </p:cTn>
                                        <p:tgtEl>
                                          <p:spTgt spid="76"/>
                                        </p:tgtEl>
                                        <p:attrNameLst>
                                          <p:attrName>style.visibility</p:attrName>
                                        </p:attrNameLst>
                                      </p:cBhvr>
                                      <p:to>
                                        <p:strVal val="visible"/>
                                      </p:to>
                                    </p:set>
                                    <p:animEffect transition="in" filter="fade">
                                      <p:cBhvr>
                                        <p:cTn id="220" dur="48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8" grpId="0" animBg="1"/>
      <p:bldP spid="69" grpId="0" animBg="1"/>
      <p:bldP spid="70" grpId="0" animBg="1"/>
      <p:bldP spid="71" grpId="0" animBg="1"/>
      <p:bldP spid="72" grpId="0" animBg="1"/>
      <p:bldP spid="73" grpId="0" animBg="1"/>
      <p:bldP spid="74" grpId="0" animBg="1"/>
      <p:bldP spid="75" grpId="0" animBg="1"/>
      <p:bldP spid="7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A0-eyebrow"/>
          <p:cNvSpPr txBox="1"/>
          <p:nvPr/>
        </p:nvSpPr>
        <p:spPr>
          <a:xfrm>
            <a:off x="685800" y="457200"/>
            <a:ext cx="8229600" cy="274320"/>
          </a:xfrm>
          <a:prstGeom prst="rect">
            <a:avLst/>
          </a:prstGeom>
          <a:noFill/>
          <a:ln/>
        </p:spPr>
        <p:txBody>
          <a:bodyPr wrap="square" lIns="0" tIns="0" rIns="0" bIns="0" rtlCol="0" anchor="t"/>
          <a:lstStyle/>
          <a:p>
            <a:pPr indent="0" marL="0">
              <a:buNone/>
            </a:pPr>
            <a:r>
              <a:rPr lang="en-US" sz="1200" spc="300" kern="0" dirty="0">
                <a:solidFill>
                  <a:srgbClr val="0CCCCC"/>
                </a:solidFill>
                <a:latin typeface="Poppins SemiBold" pitchFamily="34" charset="0"/>
                <a:ea typeface="Poppins SemiBold" pitchFamily="34" charset="-122"/>
                <a:cs typeface="Poppins SemiBold" pitchFamily="34" charset="-120"/>
              </a:rPr>
              <a:t>08  ·  VERIFY EVERYTHING</a:t>
            </a:r>
            <a:endParaRPr lang="en-US" sz="1200" dirty="0"/>
          </a:p>
        </p:txBody>
      </p:sp>
      <p:sp>
        <p:nvSpPr>
          <p:cNvPr id="4" name="Text 1"/>
          <p:cNvSpPr/>
          <p:nvPr>
            <p:ph idx="102" type="title" hasCustomPrompt="1"/>
          </p:nvPr>
        </p:nvSpPr>
        <p:spPr>
          <a:xfrm>
            <a:off x="685800" y="749808"/>
            <a:ext cx="10820095" cy="685800"/>
          </a:xfrm>
          <a:prstGeom prst="rect">
            <a:avLst/>
          </a:prstGeom>
          <a:noFill/>
          <a:ln/>
        </p:spPr>
        <p:txBody>
          <a:bodyPr wrap="square" lIns="0" tIns="0" rIns="0" bIns="0" rtlCol="0" anchor="t"/>
          <a:lstStyle/>
          <a:p>
            <a:pPr algn="l" indent="0" marL="0">
              <a:buNone/>
            </a:pPr>
            <a:r>
              <a:rPr lang="en-US" sz="3600" dirty="0">
                <a:solidFill>
                  <a:srgbClr val="FFFFFF"/>
                </a:solidFill>
                <a:latin typeface="Poppins ExtraBold" pitchFamily="34" charset="0"/>
                <a:ea typeface="Poppins ExtraBold" pitchFamily="34" charset="-122"/>
                <a:cs typeface="Poppins ExtraBold" pitchFamily="34" charset="-120"/>
              </a:rPr>
              <a:t>Think Like an Engineer, Not a Prompt Writer</a:t>
            </a:r>
            <a:endParaRPr lang="en-US" sz="3600" dirty="0"/>
          </a:p>
        </p:txBody>
      </p:sp>
      <p:sp>
        <p:nvSpPr>
          <p:cNvPr id="5" name="A1-win"/>
          <p:cNvSpPr/>
          <p:nvPr/>
        </p:nvSpPr>
        <p:spPr>
          <a:xfrm>
            <a:off x="685800" y="1691640"/>
            <a:ext cx="5989320" cy="3749040"/>
          </a:xfrm>
          <a:prstGeom prst="roundRect">
            <a:avLst>
              <a:gd name="adj" fmla="val 3415"/>
            </a:avLst>
          </a:prstGeom>
          <a:solidFill>
            <a:srgbClr val="081112"/>
          </a:solidFill>
          <a:ln w="9525">
            <a:solidFill>
              <a:srgbClr val="1F3537"/>
            </a:solidFill>
            <a:prstDash val="solid"/>
          </a:ln>
        </p:spPr>
      </p:sp>
      <p:sp>
        <p:nvSpPr>
          <p:cNvPr id="6" name="A1-dot0"/>
          <p:cNvSpPr/>
          <p:nvPr/>
        </p:nvSpPr>
        <p:spPr>
          <a:xfrm>
            <a:off x="886968" y="1874520"/>
            <a:ext cx="118872" cy="118872"/>
          </a:xfrm>
          <a:prstGeom prst="ellipse">
            <a:avLst/>
          </a:prstGeom>
          <a:solidFill>
            <a:srgbClr val="FF4D4D"/>
          </a:solidFill>
          <a:ln/>
        </p:spPr>
      </p:sp>
      <p:sp>
        <p:nvSpPr>
          <p:cNvPr id="7" name="A1-dot1"/>
          <p:cNvSpPr/>
          <p:nvPr/>
        </p:nvSpPr>
        <p:spPr>
          <a:xfrm>
            <a:off x="1088136" y="1874520"/>
            <a:ext cx="118872" cy="118872"/>
          </a:xfrm>
          <a:prstGeom prst="ellipse">
            <a:avLst/>
          </a:prstGeom>
          <a:solidFill>
            <a:srgbClr val="F2B544"/>
          </a:solidFill>
          <a:ln/>
        </p:spPr>
      </p:sp>
      <p:sp>
        <p:nvSpPr>
          <p:cNvPr id="8" name="A1-dot2"/>
          <p:cNvSpPr/>
          <p:nvPr/>
        </p:nvSpPr>
        <p:spPr>
          <a:xfrm>
            <a:off x="1289304" y="1874520"/>
            <a:ext cx="118872" cy="118872"/>
          </a:xfrm>
          <a:prstGeom prst="ellipse">
            <a:avLst/>
          </a:prstGeom>
          <a:solidFill>
            <a:srgbClr val="36C26E"/>
          </a:solidFill>
          <a:ln/>
        </p:spPr>
      </p:sp>
      <p:sp>
        <p:nvSpPr>
          <p:cNvPr id="9" name="A1-file"/>
          <p:cNvSpPr txBox="1"/>
          <p:nvPr/>
        </p:nvSpPr>
        <p:spPr>
          <a:xfrm>
            <a:off x="1600200" y="1819656"/>
            <a:ext cx="4114800" cy="237744"/>
          </a:xfrm>
          <a:prstGeom prst="rect">
            <a:avLst/>
          </a:prstGeom>
          <a:noFill/>
          <a:ln/>
        </p:spPr>
        <p:txBody>
          <a:bodyPr wrap="square" lIns="0" tIns="0" rIns="0" bIns="0" rtlCol="0" anchor="t"/>
          <a:lstStyle/>
          <a:p>
            <a:pPr indent="0" marL="0">
              <a:buNone/>
            </a:pPr>
            <a:r>
              <a:rPr lang="en-US" sz="1100" dirty="0">
                <a:solidFill>
                  <a:srgbClr val="6E8282"/>
                </a:solidFill>
                <a:latin typeface="Poppins" pitchFamily="34" charset="0"/>
                <a:ea typeface="Poppins" pitchFamily="34" charset="-122"/>
                <a:cs typeface="Poppins" pitchFamily="34" charset="-120"/>
              </a:rPr>
              <a:t>users.py  ·  generated by AI in 4 seconds</a:t>
            </a:r>
            <a:endParaRPr lang="en-US" sz="1100" dirty="0"/>
          </a:p>
        </p:txBody>
      </p:sp>
      <p:sp>
        <p:nvSpPr>
          <p:cNvPr id="10" name="A1-spot"/>
          <p:cNvSpPr/>
          <p:nvPr/>
        </p:nvSpPr>
        <p:spPr>
          <a:xfrm>
            <a:off x="4892040" y="1810512"/>
            <a:ext cx="1600200" cy="256032"/>
          </a:xfrm>
          <a:prstGeom prst="roundRect">
            <a:avLst>
              <a:gd name="adj" fmla="val 50000"/>
            </a:avLst>
          </a:prstGeom>
          <a:solidFill>
            <a:srgbClr val="FF4D4D"/>
          </a:solidFill>
          <a:ln/>
        </p:spPr>
      </p:sp>
      <p:sp>
        <p:nvSpPr>
          <p:cNvPr id="11" name="A1-spotT"/>
          <p:cNvSpPr txBox="1"/>
          <p:nvPr/>
        </p:nvSpPr>
        <p:spPr>
          <a:xfrm>
            <a:off x="4892040" y="1810512"/>
            <a:ext cx="160020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SPOT 4 BUGS · 60s</a:t>
            </a:r>
            <a:endParaRPr lang="en-US" sz="1000" dirty="0"/>
          </a:p>
        </p:txBody>
      </p:sp>
      <p:sp>
        <p:nvSpPr>
          <p:cNvPr id="12" name="Text 9"/>
          <p:cNvSpPr txBox="1"/>
          <p:nvPr/>
        </p:nvSpPr>
        <p:spPr>
          <a:xfrm>
            <a:off x="868680" y="2258568"/>
            <a:ext cx="228600" cy="274320"/>
          </a:xfrm>
          <a:prstGeom prst="rect">
            <a:avLst/>
          </a:prstGeom>
          <a:noFill/>
          <a:ln/>
        </p:spPr>
        <p:txBody>
          <a:bodyPr wrap="square" lIns="0" tIns="0" rIns="0" bIns="0" rtlCol="0" anchor="ctr"/>
          <a:lstStyle/>
          <a:p>
            <a:pPr algn="r" indent="0" marL="0">
              <a:buNone/>
            </a:pPr>
            <a:r>
              <a:rPr lang="en-US" sz="1200" dirty="0">
                <a:solidFill>
                  <a:srgbClr val="3E5455"/>
                </a:solidFill>
                <a:latin typeface="Courier New" pitchFamily="34" charset="0"/>
                <a:ea typeface="Courier New" pitchFamily="34" charset="-122"/>
                <a:cs typeface="Courier New" pitchFamily="34" charset="-120"/>
              </a:rPr>
              <a:t>1</a:t>
            </a:r>
            <a:endParaRPr lang="en-US" sz="1200" dirty="0"/>
          </a:p>
        </p:txBody>
      </p:sp>
      <p:sp>
        <p:nvSpPr>
          <p:cNvPr id="13" name="A1-code0"/>
          <p:cNvSpPr txBox="1"/>
          <p:nvPr/>
        </p:nvSpPr>
        <p:spPr>
          <a:xfrm>
            <a:off x="1234440" y="2258568"/>
            <a:ext cx="5303520" cy="274320"/>
          </a:xfrm>
          <a:prstGeom prst="rect">
            <a:avLst/>
          </a:prstGeom>
          <a:noFill/>
          <a:ln/>
        </p:spPr>
        <p:txBody>
          <a:bodyPr wrap="square" lIns="0" tIns="0" rIns="0" bIns="0" rtlCol="0" anchor="ctr"/>
          <a:lstStyle/>
          <a:p>
            <a:pPr indent="0" marL="0">
              <a:buNone/>
            </a:pPr>
            <a:r>
              <a:rPr lang="en-US" sz="1100" dirty="0">
                <a:solidFill>
                  <a:srgbClr val="8FE3E3"/>
                </a:solidFill>
                <a:latin typeface="Courier New" pitchFamily="34" charset="0"/>
                <a:ea typeface="Courier New" pitchFamily="34" charset="-122"/>
                <a:cs typeface="Courier New" pitchFamily="34" charset="-120"/>
              </a:rPr>
              <a:t>@app</a:t>
            </a:r>
            <a:pPr indent="0" marL="0">
              <a:buNone/>
            </a:pPr>
            <a:r>
              <a:rPr lang="en-US" sz="1100" dirty="0">
                <a:solidFill>
                  <a:srgbClr val="D6E2E2"/>
                </a:solidFill>
                <a:latin typeface="Courier New" pitchFamily="34" charset="0"/>
                <a:ea typeface="Courier New" pitchFamily="34" charset="-122"/>
                <a:cs typeface="Courier New" pitchFamily="34" charset="-120"/>
              </a:rPr>
              <a:t>.get(</a:t>
            </a:r>
            <a:pPr indent="0" marL="0">
              <a:buNone/>
            </a:pPr>
            <a:r>
              <a:rPr lang="en-US" sz="1100" dirty="0">
                <a:solidFill>
                  <a:srgbClr val="F2B57A"/>
                </a:solidFill>
                <a:latin typeface="Courier New" pitchFamily="34" charset="0"/>
                <a:ea typeface="Courier New" pitchFamily="34" charset="-122"/>
                <a:cs typeface="Courier New" pitchFamily="34" charset="-120"/>
              </a:rPr>
              <a:t>"/users/{user_id}"</a:t>
            </a:r>
            <a:pPr indent="0" marL="0">
              <a:buNone/>
            </a:pPr>
            <a:r>
              <a:rPr lang="en-US" sz="1100" dirty="0">
                <a:solidFill>
                  <a:srgbClr val="D6E2E2"/>
                </a:solidFill>
                <a:latin typeface="Courier New" pitchFamily="34" charset="0"/>
                <a:ea typeface="Courier New" pitchFamily="34" charset="-122"/>
                <a:cs typeface="Courier New" pitchFamily="34" charset="-120"/>
              </a:rPr>
              <a:t>)</a:t>
            </a:r>
            <a:endParaRPr lang="en-US" sz="1100" dirty="0"/>
          </a:p>
        </p:txBody>
      </p:sp>
      <p:sp>
        <p:nvSpPr>
          <p:cNvPr id="14" name="Text 11"/>
          <p:cNvSpPr txBox="1"/>
          <p:nvPr/>
        </p:nvSpPr>
        <p:spPr>
          <a:xfrm>
            <a:off x="868680" y="2532888"/>
            <a:ext cx="228600" cy="274320"/>
          </a:xfrm>
          <a:prstGeom prst="rect">
            <a:avLst/>
          </a:prstGeom>
          <a:noFill/>
          <a:ln/>
        </p:spPr>
        <p:txBody>
          <a:bodyPr wrap="square" lIns="0" tIns="0" rIns="0" bIns="0" rtlCol="0" anchor="ctr"/>
          <a:lstStyle/>
          <a:p>
            <a:pPr algn="r" indent="0" marL="0">
              <a:buNone/>
            </a:pPr>
            <a:r>
              <a:rPr lang="en-US" sz="1200" dirty="0">
                <a:solidFill>
                  <a:srgbClr val="3E5455"/>
                </a:solidFill>
                <a:latin typeface="Courier New" pitchFamily="34" charset="0"/>
                <a:ea typeface="Courier New" pitchFamily="34" charset="-122"/>
                <a:cs typeface="Courier New" pitchFamily="34" charset="-120"/>
              </a:rPr>
              <a:t>2</a:t>
            </a:r>
            <a:endParaRPr lang="en-US" sz="1200" dirty="0"/>
          </a:p>
        </p:txBody>
      </p:sp>
      <p:sp>
        <p:nvSpPr>
          <p:cNvPr id="15" name="A1-code1"/>
          <p:cNvSpPr txBox="1"/>
          <p:nvPr/>
        </p:nvSpPr>
        <p:spPr>
          <a:xfrm>
            <a:off x="1234440" y="2532888"/>
            <a:ext cx="5303520" cy="274320"/>
          </a:xfrm>
          <a:prstGeom prst="rect">
            <a:avLst/>
          </a:prstGeom>
          <a:noFill/>
          <a:ln/>
        </p:spPr>
        <p:txBody>
          <a:bodyPr wrap="square" lIns="0" tIns="0" rIns="0" bIns="0" rtlCol="0" anchor="ctr"/>
          <a:lstStyle/>
          <a:p>
            <a:pPr indent="0" marL="0">
              <a:buNone/>
            </a:pPr>
            <a:r>
              <a:rPr lang="en-US" sz="1100" dirty="0">
                <a:solidFill>
                  <a:srgbClr val="0CCCCC"/>
                </a:solidFill>
                <a:latin typeface="Courier New" pitchFamily="34" charset="0"/>
                <a:ea typeface="Courier New" pitchFamily="34" charset="-122"/>
                <a:cs typeface="Courier New" pitchFamily="34" charset="-120"/>
              </a:rPr>
              <a:t>def </a:t>
            </a:r>
            <a:pPr indent="0" marL="0">
              <a:buNone/>
            </a:pPr>
            <a:r>
              <a:rPr lang="en-US" sz="1100" dirty="0">
                <a:solidFill>
                  <a:srgbClr val="D6E2E2"/>
                </a:solidFill>
                <a:latin typeface="Courier New" pitchFamily="34" charset="0"/>
                <a:ea typeface="Courier New" pitchFamily="34" charset="-122"/>
                <a:cs typeface="Courier New" pitchFamily="34" charset="-120"/>
              </a:rPr>
              <a:t>get_user(user_id):</a:t>
            </a:r>
            <a:endParaRPr lang="en-US" sz="1100" dirty="0"/>
          </a:p>
        </p:txBody>
      </p:sp>
      <p:sp>
        <p:nvSpPr>
          <p:cNvPr id="16" name="Text 13"/>
          <p:cNvSpPr txBox="1"/>
          <p:nvPr/>
        </p:nvSpPr>
        <p:spPr>
          <a:xfrm>
            <a:off x="868680" y="2807208"/>
            <a:ext cx="228600" cy="274320"/>
          </a:xfrm>
          <a:prstGeom prst="rect">
            <a:avLst/>
          </a:prstGeom>
          <a:noFill/>
          <a:ln/>
        </p:spPr>
        <p:txBody>
          <a:bodyPr wrap="square" lIns="0" tIns="0" rIns="0" bIns="0" rtlCol="0" anchor="ctr"/>
          <a:lstStyle/>
          <a:p>
            <a:pPr algn="r" indent="0" marL="0">
              <a:buNone/>
            </a:pPr>
            <a:r>
              <a:rPr lang="en-US" sz="1200" dirty="0">
                <a:solidFill>
                  <a:srgbClr val="3E5455"/>
                </a:solidFill>
                <a:latin typeface="Courier New" pitchFamily="34" charset="0"/>
                <a:ea typeface="Courier New" pitchFamily="34" charset="-122"/>
                <a:cs typeface="Courier New" pitchFamily="34" charset="-120"/>
              </a:rPr>
              <a:t>3</a:t>
            </a:r>
            <a:endParaRPr lang="en-US" sz="1200" dirty="0"/>
          </a:p>
        </p:txBody>
      </p:sp>
      <p:sp>
        <p:nvSpPr>
          <p:cNvPr id="17" name="A1-code2"/>
          <p:cNvSpPr txBox="1"/>
          <p:nvPr/>
        </p:nvSpPr>
        <p:spPr>
          <a:xfrm>
            <a:off x="1234440" y="2807208"/>
            <a:ext cx="5303520" cy="274320"/>
          </a:xfrm>
          <a:prstGeom prst="rect">
            <a:avLst/>
          </a:prstGeom>
          <a:noFill/>
          <a:ln/>
        </p:spPr>
        <p:txBody>
          <a:bodyPr wrap="square" lIns="0" tIns="0" rIns="0" bIns="0" rtlCol="0" anchor="ctr"/>
          <a:lstStyle/>
          <a:p>
            <a:pPr indent="0" marL="0">
              <a:buNone/>
            </a:pPr>
            <a:r>
              <a:rPr lang="en-US" sz="1100" dirty="0">
                <a:solidFill>
                  <a:srgbClr val="D6E2E2"/>
                </a:solidFill>
                <a:latin typeface="Courier New" pitchFamily="34" charset="0"/>
                <a:ea typeface="Courier New" pitchFamily="34" charset="-122"/>
                <a:cs typeface="Courier New" pitchFamily="34" charset="-120"/>
              </a:rPr>
              <a:t>    query = </a:t>
            </a:r>
            <a:pPr indent="0" marL="0">
              <a:buNone/>
            </a:pPr>
            <a:r>
              <a:rPr lang="en-US" sz="1100" dirty="0">
                <a:solidFill>
                  <a:srgbClr val="F2B57A"/>
                </a:solidFill>
                <a:latin typeface="Courier New" pitchFamily="34" charset="0"/>
                <a:ea typeface="Courier New" pitchFamily="34" charset="-122"/>
                <a:cs typeface="Courier New" pitchFamily="34" charset="-120"/>
              </a:rPr>
              <a:t>f"SELECT * FROM users WHERE id = {user_id}"</a:t>
            </a:r>
            <a:endParaRPr lang="en-US" sz="1100" dirty="0"/>
          </a:p>
        </p:txBody>
      </p:sp>
      <p:sp>
        <p:nvSpPr>
          <p:cNvPr id="18" name="Text 15"/>
          <p:cNvSpPr txBox="1"/>
          <p:nvPr/>
        </p:nvSpPr>
        <p:spPr>
          <a:xfrm>
            <a:off x="868680" y="3081528"/>
            <a:ext cx="228600" cy="274320"/>
          </a:xfrm>
          <a:prstGeom prst="rect">
            <a:avLst/>
          </a:prstGeom>
          <a:noFill/>
          <a:ln/>
        </p:spPr>
        <p:txBody>
          <a:bodyPr wrap="square" lIns="0" tIns="0" rIns="0" bIns="0" rtlCol="0" anchor="ctr"/>
          <a:lstStyle/>
          <a:p>
            <a:pPr algn="r" indent="0" marL="0">
              <a:buNone/>
            </a:pPr>
            <a:r>
              <a:rPr lang="en-US" sz="1200" dirty="0">
                <a:solidFill>
                  <a:srgbClr val="3E5455"/>
                </a:solidFill>
                <a:latin typeface="Courier New" pitchFamily="34" charset="0"/>
                <a:ea typeface="Courier New" pitchFamily="34" charset="-122"/>
                <a:cs typeface="Courier New" pitchFamily="34" charset="-120"/>
              </a:rPr>
              <a:t>4</a:t>
            </a:r>
            <a:endParaRPr lang="en-US" sz="1200" dirty="0"/>
          </a:p>
        </p:txBody>
      </p:sp>
      <p:sp>
        <p:nvSpPr>
          <p:cNvPr id="19" name="A1-code3"/>
          <p:cNvSpPr txBox="1"/>
          <p:nvPr/>
        </p:nvSpPr>
        <p:spPr>
          <a:xfrm>
            <a:off x="1234440" y="3081528"/>
            <a:ext cx="5303520" cy="274320"/>
          </a:xfrm>
          <a:prstGeom prst="rect">
            <a:avLst/>
          </a:prstGeom>
          <a:noFill/>
          <a:ln/>
        </p:spPr>
        <p:txBody>
          <a:bodyPr wrap="square" lIns="0" tIns="0" rIns="0" bIns="0" rtlCol="0" anchor="ctr"/>
          <a:lstStyle/>
          <a:p>
            <a:pPr indent="0" marL="0">
              <a:buNone/>
            </a:pPr>
            <a:r>
              <a:rPr lang="en-US" sz="1100" dirty="0">
                <a:solidFill>
                  <a:srgbClr val="D6E2E2"/>
                </a:solidFill>
                <a:latin typeface="Courier New" pitchFamily="34" charset="0"/>
                <a:ea typeface="Courier New" pitchFamily="34" charset="-122"/>
                <a:cs typeface="Courier New" pitchFamily="34" charset="-120"/>
              </a:rPr>
              <a:t>    user = db.execute(query).fetchone()</a:t>
            </a:r>
            <a:endParaRPr lang="en-US" sz="1100" dirty="0"/>
          </a:p>
        </p:txBody>
      </p:sp>
      <p:sp>
        <p:nvSpPr>
          <p:cNvPr id="20" name="Text 17"/>
          <p:cNvSpPr txBox="1"/>
          <p:nvPr/>
        </p:nvSpPr>
        <p:spPr>
          <a:xfrm>
            <a:off x="868680" y="3355848"/>
            <a:ext cx="228600" cy="274320"/>
          </a:xfrm>
          <a:prstGeom prst="rect">
            <a:avLst/>
          </a:prstGeom>
          <a:noFill/>
          <a:ln/>
        </p:spPr>
        <p:txBody>
          <a:bodyPr wrap="square" lIns="0" tIns="0" rIns="0" bIns="0" rtlCol="0" anchor="ctr"/>
          <a:lstStyle/>
          <a:p>
            <a:pPr algn="r" indent="0" marL="0">
              <a:buNone/>
            </a:pPr>
            <a:r>
              <a:rPr lang="en-US" sz="1200" dirty="0">
                <a:solidFill>
                  <a:srgbClr val="3E5455"/>
                </a:solidFill>
                <a:latin typeface="Courier New" pitchFamily="34" charset="0"/>
                <a:ea typeface="Courier New" pitchFamily="34" charset="-122"/>
                <a:cs typeface="Courier New" pitchFamily="34" charset="-120"/>
              </a:rPr>
              <a:t>5</a:t>
            </a:r>
            <a:endParaRPr lang="en-US" sz="1200" dirty="0"/>
          </a:p>
        </p:txBody>
      </p:sp>
      <p:sp>
        <p:nvSpPr>
          <p:cNvPr id="21" name="A1-code4"/>
          <p:cNvSpPr txBox="1"/>
          <p:nvPr/>
        </p:nvSpPr>
        <p:spPr>
          <a:xfrm>
            <a:off x="1234440" y="3355848"/>
            <a:ext cx="5303520" cy="274320"/>
          </a:xfrm>
          <a:prstGeom prst="rect">
            <a:avLst/>
          </a:prstGeom>
          <a:noFill/>
          <a:ln/>
        </p:spPr>
        <p:txBody>
          <a:bodyPr wrap="square" lIns="0" tIns="0" rIns="0" bIns="0" rtlCol="0" anchor="ctr"/>
          <a:lstStyle/>
          <a:p>
            <a:pPr indent="0" marL="0">
              <a:buNone/>
            </a:pPr>
            <a:r>
              <a:rPr lang="en-US" sz="1100" dirty="0">
                <a:solidFill>
                  <a:srgbClr val="0CCCCC"/>
                </a:solidFill>
                <a:latin typeface="Courier New" pitchFamily="34" charset="0"/>
                <a:ea typeface="Courier New" pitchFamily="34" charset="-122"/>
                <a:cs typeface="Courier New" pitchFamily="34" charset="-120"/>
              </a:rPr>
              <a:t>    return </a:t>
            </a:r>
            <a:pPr indent="0" marL="0">
              <a:buNone/>
            </a:pPr>
            <a:r>
              <a:rPr lang="en-US" sz="1100" dirty="0">
                <a:solidFill>
                  <a:srgbClr val="D6E2E2"/>
                </a:solidFill>
                <a:latin typeface="Courier New" pitchFamily="34" charset="0"/>
                <a:ea typeface="Courier New" pitchFamily="34" charset="-122"/>
                <a:cs typeface="Courier New" pitchFamily="34" charset="-120"/>
              </a:rPr>
              <a:t>user</a:t>
            </a:r>
            <a:endParaRPr lang="en-US" sz="1100" dirty="0"/>
          </a:p>
        </p:txBody>
      </p:sp>
      <p:sp>
        <p:nvSpPr>
          <p:cNvPr id="22" name="A3-m0"/>
          <p:cNvSpPr/>
          <p:nvPr/>
        </p:nvSpPr>
        <p:spPr>
          <a:xfrm>
            <a:off x="6291072" y="2834640"/>
            <a:ext cx="228600" cy="228600"/>
          </a:xfrm>
          <a:prstGeom prst="ellipse">
            <a:avLst/>
          </a:prstGeom>
          <a:solidFill>
            <a:srgbClr val="FF4D4D"/>
          </a:solidFill>
          <a:ln/>
        </p:spPr>
      </p:sp>
      <p:sp>
        <p:nvSpPr>
          <p:cNvPr id="23" name="A3-mt0"/>
          <p:cNvSpPr txBox="1"/>
          <p:nvPr/>
        </p:nvSpPr>
        <p:spPr>
          <a:xfrm>
            <a:off x="6291072" y="2834640"/>
            <a:ext cx="228600" cy="228600"/>
          </a:xfrm>
          <a:prstGeom prst="rect">
            <a:avLst/>
          </a:prstGeom>
          <a:noFill/>
          <a:ln/>
        </p:spPr>
        <p:txBody>
          <a:bodyPr wrap="square" lIns="0" tIns="0" rIns="0" bIns="0" rtlCol="0" anchor="ctr"/>
          <a:lstStyle/>
          <a:p>
            <a:pPr algn="ctr" indent="0" marL="0">
              <a:buNone/>
            </a:pPr>
            <a:r>
              <a:rPr lang="en-US" sz="900" dirty="0">
                <a:solidFill>
                  <a:srgbClr val="FFFFFF"/>
                </a:solidFill>
                <a:latin typeface="Poppins ExtraBold" pitchFamily="34" charset="0"/>
                <a:ea typeface="Poppins ExtraBold" pitchFamily="34" charset="-122"/>
                <a:cs typeface="Poppins ExtraBold" pitchFamily="34" charset="-120"/>
              </a:rPr>
              <a:t>1</a:t>
            </a:r>
            <a:endParaRPr lang="en-US" sz="900" dirty="0"/>
          </a:p>
        </p:txBody>
      </p:sp>
      <p:sp>
        <p:nvSpPr>
          <p:cNvPr id="24" name="A3-m1"/>
          <p:cNvSpPr/>
          <p:nvPr/>
        </p:nvSpPr>
        <p:spPr>
          <a:xfrm>
            <a:off x="6291072" y="2286000"/>
            <a:ext cx="228600" cy="228600"/>
          </a:xfrm>
          <a:prstGeom prst="ellipse">
            <a:avLst/>
          </a:prstGeom>
          <a:solidFill>
            <a:srgbClr val="FF4D4D"/>
          </a:solidFill>
          <a:ln/>
        </p:spPr>
      </p:sp>
      <p:sp>
        <p:nvSpPr>
          <p:cNvPr id="25" name="A3-mt1"/>
          <p:cNvSpPr txBox="1"/>
          <p:nvPr/>
        </p:nvSpPr>
        <p:spPr>
          <a:xfrm>
            <a:off x="6291072" y="2286000"/>
            <a:ext cx="228600" cy="228600"/>
          </a:xfrm>
          <a:prstGeom prst="rect">
            <a:avLst/>
          </a:prstGeom>
          <a:noFill/>
          <a:ln/>
        </p:spPr>
        <p:txBody>
          <a:bodyPr wrap="square" lIns="0" tIns="0" rIns="0" bIns="0" rtlCol="0" anchor="ctr"/>
          <a:lstStyle/>
          <a:p>
            <a:pPr algn="ctr" indent="0" marL="0">
              <a:buNone/>
            </a:pPr>
            <a:r>
              <a:rPr lang="en-US" sz="900" dirty="0">
                <a:solidFill>
                  <a:srgbClr val="FFFFFF"/>
                </a:solidFill>
                <a:latin typeface="Poppins ExtraBold" pitchFamily="34" charset="0"/>
                <a:ea typeface="Poppins ExtraBold" pitchFamily="34" charset="-122"/>
                <a:cs typeface="Poppins ExtraBold" pitchFamily="34" charset="-120"/>
              </a:rPr>
              <a:t>2</a:t>
            </a:r>
            <a:endParaRPr lang="en-US" sz="900" dirty="0"/>
          </a:p>
        </p:txBody>
      </p:sp>
      <p:sp>
        <p:nvSpPr>
          <p:cNvPr id="26" name="A3-m2"/>
          <p:cNvSpPr/>
          <p:nvPr/>
        </p:nvSpPr>
        <p:spPr>
          <a:xfrm>
            <a:off x="6291072" y="3383280"/>
            <a:ext cx="228600" cy="228600"/>
          </a:xfrm>
          <a:prstGeom prst="ellipse">
            <a:avLst/>
          </a:prstGeom>
          <a:solidFill>
            <a:srgbClr val="FF4D4D"/>
          </a:solidFill>
          <a:ln/>
        </p:spPr>
      </p:sp>
      <p:sp>
        <p:nvSpPr>
          <p:cNvPr id="27" name="A3-mt2"/>
          <p:cNvSpPr txBox="1"/>
          <p:nvPr/>
        </p:nvSpPr>
        <p:spPr>
          <a:xfrm>
            <a:off x="6291072" y="3383280"/>
            <a:ext cx="228600" cy="228600"/>
          </a:xfrm>
          <a:prstGeom prst="rect">
            <a:avLst/>
          </a:prstGeom>
          <a:noFill/>
          <a:ln/>
        </p:spPr>
        <p:txBody>
          <a:bodyPr wrap="square" lIns="0" tIns="0" rIns="0" bIns="0" rtlCol="0" anchor="ctr"/>
          <a:lstStyle/>
          <a:p>
            <a:pPr algn="ctr" indent="0" marL="0">
              <a:buNone/>
            </a:pPr>
            <a:r>
              <a:rPr lang="en-US" sz="900" dirty="0">
                <a:solidFill>
                  <a:srgbClr val="FFFFFF"/>
                </a:solidFill>
                <a:latin typeface="Poppins ExtraBold" pitchFamily="34" charset="0"/>
                <a:ea typeface="Poppins ExtraBold" pitchFamily="34" charset="-122"/>
                <a:cs typeface="Poppins ExtraBold" pitchFamily="34" charset="-120"/>
              </a:rPr>
              <a:t>3</a:t>
            </a:r>
            <a:endParaRPr lang="en-US" sz="900" dirty="0"/>
          </a:p>
        </p:txBody>
      </p:sp>
      <p:sp>
        <p:nvSpPr>
          <p:cNvPr id="28" name="A3-m3"/>
          <p:cNvSpPr/>
          <p:nvPr/>
        </p:nvSpPr>
        <p:spPr>
          <a:xfrm>
            <a:off x="5989320" y="3383280"/>
            <a:ext cx="228600" cy="228600"/>
          </a:xfrm>
          <a:prstGeom prst="ellipse">
            <a:avLst/>
          </a:prstGeom>
          <a:solidFill>
            <a:srgbClr val="FF4D4D"/>
          </a:solidFill>
          <a:ln/>
        </p:spPr>
      </p:sp>
      <p:sp>
        <p:nvSpPr>
          <p:cNvPr id="29" name="A3-mt3"/>
          <p:cNvSpPr txBox="1"/>
          <p:nvPr/>
        </p:nvSpPr>
        <p:spPr>
          <a:xfrm>
            <a:off x="5989320" y="3383280"/>
            <a:ext cx="228600" cy="228600"/>
          </a:xfrm>
          <a:prstGeom prst="rect">
            <a:avLst/>
          </a:prstGeom>
          <a:noFill/>
          <a:ln/>
        </p:spPr>
        <p:txBody>
          <a:bodyPr wrap="square" lIns="0" tIns="0" rIns="0" bIns="0" rtlCol="0" anchor="ctr"/>
          <a:lstStyle/>
          <a:p>
            <a:pPr algn="ctr" indent="0" marL="0">
              <a:buNone/>
            </a:pPr>
            <a:r>
              <a:rPr lang="en-US" sz="900" dirty="0">
                <a:solidFill>
                  <a:srgbClr val="FFFFFF"/>
                </a:solidFill>
                <a:latin typeface="Poppins ExtraBold" pitchFamily="34" charset="0"/>
                <a:ea typeface="Poppins ExtraBold" pitchFamily="34" charset="-122"/>
                <a:cs typeface="Poppins ExtraBold" pitchFamily="34" charset="-120"/>
              </a:rPr>
              <a:t>4</a:t>
            </a:r>
            <a:endParaRPr lang="en-US" sz="900" dirty="0"/>
          </a:p>
        </p:txBody>
      </p:sp>
      <p:sp>
        <p:nvSpPr>
          <p:cNvPr id="30" name="Shape 27"/>
          <p:cNvSpPr/>
          <p:nvPr/>
        </p:nvSpPr>
        <p:spPr>
          <a:xfrm>
            <a:off x="868680" y="3749040"/>
            <a:ext cx="5623560" cy="914"/>
          </a:xfrm>
          <a:prstGeom prst="line">
            <a:avLst/>
          </a:prstGeom>
          <a:noFill/>
          <a:ln w="9525">
            <a:solidFill>
              <a:srgbClr val="1F3537"/>
            </a:solidFill>
            <a:prstDash val="solid"/>
          </a:ln>
        </p:spPr>
      </p:sp>
      <p:sp>
        <p:nvSpPr>
          <p:cNvPr id="31" name="A3-fl"/>
          <p:cNvSpPr txBox="1"/>
          <p:nvPr/>
        </p:nvSpPr>
        <p:spPr>
          <a:xfrm>
            <a:off x="914400" y="3904488"/>
            <a:ext cx="2743200" cy="228600"/>
          </a:xfrm>
          <a:prstGeom prst="rect">
            <a:avLst/>
          </a:prstGeom>
          <a:noFill/>
          <a:ln/>
        </p:spPr>
        <p:txBody>
          <a:bodyPr wrap="square" lIns="0" tIns="0" rIns="0" bIns="0" rtlCol="0" anchor="t"/>
          <a:lstStyle/>
          <a:p>
            <a:pPr indent="0" marL="0">
              <a:buNone/>
            </a:pPr>
            <a:r>
              <a:rPr lang="en-US" sz="1000" spc="200" kern="0" dirty="0">
                <a:solidFill>
                  <a:srgbClr val="FF4D4D"/>
                </a:solidFill>
                <a:latin typeface="Poppins SemiBold" pitchFamily="34" charset="0"/>
                <a:ea typeface="Poppins SemiBold" pitchFamily="34" charset="-122"/>
                <a:cs typeface="Poppins SemiBold" pitchFamily="34" charset="-120"/>
              </a:rPr>
              <a:t>REVIEW FINDINGS</a:t>
            </a:r>
            <a:endParaRPr lang="en-US" sz="1000" dirty="0"/>
          </a:p>
        </p:txBody>
      </p:sp>
      <p:sp>
        <p:nvSpPr>
          <p:cNvPr id="32" name="A3-f0"/>
          <p:cNvSpPr/>
          <p:nvPr/>
        </p:nvSpPr>
        <p:spPr>
          <a:xfrm>
            <a:off x="914400" y="4233672"/>
            <a:ext cx="201168" cy="201168"/>
          </a:xfrm>
          <a:prstGeom prst="ellipse">
            <a:avLst/>
          </a:prstGeom>
          <a:solidFill>
            <a:srgbClr val="FF4D4D"/>
          </a:solidFill>
          <a:ln/>
        </p:spPr>
      </p:sp>
      <p:sp>
        <p:nvSpPr>
          <p:cNvPr id="33" name="A3-fn0"/>
          <p:cNvSpPr txBox="1"/>
          <p:nvPr/>
        </p:nvSpPr>
        <p:spPr>
          <a:xfrm>
            <a:off x="914400" y="4233672"/>
            <a:ext cx="201168" cy="201168"/>
          </a:xfrm>
          <a:prstGeom prst="rect">
            <a:avLst/>
          </a:prstGeom>
          <a:noFill/>
          <a:ln/>
        </p:spPr>
        <p:txBody>
          <a:bodyPr wrap="square" lIns="0" tIns="0" rIns="0" bIns="0" rtlCol="0" anchor="ctr"/>
          <a:lstStyle/>
          <a:p>
            <a:pPr algn="ctr" indent="0" marL="0">
              <a:buNone/>
            </a:pPr>
            <a:r>
              <a:rPr lang="en-US" sz="800" dirty="0">
                <a:solidFill>
                  <a:srgbClr val="FFFFFF"/>
                </a:solidFill>
                <a:latin typeface="Poppins ExtraBold" pitchFamily="34" charset="0"/>
                <a:ea typeface="Poppins ExtraBold" pitchFamily="34" charset="-122"/>
                <a:cs typeface="Poppins ExtraBold" pitchFamily="34" charset="-120"/>
              </a:rPr>
              <a:t>1</a:t>
            </a:r>
            <a:endParaRPr lang="en-US" sz="800" dirty="0"/>
          </a:p>
        </p:txBody>
      </p:sp>
      <p:sp>
        <p:nvSpPr>
          <p:cNvPr id="34" name="A3-ft0"/>
          <p:cNvSpPr txBox="1"/>
          <p:nvPr/>
        </p:nvSpPr>
        <p:spPr>
          <a:xfrm>
            <a:off x="1234440" y="4206240"/>
            <a:ext cx="5257800" cy="256032"/>
          </a:xfrm>
          <a:prstGeom prst="rect">
            <a:avLst/>
          </a:prstGeom>
          <a:noFill/>
          <a:ln/>
        </p:spPr>
        <p:txBody>
          <a:bodyPr wrap="square" lIns="0" tIns="0" rIns="0" bIns="0" rtlCol="0" anchor="ctr"/>
          <a:lstStyle/>
          <a:p>
            <a:pPr indent="0" marL="0">
              <a:buNone/>
            </a:pPr>
            <a:r>
              <a:rPr lang="en-US" sz="1200" dirty="0">
                <a:solidFill>
                  <a:srgbClr val="FFFFFF"/>
                </a:solidFill>
                <a:latin typeface="Poppins" pitchFamily="34" charset="0"/>
                <a:ea typeface="Poppins" pitchFamily="34" charset="-122"/>
                <a:cs typeface="Poppins" pitchFamily="34" charset="-120"/>
              </a:rPr>
              <a:t>SQL injection: user input pasted straight into the query</a:t>
            </a:r>
            <a:endParaRPr lang="en-US" sz="1200" dirty="0"/>
          </a:p>
        </p:txBody>
      </p:sp>
      <p:sp>
        <p:nvSpPr>
          <p:cNvPr id="35" name="A3-f1"/>
          <p:cNvSpPr/>
          <p:nvPr/>
        </p:nvSpPr>
        <p:spPr>
          <a:xfrm>
            <a:off x="914400" y="4526280"/>
            <a:ext cx="201168" cy="201168"/>
          </a:xfrm>
          <a:prstGeom prst="ellipse">
            <a:avLst/>
          </a:prstGeom>
          <a:solidFill>
            <a:srgbClr val="FF4D4D"/>
          </a:solidFill>
          <a:ln/>
        </p:spPr>
      </p:sp>
      <p:sp>
        <p:nvSpPr>
          <p:cNvPr id="36" name="A3-fn1"/>
          <p:cNvSpPr txBox="1"/>
          <p:nvPr/>
        </p:nvSpPr>
        <p:spPr>
          <a:xfrm>
            <a:off x="914400" y="4526280"/>
            <a:ext cx="201168" cy="201168"/>
          </a:xfrm>
          <a:prstGeom prst="rect">
            <a:avLst/>
          </a:prstGeom>
          <a:noFill/>
          <a:ln/>
        </p:spPr>
        <p:txBody>
          <a:bodyPr wrap="square" lIns="0" tIns="0" rIns="0" bIns="0" rtlCol="0" anchor="ctr"/>
          <a:lstStyle/>
          <a:p>
            <a:pPr algn="ctr" indent="0" marL="0">
              <a:buNone/>
            </a:pPr>
            <a:r>
              <a:rPr lang="en-US" sz="800" dirty="0">
                <a:solidFill>
                  <a:srgbClr val="FFFFFF"/>
                </a:solidFill>
                <a:latin typeface="Poppins ExtraBold" pitchFamily="34" charset="0"/>
                <a:ea typeface="Poppins ExtraBold" pitchFamily="34" charset="-122"/>
                <a:cs typeface="Poppins ExtraBold" pitchFamily="34" charset="-120"/>
              </a:rPr>
              <a:t>2</a:t>
            </a:r>
            <a:endParaRPr lang="en-US" sz="800" dirty="0"/>
          </a:p>
        </p:txBody>
      </p:sp>
      <p:sp>
        <p:nvSpPr>
          <p:cNvPr id="37" name="A3-ft1"/>
          <p:cNvSpPr txBox="1"/>
          <p:nvPr/>
        </p:nvSpPr>
        <p:spPr>
          <a:xfrm>
            <a:off x="1234440" y="4498848"/>
            <a:ext cx="5257800" cy="256032"/>
          </a:xfrm>
          <a:prstGeom prst="rect">
            <a:avLst/>
          </a:prstGeom>
          <a:noFill/>
          <a:ln/>
        </p:spPr>
        <p:txBody>
          <a:bodyPr wrap="square" lIns="0" tIns="0" rIns="0" bIns="0" rtlCol="0" anchor="ctr"/>
          <a:lstStyle/>
          <a:p>
            <a:pPr indent="0" marL="0">
              <a:buNone/>
            </a:pPr>
            <a:r>
              <a:rPr lang="en-US" sz="1200" dirty="0">
                <a:solidFill>
                  <a:srgbClr val="FFFFFF"/>
                </a:solidFill>
                <a:latin typeface="Poppins" pitchFamily="34" charset="0"/>
                <a:ea typeface="Poppins" pitchFamily="34" charset="-122"/>
                <a:cs typeface="Poppins" pitchFamily="34" charset="-120"/>
              </a:rPr>
              <a:t>No authentication: anyone can read any user</a:t>
            </a:r>
            <a:endParaRPr lang="en-US" sz="1200" dirty="0"/>
          </a:p>
        </p:txBody>
      </p:sp>
      <p:sp>
        <p:nvSpPr>
          <p:cNvPr id="38" name="A3-f2"/>
          <p:cNvSpPr/>
          <p:nvPr/>
        </p:nvSpPr>
        <p:spPr>
          <a:xfrm>
            <a:off x="914400" y="4818888"/>
            <a:ext cx="201168" cy="201168"/>
          </a:xfrm>
          <a:prstGeom prst="ellipse">
            <a:avLst/>
          </a:prstGeom>
          <a:solidFill>
            <a:srgbClr val="FF4D4D"/>
          </a:solidFill>
          <a:ln/>
        </p:spPr>
      </p:sp>
      <p:sp>
        <p:nvSpPr>
          <p:cNvPr id="39" name="A3-fn2"/>
          <p:cNvSpPr txBox="1"/>
          <p:nvPr/>
        </p:nvSpPr>
        <p:spPr>
          <a:xfrm>
            <a:off x="914400" y="4818888"/>
            <a:ext cx="201168" cy="201168"/>
          </a:xfrm>
          <a:prstGeom prst="rect">
            <a:avLst/>
          </a:prstGeom>
          <a:noFill/>
          <a:ln/>
        </p:spPr>
        <p:txBody>
          <a:bodyPr wrap="square" lIns="0" tIns="0" rIns="0" bIns="0" rtlCol="0" anchor="ctr"/>
          <a:lstStyle/>
          <a:p>
            <a:pPr algn="ctr" indent="0" marL="0">
              <a:buNone/>
            </a:pPr>
            <a:r>
              <a:rPr lang="en-US" sz="800" dirty="0">
                <a:solidFill>
                  <a:srgbClr val="FFFFFF"/>
                </a:solidFill>
                <a:latin typeface="Poppins ExtraBold" pitchFamily="34" charset="0"/>
                <a:ea typeface="Poppins ExtraBold" pitchFamily="34" charset="-122"/>
                <a:cs typeface="Poppins ExtraBold" pitchFamily="34" charset="-120"/>
              </a:rPr>
              <a:t>3</a:t>
            </a:r>
            <a:endParaRPr lang="en-US" sz="800" dirty="0"/>
          </a:p>
        </p:txBody>
      </p:sp>
      <p:sp>
        <p:nvSpPr>
          <p:cNvPr id="40" name="A3-ft2"/>
          <p:cNvSpPr txBox="1"/>
          <p:nvPr/>
        </p:nvSpPr>
        <p:spPr>
          <a:xfrm>
            <a:off x="1234440" y="4791456"/>
            <a:ext cx="5257800" cy="256032"/>
          </a:xfrm>
          <a:prstGeom prst="rect">
            <a:avLst/>
          </a:prstGeom>
          <a:noFill/>
          <a:ln/>
        </p:spPr>
        <p:txBody>
          <a:bodyPr wrap="square" lIns="0" tIns="0" rIns="0" bIns="0" rtlCol="0" anchor="ctr"/>
          <a:lstStyle/>
          <a:p>
            <a:pPr indent="0" marL="0">
              <a:buNone/>
            </a:pPr>
            <a:r>
              <a:rPr lang="en-US" sz="1200" dirty="0">
                <a:solidFill>
                  <a:srgbClr val="FFFFFF"/>
                </a:solidFill>
                <a:latin typeface="Poppins" pitchFamily="34" charset="0"/>
                <a:ea typeface="Poppins" pitchFamily="34" charset="-122"/>
                <a:cs typeface="Poppins" pitchFamily="34" charset="-120"/>
              </a:rPr>
              <a:t>Leaks password_hash and private fields in the response</a:t>
            </a:r>
            <a:endParaRPr lang="en-US" sz="1200" dirty="0"/>
          </a:p>
        </p:txBody>
      </p:sp>
      <p:sp>
        <p:nvSpPr>
          <p:cNvPr id="41" name="A3-f3"/>
          <p:cNvSpPr/>
          <p:nvPr/>
        </p:nvSpPr>
        <p:spPr>
          <a:xfrm>
            <a:off x="914400" y="5111496"/>
            <a:ext cx="201168" cy="201168"/>
          </a:xfrm>
          <a:prstGeom prst="ellipse">
            <a:avLst/>
          </a:prstGeom>
          <a:solidFill>
            <a:srgbClr val="FF4D4D"/>
          </a:solidFill>
          <a:ln/>
        </p:spPr>
      </p:sp>
      <p:sp>
        <p:nvSpPr>
          <p:cNvPr id="42" name="A3-fn3"/>
          <p:cNvSpPr txBox="1"/>
          <p:nvPr/>
        </p:nvSpPr>
        <p:spPr>
          <a:xfrm>
            <a:off x="914400" y="5111496"/>
            <a:ext cx="201168" cy="201168"/>
          </a:xfrm>
          <a:prstGeom prst="rect">
            <a:avLst/>
          </a:prstGeom>
          <a:noFill/>
          <a:ln/>
        </p:spPr>
        <p:txBody>
          <a:bodyPr wrap="square" lIns="0" tIns="0" rIns="0" bIns="0" rtlCol="0" anchor="ctr"/>
          <a:lstStyle/>
          <a:p>
            <a:pPr algn="ctr" indent="0" marL="0">
              <a:buNone/>
            </a:pPr>
            <a:r>
              <a:rPr lang="en-US" sz="800" dirty="0">
                <a:solidFill>
                  <a:srgbClr val="FFFFFF"/>
                </a:solidFill>
                <a:latin typeface="Poppins ExtraBold" pitchFamily="34" charset="0"/>
                <a:ea typeface="Poppins ExtraBold" pitchFamily="34" charset="-122"/>
                <a:cs typeface="Poppins ExtraBold" pitchFamily="34" charset="-120"/>
              </a:rPr>
              <a:t>4</a:t>
            </a:r>
            <a:endParaRPr lang="en-US" sz="800" dirty="0"/>
          </a:p>
        </p:txBody>
      </p:sp>
      <p:sp>
        <p:nvSpPr>
          <p:cNvPr id="43" name="A3-ft3"/>
          <p:cNvSpPr txBox="1"/>
          <p:nvPr/>
        </p:nvSpPr>
        <p:spPr>
          <a:xfrm>
            <a:off x="1234440" y="5084064"/>
            <a:ext cx="5257800" cy="256032"/>
          </a:xfrm>
          <a:prstGeom prst="rect">
            <a:avLst/>
          </a:prstGeom>
          <a:noFill/>
          <a:ln/>
        </p:spPr>
        <p:txBody>
          <a:bodyPr wrap="square" lIns="0" tIns="0" rIns="0" bIns="0" rtlCol="0" anchor="ctr"/>
          <a:lstStyle/>
          <a:p>
            <a:pPr indent="0" marL="0">
              <a:buNone/>
            </a:pPr>
            <a:r>
              <a:rPr lang="en-US" sz="1200" dirty="0">
                <a:solidFill>
                  <a:srgbClr val="FFFFFF"/>
                </a:solidFill>
                <a:latin typeface="Poppins" pitchFamily="34" charset="0"/>
                <a:ea typeface="Poppins" pitchFamily="34" charset="-122"/>
                <a:cs typeface="Poppins" pitchFamily="34" charset="-120"/>
              </a:rPr>
              <a:t>No 404: a missing user returns null, not an error</a:t>
            </a:r>
            <a:endParaRPr lang="en-US" sz="1200" dirty="0"/>
          </a:p>
        </p:txBody>
      </p:sp>
      <p:sp>
        <p:nvSpPr>
          <p:cNvPr id="44" name="A4-verdict"/>
          <p:cNvSpPr txBox="1"/>
          <p:nvPr/>
        </p:nvSpPr>
        <p:spPr>
          <a:xfrm>
            <a:off x="685800" y="5650992"/>
            <a:ext cx="6035040" cy="457200"/>
          </a:xfrm>
          <a:prstGeom prst="rect">
            <a:avLst/>
          </a:prstGeom>
          <a:noFill/>
          <a:ln/>
        </p:spPr>
        <p:txBody>
          <a:bodyPr wrap="square" lIns="0" tIns="0" rIns="0" bIns="0" rtlCol="0" anchor="t"/>
          <a:lstStyle/>
          <a:p>
            <a:pPr indent="0" marL="0">
              <a:buNone/>
            </a:pPr>
            <a:r>
              <a:rPr lang="en-US" sz="2100" dirty="0">
                <a:solidFill>
                  <a:srgbClr val="FFFFFF"/>
                </a:solidFill>
                <a:latin typeface="Poppins ExtraBold" pitchFamily="34" charset="0"/>
                <a:ea typeface="Poppins ExtraBold" pitchFamily="34" charset="-122"/>
                <a:cs typeface="Poppins ExtraBold" pitchFamily="34" charset="-120"/>
              </a:rPr>
              <a:t>“It runs” </a:t>
            </a:r>
            <a:pPr indent="0" marL="0">
              <a:buNone/>
            </a:pPr>
            <a:r>
              <a:rPr lang="en-US" sz="2100" dirty="0">
                <a:solidFill>
                  <a:srgbClr val="9FB0B0"/>
                </a:solidFill>
                <a:latin typeface="Poppins ExtraBold" pitchFamily="34" charset="0"/>
                <a:ea typeface="Poppins ExtraBold" pitchFamily="34" charset="-122"/>
                <a:cs typeface="Poppins ExtraBold" pitchFamily="34" charset="-120"/>
              </a:rPr>
              <a:t>is not the same as </a:t>
            </a:r>
            <a:pPr indent="0" marL="0">
              <a:buNone/>
            </a:pPr>
            <a:r>
              <a:rPr lang="en-US" sz="2100" dirty="0">
                <a:solidFill>
                  <a:srgbClr val="0CCCCC"/>
                </a:solidFill>
                <a:latin typeface="Poppins ExtraBold" pitchFamily="34" charset="0"/>
                <a:ea typeface="Poppins ExtraBold" pitchFamily="34" charset="-122"/>
                <a:cs typeface="Poppins ExtraBold" pitchFamily="34" charset="-120"/>
              </a:rPr>
              <a:t>“it’s right.”</a:t>
            </a:r>
            <a:endParaRPr lang="en-US" sz="2100" dirty="0"/>
          </a:p>
        </p:txBody>
      </p:sp>
      <p:sp>
        <p:nvSpPr>
          <p:cNvPr id="45" name="A2-cl"/>
          <p:cNvSpPr txBox="1"/>
          <p:nvPr/>
        </p:nvSpPr>
        <p:spPr>
          <a:xfrm>
            <a:off x="6949440" y="1691640"/>
            <a:ext cx="4556455" cy="256032"/>
          </a:xfrm>
          <a:prstGeom prst="rect">
            <a:avLst/>
          </a:prstGeom>
          <a:noFill/>
          <a:ln/>
        </p:spPr>
        <p:txBody>
          <a:bodyPr wrap="square" lIns="0" tIns="0" rIns="0" bIns="0" rtlCol="0" anchor="t"/>
          <a:lstStyle/>
          <a:p>
            <a:pPr indent="0" marL="0">
              <a:buNone/>
            </a:pPr>
            <a:r>
              <a:rPr lang="en-US" sz="1100" spc="200" kern="0" dirty="0">
                <a:solidFill>
                  <a:srgbClr val="0CCCCC"/>
                </a:solidFill>
                <a:latin typeface="Poppins SemiBold" pitchFamily="34" charset="0"/>
                <a:ea typeface="Poppins SemiBold" pitchFamily="34" charset="-122"/>
                <a:cs typeface="Poppins SemiBold" pitchFamily="34" charset="-120"/>
              </a:rPr>
              <a:t>THE ENGINEER'S REVIEW</a:t>
            </a:r>
            <a:endParaRPr lang="en-US" sz="1100" dirty="0"/>
          </a:p>
        </p:txBody>
      </p:sp>
      <p:sp>
        <p:nvSpPr>
          <p:cNvPr id="46" name="A2-ci0"/>
          <p:cNvSpPr/>
          <p:nvPr/>
        </p:nvSpPr>
        <p:spPr>
          <a:xfrm>
            <a:off x="6949440" y="2029968"/>
            <a:ext cx="548640" cy="548640"/>
          </a:xfrm>
          <a:prstGeom prst="ellipse">
            <a:avLst/>
          </a:prstGeom>
          <a:solidFill>
            <a:srgbClr val="122021"/>
          </a:solidFill>
          <a:ln w="12700">
            <a:solidFill>
              <a:srgbClr val="01A3A3"/>
            </a:solidFill>
            <a:prstDash val="solid"/>
          </a:ln>
        </p:spPr>
      </p:sp>
      <p:pic>
        <p:nvPicPr>
          <p:cNvPr id="47" name="A2-ci0-i" descr="preencoded.png">    </p:cNvPr>
          <p:cNvPicPr>
            <a:picLocks noChangeAspect="1"/>
          </p:cNvPicPr>
          <p:nvPr/>
        </p:nvPicPr>
        <p:blipFill>
          <a:blip r:embed="rId1"/>
          <a:stretch>
            <a:fillRect/>
          </a:stretch>
        </p:blipFill>
        <p:spPr>
          <a:xfrm>
            <a:off x="7081114" y="2161642"/>
            <a:ext cx="285293" cy="285293"/>
          </a:xfrm>
          <a:prstGeom prst="rect">
            <a:avLst/>
          </a:prstGeom>
        </p:spPr>
      </p:pic>
      <p:sp>
        <p:nvSpPr>
          <p:cNvPr id="48" name="A2-ct0"/>
          <p:cNvSpPr txBox="1"/>
          <p:nvPr/>
        </p:nvSpPr>
        <p:spPr>
          <a:xfrm>
            <a:off x="7680960" y="2011680"/>
            <a:ext cx="3824935"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Architecture</a:t>
            </a:r>
            <a:endParaRPr lang="en-US" sz="1600" dirty="0"/>
          </a:p>
        </p:txBody>
      </p:sp>
      <p:sp>
        <p:nvSpPr>
          <p:cNvPr id="49" name="A2-cd0"/>
          <p:cNvSpPr txBox="1"/>
          <p:nvPr/>
        </p:nvSpPr>
        <p:spPr>
          <a:xfrm>
            <a:off x="7680960" y="2304288"/>
            <a:ext cx="3824935" cy="457200"/>
          </a:xfrm>
          <a:prstGeom prst="rect">
            <a:avLst/>
          </a:prstGeom>
          <a:noFill/>
          <a:ln/>
        </p:spPr>
        <p:txBody>
          <a:bodyPr wrap="square" lIns="0" tIns="0" rIns="0" bIns="0" rtlCol="0" anchor="t"/>
          <a:lstStyle/>
          <a:p>
            <a:pPr indent="0" marL="0">
              <a:buNone/>
            </a:pPr>
            <a:r>
              <a:rPr lang="en-US" sz="1300" dirty="0">
                <a:solidFill>
                  <a:srgbClr val="9FB0B0"/>
                </a:solidFill>
                <a:latin typeface="Poppins" pitchFamily="34" charset="0"/>
                <a:ea typeface="Poppins" pitchFamily="34" charset="-122"/>
                <a:cs typeface="Poppins" pitchFamily="34" charset="-120"/>
              </a:rPr>
              <a:t>Does it fit our structure, or is it a hack?</a:t>
            </a:r>
            <a:endParaRPr lang="en-US" sz="1300" dirty="0"/>
          </a:p>
        </p:txBody>
      </p:sp>
      <p:sp>
        <p:nvSpPr>
          <p:cNvPr id="50" name="A2-ci1"/>
          <p:cNvSpPr/>
          <p:nvPr/>
        </p:nvSpPr>
        <p:spPr>
          <a:xfrm>
            <a:off x="6949440" y="2852928"/>
            <a:ext cx="548640" cy="548640"/>
          </a:xfrm>
          <a:prstGeom prst="ellipse">
            <a:avLst/>
          </a:prstGeom>
          <a:solidFill>
            <a:srgbClr val="122021"/>
          </a:solidFill>
          <a:ln w="12700">
            <a:solidFill>
              <a:srgbClr val="01A3A3"/>
            </a:solidFill>
            <a:prstDash val="solid"/>
          </a:ln>
        </p:spPr>
      </p:sp>
      <p:pic>
        <p:nvPicPr>
          <p:cNvPr id="51" name="A2-ci1-i" descr="preencoded.png">    </p:cNvPr>
          <p:cNvPicPr>
            <a:picLocks noChangeAspect="1"/>
          </p:cNvPicPr>
          <p:nvPr/>
        </p:nvPicPr>
        <p:blipFill>
          <a:blip r:embed="rId2"/>
          <a:stretch>
            <a:fillRect/>
          </a:stretch>
        </p:blipFill>
        <p:spPr>
          <a:xfrm>
            <a:off x="7081114" y="2984602"/>
            <a:ext cx="285293" cy="285293"/>
          </a:xfrm>
          <a:prstGeom prst="rect">
            <a:avLst/>
          </a:prstGeom>
        </p:spPr>
      </p:pic>
      <p:sp>
        <p:nvSpPr>
          <p:cNvPr id="52" name="A2-ct1"/>
          <p:cNvSpPr txBox="1"/>
          <p:nvPr/>
        </p:nvSpPr>
        <p:spPr>
          <a:xfrm>
            <a:off x="7680960" y="2834640"/>
            <a:ext cx="3824935"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Logic</a:t>
            </a:r>
            <a:endParaRPr lang="en-US" sz="1600" dirty="0"/>
          </a:p>
        </p:txBody>
      </p:sp>
      <p:sp>
        <p:nvSpPr>
          <p:cNvPr id="53" name="A2-cd1"/>
          <p:cNvSpPr txBox="1"/>
          <p:nvPr/>
        </p:nvSpPr>
        <p:spPr>
          <a:xfrm>
            <a:off x="7680960" y="3127248"/>
            <a:ext cx="3824935" cy="457200"/>
          </a:xfrm>
          <a:prstGeom prst="rect">
            <a:avLst/>
          </a:prstGeom>
          <a:noFill/>
          <a:ln/>
        </p:spPr>
        <p:txBody>
          <a:bodyPr wrap="square" lIns="0" tIns="0" rIns="0" bIns="0" rtlCol="0" anchor="t"/>
          <a:lstStyle/>
          <a:p>
            <a:pPr indent="0" marL="0">
              <a:buNone/>
            </a:pPr>
            <a:r>
              <a:rPr lang="en-US" sz="1300" dirty="0">
                <a:solidFill>
                  <a:srgbClr val="9FB0B0"/>
                </a:solidFill>
                <a:latin typeface="Poppins" pitchFamily="34" charset="0"/>
                <a:ea typeface="Poppins" pitchFamily="34" charset="-122"/>
                <a:cs typeface="Poppins" pitchFamily="34" charset="-120"/>
              </a:rPr>
              <a:t>What happens with empty or weird input?</a:t>
            </a:r>
            <a:endParaRPr lang="en-US" sz="1300" dirty="0"/>
          </a:p>
        </p:txBody>
      </p:sp>
      <p:sp>
        <p:nvSpPr>
          <p:cNvPr id="54" name="A2-ci2"/>
          <p:cNvSpPr/>
          <p:nvPr/>
        </p:nvSpPr>
        <p:spPr>
          <a:xfrm>
            <a:off x="6949440" y="3675888"/>
            <a:ext cx="548640" cy="548640"/>
          </a:xfrm>
          <a:prstGeom prst="ellipse">
            <a:avLst/>
          </a:prstGeom>
          <a:solidFill>
            <a:srgbClr val="122021"/>
          </a:solidFill>
          <a:ln w="12700">
            <a:solidFill>
              <a:srgbClr val="01A3A3"/>
            </a:solidFill>
            <a:prstDash val="solid"/>
          </a:ln>
        </p:spPr>
      </p:sp>
      <p:pic>
        <p:nvPicPr>
          <p:cNvPr id="55" name="A2-ci2-i" descr="preencoded.png">    </p:cNvPr>
          <p:cNvPicPr>
            <a:picLocks noChangeAspect="1"/>
          </p:cNvPicPr>
          <p:nvPr/>
        </p:nvPicPr>
        <p:blipFill>
          <a:blip r:embed="rId3"/>
          <a:stretch>
            <a:fillRect/>
          </a:stretch>
        </p:blipFill>
        <p:spPr>
          <a:xfrm>
            <a:off x="7081114" y="3807562"/>
            <a:ext cx="285293" cy="285293"/>
          </a:xfrm>
          <a:prstGeom prst="rect">
            <a:avLst/>
          </a:prstGeom>
        </p:spPr>
      </p:pic>
      <p:sp>
        <p:nvSpPr>
          <p:cNvPr id="56" name="A2-ct2"/>
          <p:cNvSpPr txBox="1"/>
          <p:nvPr/>
        </p:nvSpPr>
        <p:spPr>
          <a:xfrm>
            <a:off x="7680960" y="3657600"/>
            <a:ext cx="3824935"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Security</a:t>
            </a:r>
            <a:endParaRPr lang="en-US" sz="1600" dirty="0"/>
          </a:p>
        </p:txBody>
      </p:sp>
      <p:sp>
        <p:nvSpPr>
          <p:cNvPr id="57" name="A2-cd2"/>
          <p:cNvSpPr txBox="1"/>
          <p:nvPr/>
        </p:nvSpPr>
        <p:spPr>
          <a:xfrm>
            <a:off x="7680960" y="3950208"/>
            <a:ext cx="3824935" cy="457200"/>
          </a:xfrm>
          <a:prstGeom prst="rect">
            <a:avLst/>
          </a:prstGeom>
          <a:noFill/>
          <a:ln/>
        </p:spPr>
        <p:txBody>
          <a:bodyPr wrap="square" lIns="0" tIns="0" rIns="0" bIns="0" rtlCol="0" anchor="t"/>
          <a:lstStyle/>
          <a:p>
            <a:pPr indent="0" marL="0">
              <a:buNone/>
            </a:pPr>
            <a:r>
              <a:rPr lang="en-US" sz="1300" dirty="0">
                <a:solidFill>
                  <a:srgbClr val="9FB0B0"/>
                </a:solidFill>
                <a:latin typeface="Poppins" pitchFamily="34" charset="0"/>
                <a:ea typeface="Poppins" pitchFamily="34" charset="-122"/>
                <a:cs typeface="Poppins" pitchFamily="34" charset="-120"/>
              </a:rPr>
              <a:t>Can a user reach data that isn't theirs?</a:t>
            </a:r>
            <a:endParaRPr lang="en-US" sz="1300" dirty="0"/>
          </a:p>
        </p:txBody>
      </p:sp>
      <p:sp>
        <p:nvSpPr>
          <p:cNvPr id="58" name="A2-ci3"/>
          <p:cNvSpPr/>
          <p:nvPr/>
        </p:nvSpPr>
        <p:spPr>
          <a:xfrm>
            <a:off x="6949440" y="4498848"/>
            <a:ext cx="548640" cy="548640"/>
          </a:xfrm>
          <a:prstGeom prst="ellipse">
            <a:avLst/>
          </a:prstGeom>
          <a:solidFill>
            <a:srgbClr val="122021"/>
          </a:solidFill>
          <a:ln w="12700">
            <a:solidFill>
              <a:srgbClr val="01A3A3"/>
            </a:solidFill>
            <a:prstDash val="solid"/>
          </a:ln>
        </p:spPr>
      </p:sp>
      <p:pic>
        <p:nvPicPr>
          <p:cNvPr id="59" name="A2-ci3-i" descr="preencoded.png">    </p:cNvPr>
          <p:cNvPicPr>
            <a:picLocks noChangeAspect="1"/>
          </p:cNvPicPr>
          <p:nvPr/>
        </p:nvPicPr>
        <p:blipFill>
          <a:blip r:embed="rId4"/>
          <a:stretch>
            <a:fillRect/>
          </a:stretch>
        </p:blipFill>
        <p:spPr>
          <a:xfrm>
            <a:off x="7081114" y="4630522"/>
            <a:ext cx="285293" cy="285293"/>
          </a:xfrm>
          <a:prstGeom prst="rect">
            <a:avLst/>
          </a:prstGeom>
        </p:spPr>
      </p:pic>
      <p:sp>
        <p:nvSpPr>
          <p:cNvPr id="60" name="A2-ct3"/>
          <p:cNvSpPr txBox="1"/>
          <p:nvPr/>
        </p:nvSpPr>
        <p:spPr>
          <a:xfrm>
            <a:off x="7680960" y="4480560"/>
            <a:ext cx="3824935"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Usability</a:t>
            </a:r>
            <a:endParaRPr lang="en-US" sz="1600" dirty="0"/>
          </a:p>
        </p:txBody>
      </p:sp>
      <p:sp>
        <p:nvSpPr>
          <p:cNvPr id="61" name="A2-cd3"/>
          <p:cNvSpPr txBox="1"/>
          <p:nvPr/>
        </p:nvSpPr>
        <p:spPr>
          <a:xfrm>
            <a:off x="7680960" y="4773168"/>
            <a:ext cx="3824935" cy="457200"/>
          </a:xfrm>
          <a:prstGeom prst="rect">
            <a:avLst/>
          </a:prstGeom>
          <a:noFill/>
          <a:ln/>
        </p:spPr>
        <p:txBody>
          <a:bodyPr wrap="square" lIns="0" tIns="0" rIns="0" bIns="0" rtlCol="0" anchor="t"/>
          <a:lstStyle/>
          <a:p>
            <a:pPr indent="0" marL="0">
              <a:buNone/>
            </a:pPr>
            <a:r>
              <a:rPr lang="en-US" sz="1300" dirty="0">
                <a:solidFill>
                  <a:srgbClr val="9FB0B0"/>
                </a:solidFill>
                <a:latin typeface="Poppins" pitchFamily="34" charset="0"/>
                <a:ea typeface="Poppins" pitchFamily="34" charset="-122"/>
                <a:cs typeface="Poppins" pitchFamily="34" charset="-120"/>
              </a:rPr>
              <a:t>Will a user understand what went wrong?</a:t>
            </a:r>
            <a:endParaRPr lang="en-US" sz="1300" dirty="0"/>
          </a:p>
        </p:txBody>
      </p:sp>
      <p:sp>
        <p:nvSpPr>
          <p:cNvPr id="62" name="A2-ci4"/>
          <p:cNvSpPr/>
          <p:nvPr/>
        </p:nvSpPr>
        <p:spPr>
          <a:xfrm>
            <a:off x="6949440" y="5321808"/>
            <a:ext cx="548640" cy="548640"/>
          </a:xfrm>
          <a:prstGeom prst="ellipse">
            <a:avLst/>
          </a:prstGeom>
          <a:solidFill>
            <a:srgbClr val="122021"/>
          </a:solidFill>
          <a:ln w="12700">
            <a:solidFill>
              <a:srgbClr val="01A3A3"/>
            </a:solidFill>
            <a:prstDash val="solid"/>
          </a:ln>
        </p:spPr>
      </p:sp>
      <p:pic>
        <p:nvPicPr>
          <p:cNvPr id="63" name="A2-ci4-i" descr="preencoded.png">    </p:cNvPr>
          <p:cNvPicPr>
            <a:picLocks noChangeAspect="1"/>
          </p:cNvPicPr>
          <p:nvPr/>
        </p:nvPicPr>
        <p:blipFill>
          <a:blip r:embed="rId5"/>
          <a:stretch>
            <a:fillRect/>
          </a:stretch>
        </p:blipFill>
        <p:spPr>
          <a:xfrm>
            <a:off x="7081114" y="5453482"/>
            <a:ext cx="285293" cy="285293"/>
          </a:xfrm>
          <a:prstGeom prst="rect">
            <a:avLst/>
          </a:prstGeom>
        </p:spPr>
      </p:pic>
      <p:sp>
        <p:nvSpPr>
          <p:cNvPr id="64" name="A2-ct4"/>
          <p:cNvSpPr txBox="1"/>
          <p:nvPr/>
        </p:nvSpPr>
        <p:spPr>
          <a:xfrm>
            <a:off x="7680960" y="5303520"/>
            <a:ext cx="3824935" cy="292608"/>
          </a:xfrm>
          <a:prstGeom prst="rect">
            <a:avLst/>
          </a:prstGeom>
          <a:noFill/>
          <a:ln/>
        </p:spPr>
        <p:txBody>
          <a:bodyPr wrap="square" lIns="0" tIns="0" rIns="0" bIns="0" rtlCol="0" anchor="t"/>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Correctness</a:t>
            </a:r>
            <a:endParaRPr lang="en-US" sz="1600" dirty="0"/>
          </a:p>
        </p:txBody>
      </p:sp>
      <p:sp>
        <p:nvSpPr>
          <p:cNvPr id="65" name="A2-cd4"/>
          <p:cNvSpPr txBox="1"/>
          <p:nvPr/>
        </p:nvSpPr>
        <p:spPr>
          <a:xfrm>
            <a:off x="7680960" y="5596128"/>
            <a:ext cx="3824935" cy="457200"/>
          </a:xfrm>
          <a:prstGeom prst="rect">
            <a:avLst/>
          </a:prstGeom>
          <a:noFill/>
          <a:ln/>
        </p:spPr>
        <p:txBody>
          <a:bodyPr wrap="square" lIns="0" tIns="0" rIns="0" bIns="0" rtlCol="0" anchor="t"/>
          <a:lstStyle/>
          <a:p>
            <a:pPr indent="0" marL="0">
              <a:buNone/>
            </a:pPr>
            <a:r>
              <a:rPr lang="en-US" sz="1300" dirty="0">
                <a:solidFill>
                  <a:srgbClr val="9FB0B0"/>
                </a:solidFill>
                <a:latin typeface="Poppins" pitchFamily="34" charset="0"/>
                <a:ea typeface="Poppins" pitchFamily="34" charset="-122"/>
                <a:cs typeface="Poppins" pitchFamily="34" charset="-120"/>
              </a:rPr>
              <a:t>Which test proves it works? Did I run it?</a:t>
            </a:r>
            <a:endParaRPr lang="en-US" sz="1300" dirty="0"/>
          </a:p>
        </p:txBody>
      </p:sp>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8282"/>
                </a:solidFill>
                <a:latin typeface="Poppins SemiBold"/>
                <a:ea typeface="Poppins SemiBold"/>
                <a:cs typeface="Poppins SemiBold"/>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80"/>
                                        <p:tgtEl>
                                          <p:spTgt spid="3"/>
                                        </p:tgtEl>
                                      </p:cBhvr>
                                    </p:animEffect>
                                  </p:childTnLst>
                                </p:cTn>
                              </p:par>
                              <p:par>
                                <p:cTn id="8" presetID="10" presetClass="entr" presetSubtype="0" fill="hold" grpId="0" nodeType="withEffect">
                                  <p:stCondLst>
                                    <p:cond delay="32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80"/>
                                        <p:tgtEl>
                                          <p:spTgt spid="5"/>
                                        </p:tgtEl>
                                      </p:cBhvr>
                                    </p:animEffect>
                                  </p:childTnLst>
                                </p:cTn>
                              </p:par>
                              <p:par>
                                <p:cTn id="11" presetID="10" presetClass="entr" presetSubtype="0" fill="hold" grpId="0"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80"/>
                                        <p:tgtEl>
                                          <p:spTgt spid="6"/>
                                        </p:tgtEl>
                                      </p:cBhvr>
                                    </p:animEffect>
                                  </p:childTnLst>
                                </p:cTn>
                              </p:par>
                              <p:par>
                                <p:cTn id="14" presetID="10" presetClass="entr" presetSubtype="0" fill="hold" grpId="0" nodeType="withEffect">
                                  <p:stCondLst>
                                    <p:cond delay="32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80"/>
                                        <p:tgtEl>
                                          <p:spTgt spid="7"/>
                                        </p:tgtEl>
                                      </p:cBhvr>
                                    </p:animEffect>
                                  </p:childTnLst>
                                </p:cTn>
                              </p:par>
                              <p:par>
                                <p:cTn id="17" presetID="10" presetClass="entr" presetSubtype="0" fill="hold" grpId="0" nodeType="withEffect">
                                  <p:stCondLst>
                                    <p:cond delay="32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80"/>
                                        <p:tgtEl>
                                          <p:spTgt spid="8"/>
                                        </p:tgtEl>
                                      </p:cBhvr>
                                    </p:animEffect>
                                  </p:childTnLst>
                                </p:cTn>
                              </p:par>
                              <p:par>
                                <p:cTn id="20" presetID="10" presetClass="entr" presetSubtype="0" fill="hold" grpId="0" nodeType="withEffect">
                                  <p:stCondLst>
                                    <p:cond delay="32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80"/>
                                        <p:tgtEl>
                                          <p:spTgt spid="9"/>
                                        </p:tgtEl>
                                      </p:cBhvr>
                                    </p:animEffect>
                                  </p:childTnLst>
                                </p:cTn>
                              </p:par>
                              <p:par>
                                <p:cTn id="23" presetID="10" presetClass="entr" presetSubtype="0" fill="hold" grpId="0" nodeType="withEffect">
                                  <p:stCondLst>
                                    <p:cond delay="32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80"/>
                                        <p:tgtEl>
                                          <p:spTgt spid="10"/>
                                        </p:tgtEl>
                                      </p:cBhvr>
                                    </p:animEffect>
                                  </p:childTnLst>
                                </p:cTn>
                              </p:par>
                              <p:par>
                                <p:cTn id="26" presetID="10" presetClass="entr" presetSubtype="0" fill="hold" grpId="0" nodeType="withEffect">
                                  <p:stCondLst>
                                    <p:cond delay="3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80"/>
                                        <p:tgtEl>
                                          <p:spTgt spid="11"/>
                                        </p:tgtEl>
                                      </p:cBhvr>
                                    </p:animEffect>
                                  </p:childTnLst>
                                </p:cTn>
                              </p:par>
                              <p:par>
                                <p:cTn id="29" presetID="10" presetClass="entr" presetSubtype="0" fill="hold" grpId="0" nodeType="withEffect">
                                  <p:stCondLst>
                                    <p:cond delay="32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80"/>
                                        <p:tgtEl>
                                          <p:spTgt spid="13"/>
                                        </p:tgtEl>
                                      </p:cBhvr>
                                    </p:animEffect>
                                  </p:childTnLst>
                                </p:cTn>
                              </p:par>
                              <p:par>
                                <p:cTn id="32" presetID="10" presetClass="entr" presetSubtype="0" fill="hold" grpId="0" nodeType="withEffect">
                                  <p:stCondLst>
                                    <p:cond delay="32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80"/>
                                        <p:tgtEl>
                                          <p:spTgt spid="15"/>
                                        </p:tgtEl>
                                      </p:cBhvr>
                                    </p:animEffect>
                                  </p:childTnLst>
                                </p:cTn>
                              </p:par>
                              <p:par>
                                <p:cTn id="35" presetID="10" presetClass="entr" presetSubtype="0" fill="hold" grpId="0" nodeType="withEffect">
                                  <p:stCondLst>
                                    <p:cond delay="32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80"/>
                                        <p:tgtEl>
                                          <p:spTgt spid="17"/>
                                        </p:tgtEl>
                                      </p:cBhvr>
                                    </p:animEffect>
                                  </p:childTnLst>
                                </p:cTn>
                              </p:par>
                              <p:par>
                                <p:cTn id="38" presetID="10" presetClass="entr" presetSubtype="0" fill="hold" grpId="0" nodeType="withEffect">
                                  <p:stCondLst>
                                    <p:cond delay="32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80"/>
                                        <p:tgtEl>
                                          <p:spTgt spid="19"/>
                                        </p:tgtEl>
                                      </p:cBhvr>
                                    </p:animEffect>
                                  </p:childTnLst>
                                </p:cTn>
                              </p:par>
                              <p:par>
                                <p:cTn id="41" presetID="10" presetClass="entr" presetSubtype="0" fill="hold" grpId="0" nodeType="withEffect">
                                  <p:stCondLst>
                                    <p:cond delay="32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80"/>
                                        <p:tgtEl>
                                          <p:spTgt spid="21"/>
                                        </p:tgtEl>
                                      </p:cBhvr>
                                    </p:animEffect>
                                  </p:childTnLst>
                                </p:cTn>
                              </p:par>
                              <p:par>
                                <p:cTn id="44" presetID="10" presetClass="entr" presetSubtype="0" fill="hold" grpId="0" nodeType="withEffect">
                                  <p:stCondLst>
                                    <p:cond delay="640"/>
                                  </p:stCondLst>
                                  <p:childTnLst>
                                    <p:set>
                                      <p:cBhvr>
                                        <p:cTn id="45" dur="1" fill="hold">
                                          <p:stCondLst>
                                            <p:cond delay="0"/>
                                          </p:stCondLst>
                                        </p:cTn>
                                        <p:tgtEl>
                                          <p:spTgt spid="45"/>
                                        </p:tgtEl>
                                        <p:attrNameLst>
                                          <p:attrName>style.visibility</p:attrName>
                                        </p:attrNameLst>
                                      </p:cBhvr>
                                      <p:to>
                                        <p:strVal val="visible"/>
                                      </p:to>
                                    </p:set>
                                    <p:animEffect transition="in" filter="fade">
                                      <p:cBhvr>
                                        <p:cTn id="46" dur="480"/>
                                        <p:tgtEl>
                                          <p:spTgt spid="45"/>
                                        </p:tgtEl>
                                      </p:cBhvr>
                                    </p:animEffect>
                                  </p:childTnLst>
                                </p:cTn>
                              </p:par>
                              <p:par>
                                <p:cTn id="47" presetID="10" presetClass="entr" presetSubtype="0" fill="hold" grpId="0" nodeType="withEffect">
                                  <p:stCondLst>
                                    <p:cond delay="640"/>
                                  </p:stCondLst>
                                  <p:childTnLst>
                                    <p:set>
                                      <p:cBhvr>
                                        <p:cTn id="48" dur="1" fill="hold">
                                          <p:stCondLst>
                                            <p:cond delay="0"/>
                                          </p:stCondLst>
                                        </p:cTn>
                                        <p:tgtEl>
                                          <p:spTgt spid="46"/>
                                        </p:tgtEl>
                                        <p:attrNameLst>
                                          <p:attrName>style.visibility</p:attrName>
                                        </p:attrNameLst>
                                      </p:cBhvr>
                                      <p:to>
                                        <p:strVal val="visible"/>
                                      </p:to>
                                    </p:set>
                                    <p:animEffect transition="in" filter="fade">
                                      <p:cBhvr>
                                        <p:cTn id="49" dur="480"/>
                                        <p:tgtEl>
                                          <p:spTgt spid="46"/>
                                        </p:tgtEl>
                                      </p:cBhvr>
                                    </p:animEffect>
                                  </p:childTnLst>
                                </p:cTn>
                              </p:par>
                              <p:par>
                                <p:cTn id="50" presetID="10" presetClass="entr" presetSubtype="0" fill="hold" grpId="0" nodeType="withEffect">
                                  <p:stCondLst>
                                    <p:cond delay="64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480"/>
                                        <p:tgtEl>
                                          <p:spTgt spid="47"/>
                                        </p:tgtEl>
                                      </p:cBhvr>
                                    </p:animEffect>
                                  </p:childTnLst>
                                </p:cTn>
                              </p:par>
                              <p:par>
                                <p:cTn id="53" presetID="10" presetClass="entr" presetSubtype="0" fill="hold" grpId="0" nodeType="withEffect">
                                  <p:stCondLst>
                                    <p:cond delay="64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480"/>
                                        <p:tgtEl>
                                          <p:spTgt spid="48"/>
                                        </p:tgtEl>
                                      </p:cBhvr>
                                    </p:animEffect>
                                  </p:childTnLst>
                                </p:cTn>
                              </p:par>
                              <p:par>
                                <p:cTn id="56" presetID="10" presetClass="entr" presetSubtype="0" fill="hold" grpId="0" nodeType="withEffect">
                                  <p:stCondLst>
                                    <p:cond delay="64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480"/>
                                        <p:tgtEl>
                                          <p:spTgt spid="49"/>
                                        </p:tgtEl>
                                      </p:cBhvr>
                                    </p:animEffect>
                                  </p:childTnLst>
                                </p:cTn>
                              </p:par>
                              <p:par>
                                <p:cTn id="59" presetID="10" presetClass="entr" presetSubtype="0" fill="hold" grpId="0" nodeType="withEffect">
                                  <p:stCondLst>
                                    <p:cond delay="640"/>
                                  </p:stCondLst>
                                  <p:childTnLst>
                                    <p:set>
                                      <p:cBhvr>
                                        <p:cTn id="60" dur="1" fill="hold">
                                          <p:stCondLst>
                                            <p:cond delay="0"/>
                                          </p:stCondLst>
                                        </p:cTn>
                                        <p:tgtEl>
                                          <p:spTgt spid="50"/>
                                        </p:tgtEl>
                                        <p:attrNameLst>
                                          <p:attrName>style.visibility</p:attrName>
                                        </p:attrNameLst>
                                      </p:cBhvr>
                                      <p:to>
                                        <p:strVal val="visible"/>
                                      </p:to>
                                    </p:set>
                                    <p:animEffect transition="in" filter="fade">
                                      <p:cBhvr>
                                        <p:cTn id="61" dur="480"/>
                                        <p:tgtEl>
                                          <p:spTgt spid="50"/>
                                        </p:tgtEl>
                                      </p:cBhvr>
                                    </p:animEffect>
                                  </p:childTnLst>
                                </p:cTn>
                              </p:par>
                              <p:par>
                                <p:cTn id="62" presetID="10" presetClass="entr" presetSubtype="0" fill="hold" grpId="0" nodeType="withEffect">
                                  <p:stCondLst>
                                    <p:cond delay="640"/>
                                  </p:stCondLst>
                                  <p:childTnLst>
                                    <p:set>
                                      <p:cBhvr>
                                        <p:cTn id="63" dur="1" fill="hold">
                                          <p:stCondLst>
                                            <p:cond delay="0"/>
                                          </p:stCondLst>
                                        </p:cTn>
                                        <p:tgtEl>
                                          <p:spTgt spid="51"/>
                                        </p:tgtEl>
                                        <p:attrNameLst>
                                          <p:attrName>style.visibility</p:attrName>
                                        </p:attrNameLst>
                                      </p:cBhvr>
                                      <p:to>
                                        <p:strVal val="visible"/>
                                      </p:to>
                                    </p:set>
                                    <p:animEffect transition="in" filter="fade">
                                      <p:cBhvr>
                                        <p:cTn id="64" dur="480"/>
                                        <p:tgtEl>
                                          <p:spTgt spid="51"/>
                                        </p:tgtEl>
                                      </p:cBhvr>
                                    </p:animEffect>
                                  </p:childTnLst>
                                </p:cTn>
                              </p:par>
                              <p:par>
                                <p:cTn id="65" presetID="10" presetClass="entr" presetSubtype="0" fill="hold" grpId="0" nodeType="withEffect">
                                  <p:stCondLst>
                                    <p:cond delay="640"/>
                                  </p:stCondLst>
                                  <p:childTnLst>
                                    <p:set>
                                      <p:cBhvr>
                                        <p:cTn id="66" dur="1" fill="hold">
                                          <p:stCondLst>
                                            <p:cond delay="0"/>
                                          </p:stCondLst>
                                        </p:cTn>
                                        <p:tgtEl>
                                          <p:spTgt spid="52"/>
                                        </p:tgtEl>
                                        <p:attrNameLst>
                                          <p:attrName>style.visibility</p:attrName>
                                        </p:attrNameLst>
                                      </p:cBhvr>
                                      <p:to>
                                        <p:strVal val="visible"/>
                                      </p:to>
                                    </p:set>
                                    <p:animEffect transition="in" filter="fade">
                                      <p:cBhvr>
                                        <p:cTn id="67" dur="480"/>
                                        <p:tgtEl>
                                          <p:spTgt spid="52"/>
                                        </p:tgtEl>
                                      </p:cBhvr>
                                    </p:animEffect>
                                  </p:childTnLst>
                                </p:cTn>
                              </p:par>
                              <p:par>
                                <p:cTn id="68" presetID="10" presetClass="entr" presetSubtype="0" fill="hold" grpId="0" nodeType="withEffect">
                                  <p:stCondLst>
                                    <p:cond delay="640"/>
                                  </p:stCondLst>
                                  <p:childTnLst>
                                    <p:set>
                                      <p:cBhvr>
                                        <p:cTn id="69" dur="1" fill="hold">
                                          <p:stCondLst>
                                            <p:cond delay="0"/>
                                          </p:stCondLst>
                                        </p:cTn>
                                        <p:tgtEl>
                                          <p:spTgt spid="53"/>
                                        </p:tgtEl>
                                        <p:attrNameLst>
                                          <p:attrName>style.visibility</p:attrName>
                                        </p:attrNameLst>
                                      </p:cBhvr>
                                      <p:to>
                                        <p:strVal val="visible"/>
                                      </p:to>
                                    </p:set>
                                    <p:animEffect transition="in" filter="fade">
                                      <p:cBhvr>
                                        <p:cTn id="70" dur="480"/>
                                        <p:tgtEl>
                                          <p:spTgt spid="53"/>
                                        </p:tgtEl>
                                      </p:cBhvr>
                                    </p:animEffect>
                                  </p:childTnLst>
                                </p:cTn>
                              </p:par>
                              <p:par>
                                <p:cTn id="71" presetID="10" presetClass="entr" presetSubtype="0" fill="hold" grpId="0" nodeType="withEffect">
                                  <p:stCondLst>
                                    <p:cond delay="640"/>
                                  </p:stCondLst>
                                  <p:childTnLst>
                                    <p:set>
                                      <p:cBhvr>
                                        <p:cTn id="72" dur="1" fill="hold">
                                          <p:stCondLst>
                                            <p:cond delay="0"/>
                                          </p:stCondLst>
                                        </p:cTn>
                                        <p:tgtEl>
                                          <p:spTgt spid="54"/>
                                        </p:tgtEl>
                                        <p:attrNameLst>
                                          <p:attrName>style.visibility</p:attrName>
                                        </p:attrNameLst>
                                      </p:cBhvr>
                                      <p:to>
                                        <p:strVal val="visible"/>
                                      </p:to>
                                    </p:set>
                                    <p:animEffect transition="in" filter="fade">
                                      <p:cBhvr>
                                        <p:cTn id="73" dur="480"/>
                                        <p:tgtEl>
                                          <p:spTgt spid="54"/>
                                        </p:tgtEl>
                                      </p:cBhvr>
                                    </p:animEffect>
                                  </p:childTnLst>
                                </p:cTn>
                              </p:par>
                              <p:par>
                                <p:cTn id="74" presetID="10" presetClass="entr" presetSubtype="0" fill="hold" grpId="0" nodeType="withEffect">
                                  <p:stCondLst>
                                    <p:cond delay="640"/>
                                  </p:stCondLst>
                                  <p:childTnLst>
                                    <p:set>
                                      <p:cBhvr>
                                        <p:cTn id="75" dur="1" fill="hold">
                                          <p:stCondLst>
                                            <p:cond delay="0"/>
                                          </p:stCondLst>
                                        </p:cTn>
                                        <p:tgtEl>
                                          <p:spTgt spid="55"/>
                                        </p:tgtEl>
                                        <p:attrNameLst>
                                          <p:attrName>style.visibility</p:attrName>
                                        </p:attrNameLst>
                                      </p:cBhvr>
                                      <p:to>
                                        <p:strVal val="visible"/>
                                      </p:to>
                                    </p:set>
                                    <p:animEffect transition="in" filter="fade">
                                      <p:cBhvr>
                                        <p:cTn id="76" dur="480"/>
                                        <p:tgtEl>
                                          <p:spTgt spid="55"/>
                                        </p:tgtEl>
                                      </p:cBhvr>
                                    </p:animEffect>
                                  </p:childTnLst>
                                </p:cTn>
                              </p:par>
                              <p:par>
                                <p:cTn id="77" presetID="10" presetClass="entr" presetSubtype="0" fill="hold" grpId="0" nodeType="withEffect">
                                  <p:stCondLst>
                                    <p:cond delay="640"/>
                                  </p:stCondLst>
                                  <p:childTnLst>
                                    <p:set>
                                      <p:cBhvr>
                                        <p:cTn id="78" dur="1" fill="hold">
                                          <p:stCondLst>
                                            <p:cond delay="0"/>
                                          </p:stCondLst>
                                        </p:cTn>
                                        <p:tgtEl>
                                          <p:spTgt spid="56"/>
                                        </p:tgtEl>
                                        <p:attrNameLst>
                                          <p:attrName>style.visibility</p:attrName>
                                        </p:attrNameLst>
                                      </p:cBhvr>
                                      <p:to>
                                        <p:strVal val="visible"/>
                                      </p:to>
                                    </p:set>
                                    <p:animEffect transition="in" filter="fade">
                                      <p:cBhvr>
                                        <p:cTn id="79" dur="480"/>
                                        <p:tgtEl>
                                          <p:spTgt spid="56"/>
                                        </p:tgtEl>
                                      </p:cBhvr>
                                    </p:animEffect>
                                  </p:childTnLst>
                                </p:cTn>
                              </p:par>
                              <p:par>
                                <p:cTn id="80" presetID="10" presetClass="entr" presetSubtype="0" fill="hold" grpId="0" nodeType="withEffect">
                                  <p:stCondLst>
                                    <p:cond delay="640"/>
                                  </p:stCondLst>
                                  <p:childTnLst>
                                    <p:set>
                                      <p:cBhvr>
                                        <p:cTn id="81" dur="1" fill="hold">
                                          <p:stCondLst>
                                            <p:cond delay="0"/>
                                          </p:stCondLst>
                                        </p:cTn>
                                        <p:tgtEl>
                                          <p:spTgt spid="57"/>
                                        </p:tgtEl>
                                        <p:attrNameLst>
                                          <p:attrName>style.visibility</p:attrName>
                                        </p:attrNameLst>
                                      </p:cBhvr>
                                      <p:to>
                                        <p:strVal val="visible"/>
                                      </p:to>
                                    </p:set>
                                    <p:animEffect transition="in" filter="fade">
                                      <p:cBhvr>
                                        <p:cTn id="82" dur="480"/>
                                        <p:tgtEl>
                                          <p:spTgt spid="57"/>
                                        </p:tgtEl>
                                      </p:cBhvr>
                                    </p:animEffect>
                                  </p:childTnLst>
                                </p:cTn>
                              </p:par>
                              <p:par>
                                <p:cTn id="83" presetID="10" presetClass="entr" presetSubtype="0" fill="hold" grpId="0" nodeType="withEffect">
                                  <p:stCondLst>
                                    <p:cond delay="640"/>
                                  </p:stCondLst>
                                  <p:childTnLst>
                                    <p:set>
                                      <p:cBhvr>
                                        <p:cTn id="84" dur="1" fill="hold">
                                          <p:stCondLst>
                                            <p:cond delay="0"/>
                                          </p:stCondLst>
                                        </p:cTn>
                                        <p:tgtEl>
                                          <p:spTgt spid="58"/>
                                        </p:tgtEl>
                                        <p:attrNameLst>
                                          <p:attrName>style.visibility</p:attrName>
                                        </p:attrNameLst>
                                      </p:cBhvr>
                                      <p:to>
                                        <p:strVal val="visible"/>
                                      </p:to>
                                    </p:set>
                                    <p:animEffect transition="in" filter="fade">
                                      <p:cBhvr>
                                        <p:cTn id="85" dur="480"/>
                                        <p:tgtEl>
                                          <p:spTgt spid="58"/>
                                        </p:tgtEl>
                                      </p:cBhvr>
                                    </p:animEffect>
                                  </p:childTnLst>
                                </p:cTn>
                              </p:par>
                              <p:par>
                                <p:cTn id="86" presetID="10" presetClass="entr" presetSubtype="0" fill="hold" grpId="0" nodeType="withEffect">
                                  <p:stCondLst>
                                    <p:cond delay="640"/>
                                  </p:stCondLst>
                                  <p:childTnLst>
                                    <p:set>
                                      <p:cBhvr>
                                        <p:cTn id="87" dur="1" fill="hold">
                                          <p:stCondLst>
                                            <p:cond delay="0"/>
                                          </p:stCondLst>
                                        </p:cTn>
                                        <p:tgtEl>
                                          <p:spTgt spid="59"/>
                                        </p:tgtEl>
                                        <p:attrNameLst>
                                          <p:attrName>style.visibility</p:attrName>
                                        </p:attrNameLst>
                                      </p:cBhvr>
                                      <p:to>
                                        <p:strVal val="visible"/>
                                      </p:to>
                                    </p:set>
                                    <p:animEffect transition="in" filter="fade">
                                      <p:cBhvr>
                                        <p:cTn id="88" dur="480"/>
                                        <p:tgtEl>
                                          <p:spTgt spid="59"/>
                                        </p:tgtEl>
                                      </p:cBhvr>
                                    </p:animEffect>
                                  </p:childTnLst>
                                </p:cTn>
                              </p:par>
                              <p:par>
                                <p:cTn id="89" presetID="10" presetClass="entr" presetSubtype="0" fill="hold" grpId="0" nodeType="withEffect">
                                  <p:stCondLst>
                                    <p:cond delay="640"/>
                                  </p:stCondLst>
                                  <p:childTnLst>
                                    <p:set>
                                      <p:cBhvr>
                                        <p:cTn id="90" dur="1" fill="hold">
                                          <p:stCondLst>
                                            <p:cond delay="0"/>
                                          </p:stCondLst>
                                        </p:cTn>
                                        <p:tgtEl>
                                          <p:spTgt spid="60"/>
                                        </p:tgtEl>
                                        <p:attrNameLst>
                                          <p:attrName>style.visibility</p:attrName>
                                        </p:attrNameLst>
                                      </p:cBhvr>
                                      <p:to>
                                        <p:strVal val="visible"/>
                                      </p:to>
                                    </p:set>
                                    <p:animEffect transition="in" filter="fade">
                                      <p:cBhvr>
                                        <p:cTn id="91" dur="480"/>
                                        <p:tgtEl>
                                          <p:spTgt spid="60"/>
                                        </p:tgtEl>
                                      </p:cBhvr>
                                    </p:animEffect>
                                  </p:childTnLst>
                                </p:cTn>
                              </p:par>
                              <p:par>
                                <p:cTn id="92" presetID="10" presetClass="entr" presetSubtype="0" fill="hold" grpId="0" nodeType="withEffect">
                                  <p:stCondLst>
                                    <p:cond delay="640"/>
                                  </p:stCondLst>
                                  <p:childTnLst>
                                    <p:set>
                                      <p:cBhvr>
                                        <p:cTn id="93" dur="1" fill="hold">
                                          <p:stCondLst>
                                            <p:cond delay="0"/>
                                          </p:stCondLst>
                                        </p:cTn>
                                        <p:tgtEl>
                                          <p:spTgt spid="61"/>
                                        </p:tgtEl>
                                        <p:attrNameLst>
                                          <p:attrName>style.visibility</p:attrName>
                                        </p:attrNameLst>
                                      </p:cBhvr>
                                      <p:to>
                                        <p:strVal val="visible"/>
                                      </p:to>
                                    </p:set>
                                    <p:animEffect transition="in" filter="fade">
                                      <p:cBhvr>
                                        <p:cTn id="94" dur="480"/>
                                        <p:tgtEl>
                                          <p:spTgt spid="61"/>
                                        </p:tgtEl>
                                      </p:cBhvr>
                                    </p:animEffect>
                                  </p:childTnLst>
                                </p:cTn>
                              </p:par>
                              <p:par>
                                <p:cTn id="95" presetID="10" presetClass="entr" presetSubtype="0" fill="hold" grpId="0" nodeType="withEffect">
                                  <p:stCondLst>
                                    <p:cond delay="640"/>
                                  </p:stCondLst>
                                  <p:childTnLst>
                                    <p:set>
                                      <p:cBhvr>
                                        <p:cTn id="96" dur="1" fill="hold">
                                          <p:stCondLst>
                                            <p:cond delay="0"/>
                                          </p:stCondLst>
                                        </p:cTn>
                                        <p:tgtEl>
                                          <p:spTgt spid="62"/>
                                        </p:tgtEl>
                                        <p:attrNameLst>
                                          <p:attrName>style.visibility</p:attrName>
                                        </p:attrNameLst>
                                      </p:cBhvr>
                                      <p:to>
                                        <p:strVal val="visible"/>
                                      </p:to>
                                    </p:set>
                                    <p:animEffect transition="in" filter="fade">
                                      <p:cBhvr>
                                        <p:cTn id="97" dur="480"/>
                                        <p:tgtEl>
                                          <p:spTgt spid="62"/>
                                        </p:tgtEl>
                                      </p:cBhvr>
                                    </p:animEffect>
                                  </p:childTnLst>
                                </p:cTn>
                              </p:par>
                              <p:par>
                                <p:cTn id="98" presetID="10" presetClass="entr" presetSubtype="0" fill="hold" grpId="0" nodeType="withEffect">
                                  <p:stCondLst>
                                    <p:cond delay="640"/>
                                  </p:stCondLst>
                                  <p:childTnLst>
                                    <p:set>
                                      <p:cBhvr>
                                        <p:cTn id="99" dur="1" fill="hold">
                                          <p:stCondLst>
                                            <p:cond delay="0"/>
                                          </p:stCondLst>
                                        </p:cTn>
                                        <p:tgtEl>
                                          <p:spTgt spid="63"/>
                                        </p:tgtEl>
                                        <p:attrNameLst>
                                          <p:attrName>style.visibility</p:attrName>
                                        </p:attrNameLst>
                                      </p:cBhvr>
                                      <p:to>
                                        <p:strVal val="visible"/>
                                      </p:to>
                                    </p:set>
                                    <p:animEffect transition="in" filter="fade">
                                      <p:cBhvr>
                                        <p:cTn id="100" dur="480"/>
                                        <p:tgtEl>
                                          <p:spTgt spid="63"/>
                                        </p:tgtEl>
                                      </p:cBhvr>
                                    </p:animEffect>
                                  </p:childTnLst>
                                </p:cTn>
                              </p:par>
                              <p:par>
                                <p:cTn id="101" presetID="10" presetClass="entr" presetSubtype="0" fill="hold" grpId="0" nodeType="withEffect">
                                  <p:stCondLst>
                                    <p:cond delay="640"/>
                                  </p:stCondLst>
                                  <p:childTnLst>
                                    <p:set>
                                      <p:cBhvr>
                                        <p:cTn id="102" dur="1" fill="hold">
                                          <p:stCondLst>
                                            <p:cond delay="0"/>
                                          </p:stCondLst>
                                        </p:cTn>
                                        <p:tgtEl>
                                          <p:spTgt spid="64"/>
                                        </p:tgtEl>
                                        <p:attrNameLst>
                                          <p:attrName>style.visibility</p:attrName>
                                        </p:attrNameLst>
                                      </p:cBhvr>
                                      <p:to>
                                        <p:strVal val="visible"/>
                                      </p:to>
                                    </p:set>
                                    <p:animEffect transition="in" filter="fade">
                                      <p:cBhvr>
                                        <p:cTn id="103" dur="480"/>
                                        <p:tgtEl>
                                          <p:spTgt spid="64"/>
                                        </p:tgtEl>
                                      </p:cBhvr>
                                    </p:animEffect>
                                  </p:childTnLst>
                                </p:cTn>
                              </p:par>
                              <p:par>
                                <p:cTn id="104" presetID="10" presetClass="entr" presetSubtype="0" fill="hold" grpId="0" nodeType="withEffect">
                                  <p:stCondLst>
                                    <p:cond delay="640"/>
                                  </p:stCondLst>
                                  <p:childTnLst>
                                    <p:set>
                                      <p:cBhvr>
                                        <p:cTn id="105" dur="1" fill="hold">
                                          <p:stCondLst>
                                            <p:cond delay="0"/>
                                          </p:stCondLst>
                                        </p:cTn>
                                        <p:tgtEl>
                                          <p:spTgt spid="65"/>
                                        </p:tgtEl>
                                        <p:attrNameLst>
                                          <p:attrName>style.visibility</p:attrName>
                                        </p:attrNameLst>
                                      </p:cBhvr>
                                      <p:to>
                                        <p:strVal val="visible"/>
                                      </p:to>
                                    </p:set>
                                    <p:animEffect transition="in" filter="fade">
                                      <p:cBhvr>
                                        <p:cTn id="106" dur="480"/>
                                        <p:tgtEl>
                                          <p:spTgt spid="65"/>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fade">
                                      <p:cBhvr>
                                        <p:cTn id="111" dur="480"/>
                                        <p:tgtEl>
                                          <p:spTgt spid="22"/>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3"/>
                                        </p:tgtEl>
                                        <p:attrNameLst>
                                          <p:attrName>style.visibility</p:attrName>
                                        </p:attrNameLst>
                                      </p:cBhvr>
                                      <p:to>
                                        <p:strVal val="visible"/>
                                      </p:to>
                                    </p:set>
                                    <p:animEffect transition="in" filter="fade">
                                      <p:cBhvr>
                                        <p:cTn id="114" dur="480"/>
                                        <p:tgtEl>
                                          <p:spTgt spid="23"/>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480"/>
                                        <p:tgtEl>
                                          <p:spTgt spid="24"/>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480"/>
                                        <p:tgtEl>
                                          <p:spTgt spid="25"/>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480"/>
                                        <p:tgtEl>
                                          <p:spTgt spid="26"/>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480"/>
                                        <p:tgtEl>
                                          <p:spTgt spid="27"/>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28"/>
                                        </p:tgtEl>
                                        <p:attrNameLst>
                                          <p:attrName>style.visibility</p:attrName>
                                        </p:attrNameLst>
                                      </p:cBhvr>
                                      <p:to>
                                        <p:strVal val="visible"/>
                                      </p:to>
                                    </p:set>
                                    <p:animEffect transition="in" filter="fade">
                                      <p:cBhvr>
                                        <p:cTn id="129" dur="480"/>
                                        <p:tgtEl>
                                          <p:spTgt spid="28"/>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480"/>
                                        <p:tgtEl>
                                          <p:spTgt spid="29"/>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31"/>
                                        </p:tgtEl>
                                        <p:attrNameLst>
                                          <p:attrName>style.visibility</p:attrName>
                                        </p:attrNameLst>
                                      </p:cBhvr>
                                      <p:to>
                                        <p:strVal val="visible"/>
                                      </p:to>
                                    </p:set>
                                    <p:animEffect transition="in" filter="fade">
                                      <p:cBhvr>
                                        <p:cTn id="135" dur="480"/>
                                        <p:tgtEl>
                                          <p:spTgt spid="31"/>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32"/>
                                        </p:tgtEl>
                                        <p:attrNameLst>
                                          <p:attrName>style.visibility</p:attrName>
                                        </p:attrNameLst>
                                      </p:cBhvr>
                                      <p:to>
                                        <p:strVal val="visible"/>
                                      </p:to>
                                    </p:set>
                                    <p:animEffect transition="in" filter="fade">
                                      <p:cBhvr>
                                        <p:cTn id="138" dur="480"/>
                                        <p:tgtEl>
                                          <p:spTgt spid="32"/>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33"/>
                                        </p:tgtEl>
                                        <p:attrNameLst>
                                          <p:attrName>style.visibility</p:attrName>
                                        </p:attrNameLst>
                                      </p:cBhvr>
                                      <p:to>
                                        <p:strVal val="visible"/>
                                      </p:to>
                                    </p:set>
                                    <p:animEffect transition="in" filter="fade">
                                      <p:cBhvr>
                                        <p:cTn id="141" dur="480"/>
                                        <p:tgtEl>
                                          <p:spTgt spid="33"/>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34"/>
                                        </p:tgtEl>
                                        <p:attrNameLst>
                                          <p:attrName>style.visibility</p:attrName>
                                        </p:attrNameLst>
                                      </p:cBhvr>
                                      <p:to>
                                        <p:strVal val="visible"/>
                                      </p:to>
                                    </p:set>
                                    <p:animEffect transition="in" filter="fade">
                                      <p:cBhvr>
                                        <p:cTn id="144" dur="480"/>
                                        <p:tgtEl>
                                          <p:spTgt spid="34"/>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35"/>
                                        </p:tgtEl>
                                        <p:attrNameLst>
                                          <p:attrName>style.visibility</p:attrName>
                                        </p:attrNameLst>
                                      </p:cBhvr>
                                      <p:to>
                                        <p:strVal val="visible"/>
                                      </p:to>
                                    </p:set>
                                    <p:animEffect transition="in" filter="fade">
                                      <p:cBhvr>
                                        <p:cTn id="147" dur="480"/>
                                        <p:tgtEl>
                                          <p:spTgt spid="35"/>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36"/>
                                        </p:tgtEl>
                                        <p:attrNameLst>
                                          <p:attrName>style.visibility</p:attrName>
                                        </p:attrNameLst>
                                      </p:cBhvr>
                                      <p:to>
                                        <p:strVal val="visible"/>
                                      </p:to>
                                    </p:set>
                                    <p:animEffect transition="in" filter="fade">
                                      <p:cBhvr>
                                        <p:cTn id="150" dur="480"/>
                                        <p:tgtEl>
                                          <p:spTgt spid="36"/>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37"/>
                                        </p:tgtEl>
                                        <p:attrNameLst>
                                          <p:attrName>style.visibility</p:attrName>
                                        </p:attrNameLst>
                                      </p:cBhvr>
                                      <p:to>
                                        <p:strVal val="visible"/>
                                      </p:to>
                                    </p:set>
                                    <p:animEffect transition="in" filter="fade">
                                      <p:cBhvr>
                                        <p:cTn id="153" dur="480"/>
                                        <p:tgtEl>
                                          <p:spTgt spid="37"/>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38"/>
                                        </p:tgtEl>
                                        <p:attrNameLst>
                                          <p:attrName>style.visibility</p:attrName>
                                        </p:attrNameLst>
                                      </p:cBhvr>
                                      <p:to>
                                        <p:strVal val="visible"/>
                                      </p:to>
                                    </p:set>
                                    <p:animEffect transition="in" filter="fade">
                                      <p:cBhvr>
                                        <p:cTn id="156" dur="480"/>
                                        <p:tgtEl>
                                          <p:spTgt spid="38"/>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39"/>
                                        </p:tgtEl>
                                        <p:attrNameLst>
                                          <p:attrName>style.visibility</p:attrName>
                                        </p:attrNameLst>
                                      </p:cBhvr>
                                      <p:to>
                                        <p:strVal val="visible"/>
                                      </p:to>
                                    </p:set>
                                    <p:animEffect transition="in" filter="fade">
                                      <p:cBhvr>
                                        <p:cTn id="159" dur="480"/>
                                        <p:tgtEl>
                                          <p:spTgt spid="39"/>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40"/>
                                        </p:tgtEl>
                                        <p:attrNameLst>
                                          <p:attrName>style.visibility</p:attrName>
                                        </p:attrNameLst>
                                      </p:cBhvr>
                                      <p:to>
                                        <p:strVal val="visible"/>
                                      </p:to>
                                    </p:set>
                                    <p:animEffect transition="in" filter="fade">
                                      <p:cBhvr>
                                        <p:cTn id="162" dur="480"/>
                                        <p:tgtEl>
                                          <p:spTgt spid="40"/>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41"/>
                                        </p:tgtEl>
                                        <p:attrNameLst>
                                          <p:attrName>style.visibility</p:attrName>
                                        </p:attrNameLst>
                                      </p:cBhvr>
                                      <p:to>
                                        <p:strVal val="visible"/>
                                      </p:to>
                                    </p:set>
                                    <p:animEffect transition="in" filter="fade">
                                      <p:cBhvr>
                                        <p:cTn id="165" dur="480"/>
                                        <p:tgtEl>
                                          <p:spTgt spid="41"/>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42"/>
                                        </p:tgtEl>
                                        <p:attrNameLst>
                                          <p:attrName>style.visibility</p:attrName>
                                        </p:attrNameLst>
                                      </p:cBhvr>
                                      <p:to>
                                        <p:strVal val="visible"/>
                                      </p:to>
                                    </p:set>
                                    <p:animEffect transition="in" filter="fade">
                                      <p:cBhvr>
                                        <p:cTn id="168" dur="480"/>
                                        <p:tgtEl>
                                          <p:spTgt spid="42"/>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43"/>
                                        </p:tgtEl>
                                        <p:attrNameLst>
                                          <p:attrName>style.visibility</p:attrName>
                                        </p:attrNameLst>
                                      </p:cBhvr>
                                      <p:to>
                                        <p:strVal val="visible"/>
                                      </p:to>
                                    </p:set>
                                    <p:animEffect transition="in" filter="fade">
                                      <p:cBhvr>
                                        <p:cTn id="171" dur="480"/>
                                        <p:tgtEl>
                                          <p:spTgt spid="43"/>
                                        </p:tgtEl>
                                      </p:cBhvr>
                                    </p:animEffect>
                                  </p:childTnLst>
                                </p:cTn>
                              </p:par>
                              <p:par>
                                <p:cTn id="172" presetID="10" presetClass="entr" presetSubtype="0" fill="hold" grpId="0" nodeType="withEffect">
                                  <p:stCondLst>
                                    <p:cond delay="320"/>
                                  </p:stCondLst>
                                  <p:childTnLst>
                                    <p:set>
                                      <p:cBhvr>
                                        <p:cTn id="173" dur="1" fill="hold">
                                          <p:stCondLst>
                                            <p:cond delay="0"/>
                                          </p:stCondLst>
                                        </p:cTn>
                                        <p:tgtEl>
                                          <p:spTgt spid="44"/>
                                        </p:tgtEl>
                                        <p:attrNameLst>
                                          <p:attrName>style.visibility</p:attrName>
                                        </p:attrNameLst>
                                      </p:cBhvr>
                                      <p:to>
                                        <p:strVal val="visible"/>
                                      </p:to>
                                    </p:set>
                                    <p:animEffect transition="in" filter="fade">
                                      <p:cBhvr>
                                        <p:cTn id="174" dur="48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3" grpId="0" animBg="1"/>
      <p:bldP spid="15" grpId="0" animBg="1"/>
      <p:bldP spid="17"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8" grpId="0" animBg="1"/>
      <p:bldP spid="49" grpId="0" animBg="1"/>
      <p:bldP spid="50" grpId="0" animBg="1"/>
      <p:bldP spid="52" grpId="0" animBg="1"/>
      <p:bldP spid="53" grpId="0" animBg="1"/>
      <p:bldP spid="54" grpId="0" animBg="1"/>
      <p:bldP spid="56" grpId="0" animBg="1"/>
      <p:bldP spid="57" grpId="0" animBg="1"/>
      <p:bldP spid="58" grpId="0" animBg="1"/>
      <p:bldP spid="60" grpId="0" animBg="1"/>
      <p:bldP spid="61" grpId="0" animBg="1"/>
      <p:bldP spid="62" grpId="0" animBg="1"/>
      <p:bldP spid="64" grpId="0" animBg="1"/>
      <p:bldP spid="6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ivate/tmp/claude-501/-Users-swibit-skillture/f1e62dc3-dfc1-4d04-897a-70d066cdcef5/scratchpad/deck/img/pat_full.png">    </p:cNvPr>
          <p:cNvPicPr>
            <a:picLocks noChangeAspect="1"/>
          </p:cNvPicPr>
          <p:nvPr/>
        </p:nvPicPr>
        <p:blipFill>
          <a:blip r:embed="rId1"/>
          <a:stretch>
            <a:fillRect/>
          </a:stretch>
        </p:blipFill>
        <p:spPr>
          <a:xfrm>
            <a:off x="0" y="0"/>
            <a:ext cx="12191695" cy="6858000"/>
          </a:xfrm>
          <a:prstGeom prst="rect">
            <a:avLst/>
          </a:prstGeom>
        </p:spPr>
      </p:pic>
      <p:sp>
        <p:nvSpPr>
          <p:cNvPr id="4" name="A0-eyebrow"/>
          <p:cNvSpPr txBox="1"/>
          <p:nvPr/>
        </p:nvSpPr>
        <p:spPr>
          <a:xfrm>
            <a:off x="685800" y="457200"/>
            <a:ext cx="8229600" cy="274320"/>
          </a:xfrm>
          <a:prstGeom prst="rect">
            <a:avLst/>
          </a:prstGeom>
          <a:noFill/>
          <a:ln/>
        </p:spPr>
        <p:txBody>
          <a:bodyPr wrap="square" lIns="0" tIns="0" rIns="0" bIns="0" rtlCol="0" anchor="t"/>
          <a:lstStyle/>
          <a:p>
            <a:pPr indent="0" marL="0">
              <a:buNone/>
            </a:pPr>
            <a:r>
              <a:rPr lang="en-US" sz="1200" spc="300" kern="0" dirty="0">
                <a:solidFill>
                  <a:srgbClr val="0CCCCC"/>
                </a:solidFill>
                <a:latin typeface="Poppins SemiBold" pitchFamily="34" charset="0"/>
                <a:ea typeface="Poppins SemiBold" pitchFamily="34" charset="-122"/>
                <a:cs typeface="Poppins SemiBold" pitchFamily="34" charset="-120"/>
              </a:rPr>
              <a:t>09  ·  FROM STUDENT TO HIRED</a:t>
            </a:r>
            <a:endParaRPr lang="en-US" sz="1200" dirty="0"/>
          </a:p>
        </p:txBody>
      </p:sp>
      <p:sp>
        <p:nvSpPr>
          <p:cNvPr id="5" name="Text 1"/>
          <p:cNvSpPr/>
          <p:nvPr>
            <p:ph idx="102" type="title" hasCustomPrompt="1"/>
          </p:nvPr>
        </p:nvSpPr>
        <p:spPr>
          <a:xfrm>
            <a:off x="685800" y="749808"/>
            <a:ext cx="10820095" cy="685800"/>
          </a:xfrm>
          <a:prstGeom prst="rect">
            <a:avLst/>
          </a:prstGeom>
          <a:noFill/>
          <a:ln/>
        </p:spPr>
        <p:txBody>
          <a:bodyPr wrap="square" lIns="0" tIns="0" rIns="0" bIns="0" rtlCol="0" anchor="t"/>
          <a:lstStyle/>
          <a:p>
            <a:pPr algn="l" indent="0" marL="0">
              <a:buNone/>
            </a:pPr>
            <a:r>
              <a:rPr lang="en-US" sz="3600" dirty="0">
                <a:solidFill>
                  <a:srgbClr val="FFFFFF"/>
                </a:solidFill>
                <a:latin typeface="Poppins ExtraBold" pitchFamily="34" charset="0"/>
                <a:ea typeface="Poppins ExtraBold" pitchFamily="34" charset="-122"/>
                <a:cs typeface="Poppins ExtraBold" pitchFamily="34" charset="-120"/>
              </a:rPr>
              <a:t>How to Actually Get Your First Technical Job</a:t>
            </a:r>
            <a:endParaRPr lang="en-US" sz="3600" dirty="0"/>
          </a:p>
        </p:txBody>
      </p:sp>
      <p:sp>
        <p:nvSpPr>
          <p:cNvPr id="6" name="A1-path"/>
          <p:cNvSpPr/>
          <p:nvPr/>
        </p:nvSpPr>
        <p:spPr>
          <a:xfrm>
            <a:off x="1572768" y="2487168"/>
            <a:ext cx="9564624" cy="2167128"/>
          </a:xfrm>
          <a:custGeom>
            <a:avLst/>
            <a:gdLst/>
            <a:ahLst/>
            <a:cxnLst/>
            <a:rect l="l" t="t" r="r" b="b"/>
            <a:pathLst>
              <a:path w="9564624" h="2167128">
                <a:moveTo>
                  <a:pt x="0" y="0"/>
                </a:moveTo>
                <a:lnTo>
                  <a:pt x="8421624" y="0"/>
                </a:lnTo>
                <a:cubicBezTo>
                  <a:pt x="9884664" y="0"/>
                  <a:pt x="9884664" y="2167128"/>
                  <a:pt x="8421624" y="2167128"/>
                </a:cubicBezTo>
                <a:lnTo>
                  <a:pt x="0" y="2167128"/>
                </a:lnTo>
              </a:path>
            </a:pathLst>
          </a:custGeom>
          <a:ln w="31750">
            <a:solidFill>
              <a:srgbClr val="01A3A3"/>
            </a:solidFill>
            <a:prstDash val="dash"/>
          </a:ln>
        </p:spPr>
      </p:sp>
      <p:sp>
        <p:nvSpPr>
          <p:cNvPr id="7" name="A2-c"/>
          <p:cNvSpPr/>
          <p:nvPr/>
        </p:nvSpPr>
        <p:spPr>
          <a:xfrm>
            <a:off x="1234440" y="2148840"/>
            <a:ext cx="676656" cy="676656"/>
          </a:xfrm>
          <a:prstGeom prst="ellipse">
            <a:avLst/>
          </a:prstGeom>
          <a:solidFill>
            <a:srgbClr val="0CCCCC"/>
          </a:solidFill>
          <a:ln/>
        </p:spPr>
      </p:sp>
      <p:pic>
        <p:nvPicPr>
          <p:cNvPr id="8" name="A2-c-i" descr="preencoded.png">    </p:cNvPr>
          <p:cNvPicPr>
            <a:picLocks noChangeAspect="1"/>
          </p:cNvPicPr>
          <p:nvPr/>
        </p:nvPicPr>
        <p:blipFill>
          <a:blip r:embed="rId2"/>
          <a:stretch>
            <a:fillRect/>
          </a:stretch>
        </p:blipFill>
        <p:spPr>
          <a:xfrm>
            <a:off x="1396837" y="2311237"/>
            <a:ext cx="351861" cy="351861"/>
          </a:xfrm>
          <a:prstGeom prst="rect">
            <a:avLst/>
          </a:prstGeom>
        </p:spPr>
      </p:pic>
      <p:sp>
        <p:nvSpPr>
          <p:cNvPr id="9" name="A2-b"/>
          <p:cNvSpPr/>
          <p:nvPr/>
        </p:nvSpPr>
        <p:spPr>
          <a:xfrm>
            <a:off x="1161288" y="2075688"/>
            <a:ext cx="274320" cy="274320"/>
          </a:xfrm>
          <a:prstGeom prst="ellipse">
            <a:avLst/>
          </a:prstGeom>
          <a:solidFill>
            <a:srgbClr val="030607"/>
          </a:solidFill>
          <a:ln w="12700">
            <a:solidFill>
              <a:srgbClr val="01A3A3"/>
            </a:solidFill>
            <a:prstDash val="solid"/>
          </a:ln>
        </p:spPr>
      </p:sp>
      <p:sp>
        <p:nvSpPr>
          <p:cNvPr id="10" name="A2-bn"/>
          <p:cNvSpPr txBox="1"/>
          <p:nvPr/>
        </p:nvSpPr>
        <p:spPr>
          <a:xfrm>
            <a:off x="1161288" y="2075688"/>
            <a:ext cx="274320" cy="274320"/>
          </a:xfrm>
          <a:prstGeom prst="rect">
            <a:avLst/>
          </a:prstGeom>
          <a:noFill/>
          <a:ln/>
        </p:spPr>
        <p:txBody>
          <a:bodyPr wrap="square" lIns="0" tIns="0" rIns="0" bIns="0" rtlCol="0" anchor="ctr"/>
          <a:lstStyle/>
          <a:p>
            <a:pPr algn="ctr" indent="0" marL="0">
              <a:buNone/>
            </a:pPr>
            <a:r>
              <a:rPr lang="en-US" sz="900" dirty="0">
                <a:solidFill>
                  <a:srgbClr val="0CCCCC"/>
                </a:solidFill>
                <a:latin typeface="Poppins ExtraBold" pitchFamily="34" charset="0"/>
                <a:ea typeface="Poppins ExtraBold" pitchFamily="34" charset="-122"/>
                <a:cs typeface="Poppins ExtraBold" pitchFamily="34" charset="-120"/>
              </a:rPr>
              <a:t>1</a:t>
            </a:r>
            <a:endParaRPr lang="en-US" sz="900" dirty="0"/>
          </a:p>
        </p:txBody>
      </p:sp>
      <p:sp>
        <p:nvSpPr>
          <p:cNvPr id="11" name="A2-t"/>
          <p:cNvSpPr txBox="1"/>
          <p:nvPr/>
        </p:nvSpPr>
        <p:spPr>
          <a:xfrm>
            <a:off x="475488" y="2935224"/>
            <a:ext cx="2194560" cy="310896"/>
          </a:xfrm>
          <a:prstGeom prst="rect">
            <a:avLst/>
          </a:prstGeom>
          <a:noFill/>
          <a:ln/>
        </p:spPr>
        <p:txBody>
          <a:bodyPr wrap="square" lIns="0" tIns="0" rIns="0" bIns="0" rtlCol="0" anchor="t"/>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GitHub</a:t>
            </a:r>
            <a:endParaRPr lang="en-US" sz="1600" dirty="0"/>
          </a:p>
        </p:txBody>
      </p:sp>
      <p:sp>
        <p:nvSpPr>
          <p:cNvPr id="12" name="A2-d"/>
          <p:cNvSpPr txBox="1"/>
          <p:nvPr/>
        </p:nvSpPr>
        <p:spPr>
          <a:xfrm>
            <a:off x="475488" y="3246120"/>
            <a:ext cx="2194560" cy="502920"/>
          </a:xfrm>
          <a:prstGeom prst="rect">
            <a:avLst/>
          </a:prstGeom>
          <a:noFill/>
          <a:ln/>
        </p:spPr>
        <p:txBody>
          <a:bodyPr wrap="square" lIns="0" tIns="0" rIns="0" bIns="0" rtlCol="0" anchor="t"/>
          <a:lstStyle/>
          <a:p>
            <a:pPr algn="ctr" indent="0" marL="0">
              <a:buNone/>
            </a:pPr>
            <a:r>
              <a:rPr lang="en-US" sz="1300" dirty="0">
                <a:solidFill>
                  <a:srgbClr val="9FB0B0"/>
                </a:solidFill>
                <a:latin typeface="Poppins" pitchFamily="34" charset="0"/>
                <a:ea typeface="Poppins" pitchFamily="34" charset="-122"/>
                <a:cs typeface="Poppins" pitchFamily="34" charset="-120"/>
              </a:rPr>
              <a:t>Clean profile. Pin 3 repos with real READMEs.</a:t>
            </a:r>
            <a:endParaRPr lang="en-US" sz="1300" dirty="0"/>
          </a:p>
        </p:txBody>
      </p:sp>
      <p:sp>
        <p:nvSpPr>
          <p:cNvPr id="13" name="A3-c"/>
          <p:cNvSpPr/>
          <p:nvPr/>
        </p:nvSpPr>
        <p:spPr>
          <a:xfrm>
            <a:off x="4041648" y="2148840"/>
            <a:ext cx="676656" cy="676656"/>
          </a:xfrm>
          <a:prstGeom prst="ellipse">
            <a:avLst/>
          </a:prstGeom>
          <a:solidFill>
            <a:srgbClr val="0CCCCC"/>
          </a:solidFill>
          <a:ln/>
        </p:spPr>
      </p:sp>
      <p:pic>
        <p:nvPicPr>
          <p:cNvPr id="14" name="A3-c-i" descr="preencoded.png">    </p:cNvPr>
          <p:cNvPicPr>
            <a:picLocks noChangeAspect="1"/>
          </p:cNvPicPr>
          <p:nvPr/>
        </p:nvPicPr>
        <p:blipFill>
          <a:blip r:embed="rId3"/>
          <a:stretch>
            <a:fillRect/>
          </a:stretch>
        </p:blipFill>
        <p:spPr>
          <a:xfrm>
            <a:off x="4204045" y="2311237"/>
            <a:ext cx="351861" cy="351861"/>
          </a:xfrm>
          <a:prstGeom prst="rect">
            <a:avLst/>
          </a:prstGeom>
        </p:spPr>
      </p:pic>
      <p:sp>
        <p:nvSpPr>
          <p:cNvPr id="15" name="A3-b"/>
          <p:cNvSpPr/>
          <p:nvPr/>
        </p:nvSpPr>
        <p:spPr>
          <a:xfrm>
            <a:off x="3968496" y="2075688"/>
            <a:ext cx="274320" cy="274320"/>
          </a:xfrm>
          <a:prstGeom prst="ellipse">
            <a:avLst/>
          </a:prstGeom>
          <a:solidFill>
            <a:srgbClr val="030607"/>
          </a:solidFill>
          <a:ln w="12700">
            <a:solidFill>
              <a:srgbClr val="01A3A3"/>
            </a:solidFill>
            <a:prstDash val="solid"/>
          </a:ln>
        </p:spPr>
      </p:sp>
      <p:sp>
        <p:nvSpPr>
          <p:cNvPr id="16" name="A3-bn"/>
          <p:cNvSpPr txBox="1"/>
          <p:nvPr/>
        </p:nvSpPr>
        <p:spPr>
          <a:xfrm>
            <a:off x="3968496" y="2075688"/>
            <a:ext cx="274320" cy="274320"/>
          </a:xfrm>
          <a:prstGeom prst="rect">
            <a:avLst/>
          </a:prstGeom>
          <a:noFill/>
          <a:ln/>
        </p:spPr>
        <p:txBody>
          <a:bodyPr wrap="square" lIns="0" tIns="0" rIns="0" bIns="0" rtlCol="0" anchor="ctr"/>
          <a:lstStyle/>
          <a:p>
            <a:pPr algn="ctr" indent="0" marL="0">
              <a:buNone/>
            </a:pPr>
            <a:r>
              <a:rPr lang="en-US" sz="900" dirty="0">
                <a:solidFill>
                  <a:srgbClr val="0CCCCC"/>
                </a:solidFill>
                <a:latin typeface="Poppins ExtraBold" pitchFamily="34" charset="0"/>
                <a:ea typeface="Poppins ExtraBold" pitchFamily="34" charset="-122"/>
                <a:cs typeface="Poppins ExtraBold" pitchFamily="34" charset="-120"/>
              </a:rPr>
              <a:t>2</a:t>
            </a:r>
            <a:endParaRPr lang="en-US" sz="900" dirty="0"/>
          </a:p>
        </p:txBody>
      </p:sp>
      <p:sp>
        <p:nvSpPr>
          <p:cNvPr id="17" name="A3-t"/>
          <p:cNvSpPr txBox="1"/>
          <p:nvPr/>
        </p:nvSpPr>
        <p:spPr>
          <a:xfrm>
            <a:off x="3282696" y="2935224"/>
            <a:ext cx="2194560" cy="310896"/>
          </a:xfrm>
          <a:prstGeom prst="rect">
            <a:avLst/>
          </a:prstGeom>
          <a:noFill/>
          <a:ln/>
        </p:spPr>
        <p:txBody>
          <a:bodyPr wrap="square" lIns="0" tIns="0" rIns="0" bIns="0" rtlCol="0" anchor="t"/>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Portfolio</a:t>
            </a:r>
            <a:endParaRPr lang="en-US" sz="1600" dirty="0"/>
          </a:p>
        </p:txBody>
      </p:sp>
      <p:sp>
        <p:nvSpPr>
          <p:cNvPr id="18" name="A3-d"/>
          <p:cNvSpPr txBox="1"/>
          <p:nvPr/>
        </p:nvSpPr>
        <p:spPr>
          <a:xfrm>
            <a:off x="3282696" y="3246120"/>
            <a:ext cx="2194560" cy="502920"/>
          </a:xfrm>
          <a:prstGeom prst="rect">
            <a:avLst/>
          </a:prstGeom>
          <a:noFill/>
          <a:ln/>
        </p:spPr>
        <p:txBody>
          <a:bodyPr wrap="square" lIns="0" tIns="0" rIns="0" bIns="0" rtlCol="0" anchor="t"/>
          <a:lstStyle/>
          <a:p>
            <a:pPr algn="ctr" indent="0" marL="0">
              <a:buNone/>
            </a:pPr>
            <a:r>
              <a:rPr lang="en-US" sz="1300" dirty="0">
                <a:solidFill>
                  <a:srgbClr val="9FB0B0"/>
                </a:solidFill>
                <a:latin typeface="Poppins" pitchFamily="34" charset="0"/>
                <a:ea typeface="Poppins" pitchFamily="34" charset="-122"/>
                <a:cs typeface="Poppins" pitchFamily="34" charset="-120"/>
              </a:rPr>
              <a:t>2–3 projects that solve real problems.</a:t>
            </a:r>
            <a:endParaRPr lang="en-US" sz="1300" dirty="0"/>
          </a:p>
        </p:txBody>
      </p:sp>
      <p:sp>
        <p:nvSpPr>
          <p:cNvPr id="19" name="A4-c"/>
          <p:cNvSpPr/>
          <p:nvPr/>
        </p:nvSpPr>
        <p:spPr>
          <a:xfrm>
            <a:off x="6848856" y="2148840"/>
            <a:ext cx="676656" cy="676656"/>
          </a:xfrm>
          <a:prstGeom prst="ellipse">
            <a:avLst/>
          </a:prstGeom>
          <a:solidFill>
            <a:srgbClr val="0CCCCC"/>
          </a:solidFill>
          <a:ln/>
        </p:spPr>
      </p:sp>
      <p:pic>
        <p:nvPicPr>
          <p:cNvPr id="20" name="A4-c-i" descr="preencoded.png">    </p:cNvPr>
          <p:cNvPicPr>
            <a:picLocks noChangeAspect="1"/>
          </p:cNvPicPr>
          <p:nvPr/>
        </p:nvPicPr>
        <p:blipFill>
          <a:blip r:embed="rId4"/>
          <a:stretch>
            <a:fillRect/>
          </a:stretch>
        </p:blipFill>
        <p:spPr>
          <a:xfrm>
            <a:off x="7011253" y="2311237"/>
            <a:ext cx="351861" cy="351861"/>
          </a:xfrm>
          <a:prstGeom prst="rect">
            <a:avLst/>
          </a:prstGeom>
        </p:spPr>
      </p:pic>
      <p:sp>
        <p:nvSpPr>
          <p:cNvPr id="21" name="A4-b"/>
          <p:cNvSpPr/>
          <p:nvPr/>
        </p:nvSpPr>
        <p:spPr>
          <a:xfrm>
            <a:off x="6775704" y="2075688"/>
            <a:ext cx="274320" cy="274320"/>
          </a:xfrm>
          <a:prstGeom prst="ellipse">
            <a:avLst/>
          </a:prstGeom>
          <a:solidFill>
            <a:srgbClr val="030607"/>
          </a:solidFill>
          <a:ln w="12700">
            <a:solidFill>
              <a:srgbClr val="01A3A3"/>
            </a:solidFill>
            <a:prstDash val="solid"/>
          </a:ln>
        </p:spPr>
      </p:sp>
      <p:sp>
        <p:nvSpPr>
          <p:cNvPr id="22" name="A4-bn"/>
          <p:cNvSpPr txBox="1"/>
          <p:nvPr/>
        </p:nvSpPr>
        <p:spPr>
          <a:xfrm>
            <a:off x="6775704" y="2075688"/>
            <a:ext cx="274320" cy="274320"/>
          </a:xfrm>
          <a:prstGeom prst="rect">
            <a:avLst/>
          </a:prstGeom>
          <a:noFill/>
          <a:ln/>
        </p:spPr>
        <p:txBody>
          <a:bodyPr wrap="square" lIns="0" tIns="0" rIns="0" bIns="0" rtlCol="0" anchor="ctr"/>
          <a:lstStyle/>
          <a:p>
            <a:pPr algn="ctr" indent="0" marL="0">
              <a:buNone/>
            </a:pPr>
            <a:r>
              <a:rPr lang="en-US" sz="900" dirty="0">
                <a:solidFill>
                  <a:srgbClr val="0CCCCC"/>
                </a:solidFill>
                <a:latin typeface="Poppins ExtraBold" pitchFamily="34" charset="0"/>
                <a:ea typeface="Poppins ExtraBold" pitchFamily="34" charset="-122"/>
                <a:cs typeface="Poppins ExtraBold" pitchFamily="34" charset="-120"/>
              </a:rPr>
              <a:t>3</a:t>
            </a:r>
            <a:endParaRPr lang="en-US" sz="900" dirty="0"/>
          </a:p>
        </p:txBody>
      </p:sp>
      <p:sp>
        <p:nvSpPr>
          <p:cNvPr id="23" name="A4-t"/>
          <p:cNvSpPr txBox="1"/>
          <p:nvPr/>
        </p:nvSpPr>
        <p:spPr>
          <a:xfrm>
            <a:off x="6089904" y="2935224"/>
            <a:ext cx="2194560" cy="310896"/>
          </a:xfrm>
          <a:prstGeom prst="rect">
            <a:avLst/>
          </a:prstGeom>
          <a:noFill/>
          <a:ln/>
        </p:spPr>
        <p:txBody>
          <a:bodyPr wrap="square" lIns="0" tIns="0" rIns="0" bIns="0" rtlCol="0" anchor="t"/>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CV</a:t>
            </a:r>
            <a:endParaRPr lang="en-US" sz="1600" dirty="0"/>
          </a:p>
        </p:txBody>
      </p:sp>
      <p:sp>
        <p:nvSpPr>
          <p:cNvPr id="24" name="A4-d"/>
          <p:cNvSpPr txBox="1"/>
          <p:nvPr/>
        </p:nvSpPr>
        <p:spPr>
          <a:xfrm>
            <a:off x="6089904" y="3246120"/>
            <a:ext cx="2194560" cy="502920"/>
          </a:xfrm>
          <a:prstGeom prst="rect">
            <a:avLst/>
          </a:prstGeom>
          <a:noFill/>
          <a:ln/>
        </p:spPr>
        <p:txBody>
          <a:bodyPr wrap="square" lIns="0" tIns="0" rIns="0" bIns="0" rtlCol="0" anchor="t"/>
          <a:lstStyle/>
          <a:p>
            <a:pPr algn="ctr" indent="0" marL="0">
              <a:buNone/>
            </a:pPr>
            <a:r>
              <a:rPr lang="en-US" sz="1300" dirty="0">
                <a:solidFill>
                  <a:srgbClr val="9FB0B0"/>
                </a:solidFill>
                <a:latin typeface="Poppins" pitchFamily="34" charset="0"/>
                <a:ea typeface="Poppins" pitchFamily="34" charset="-122"/>
                <a:cs typeface="Poppins" pitchFamily="34" charset="-120"/>
              </a:rPr>
              <a:t>One page. Projects first. Links that work.</a:t>
            </a:r>
            <a:endParaRPr lang="en-US" sz="1300" dirty="0"/>
          </a:p>
        </p:txBody>
      </p:sp>
      <p:sp>
        <p:nvSpPr>
          <p:cNvPr id="25" name="A5-c"/>
          <p:cNvSpPr/>
          <p:nvPr/>
        </p:nvSpPr>
        <p:spPr>
          <a:xfrm>
            <a:off x="9656064" y="2148840"/>
            <a:ext cx="676656" cy="676656"/>
          </a:xfrm>
          <a:prstGeom prst="ellipse">
            <a:avLst/>
          </a:prstGeom>
          <a:solidFill>
            <a:srgbClr val="0CCCCC"/>
          </a:solidFill>
          <a:ln/>
        </p:spPr>
      </p:sp>
      <p:pic>
        <p:nvPicPr>
          <p:cNvPr id="26" name="A5-c-i" descr="preencoded.png">    </p:cNvPr>
          <p:cNvPicPr>
            <a:picLocks noChangeAspect="1"/>
          </p:cNvPicPr>
          <p:nvPr/>
        </p:nvPicPr>
        <p:blipFill>
          <a:blip r:embed="rId5"/>
          <a:stretch>
            <a:fillRect/>
          </a:stretch>
        </p:blipFill>
        <p:spPr>
          <a:xfrm>
            <a:off x="9818461" y="2311237"/>
            <a:ext cx="351861" cy="351861"/>
          </a:xfrm>
          <a:prstGeom prst="rect">
            <a:avLst/>
          </a:prstGeom>
        </p:spPr>
      </p:pic>
      <p:sp>
        <p:nvSpPr>
          <p:cNvPr id="27" name="A5-b"/>
          <p:cNvSpPr/>
          <p:nvPr/>
        </p:nvSpPr>
        <p:spPr>
          <a:xfrm>
            <a:off x="9582912" y="2075688"/>
            <a:ext cx="274320" cy="274320"/>
          </a:xfrm>
          <a:prstGeom prst="ellipse">
            <a:avLst/>
          </a:prstGeom>
          <a:solidFill>
            <a:srgbClr val="030607"/>
          </a:solidFill>
          <a:ln w="12700">
            <a:solidFill>
              <a:srgbClr val="01A3A3"/>
            </a:solidFill>
            <a:prstDash val="solid"/>
          </a:ln>
        </p:spPr>
      </p:sp>
      <p:sp>
        <p:nvSpPr>
          <p:cNvPr id="28" name="A5-bn"/>
          <p:cNvSpPr txBox="1"/>
          <p:nvPr/>
        </p:nvSpPr>
        <p:spPr>
          <a:xfrm>
            <a:off x="9582912" y="2075688"/>
            <a:ext cx="274320" cy="274320"/>
          </a:xfrm>
          <a:prstGeom prst="rect">
            <a:avLst/>
          </a:prstGeom>
          <a:noFill/>
          <a:ln/>
        </p:spPr>
        <p:txBody>
          <a:bodyPr wrap="square" lIns="0" tIns="0" rIns="0" bIns="0" rtlCol="0" anchor="ctr"/>
          <a:lstStyle/>
          <a:p>
            <a:pPr algn="ctr" indent="0" marL="0">
              <a:buNone/>
            </a:pPr>
            <a:r>
              <a:rPr lang="en-US" sz="900" dirty="0">
                <a:solidFill>
                  <a:srgbClr val="0CCCCC"/>
                </a:solidFill>
                <a:latin typeface="Poppins ExtraBold" pitchFamily="34" charset="0"/>
                <a:ea typeface="Poppins ExtraBold" pitchFamily="34" charset="-122"/>
                <a:cs typeface="Poppins ExtraBold" pitchFamily="34" charset="-120"/>
              </a:rPr>
              <a:t>4</a:t>
            </a:r>
            <a:endParaRPr lang="en-US" sz="900" dirty="0"/>
          </a:p>
        </p:txBody>
      </p:sp>
      <p:sp>
        <p:nvSpPr>
          <p:cNvPr id="29" name="A5-t"/>
          <p:cNvSpPr txBox="1"/>
          <p:nvPr/>
        </p:nvSpPr>
        <p:spPr>
          <a:xfrm>
            <a:off x="8668512" y="2935224"/>
            <a:ext cx="2194560" cy="310896"/>
          </a:xfrm>
          <a:prstGeom prst="rect">
            <a:avLst/>
          </a:prstGeom>
          <a:noFill/>
          <a:ln/>
        </p:spPr>
        <p:txBody>
          <a:bodyPr wrap="square" lIns="0" tIns="0" rIns="0" bIns="0" rtlCol="0" anchor="t"/>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LinkedIn</a:t>
            </a:r>
            <a:endParaRPr lang="en-US" sz="1600" dirty="0"/>
          </a:p>
        </p:txBody>
      </p:sp>
      <p:sp>
        <p:nvSpPr>
          <p:cNvPr id="30" name="A5-d"/>
          <p:cNvSpPr txBox="1"/>
          <p:nvPr/>
        </p:nvSpPr>
        <p:spPr>
          <a:xfrm>
            <a:off x="8668512" y="3246120"/>
            <a:ext cx="2194560" cy="502920"/>
          </a:xfrm>
          <a:prstGeom prst="rect">
            <a:avLst/>
          </a:prstGeom>
          <a:noFill/>
          <a:ln/>
        </p:spPr>
        <p:txBody>
          <a:bodyPr wrap="square" lIns="0" tIns="0" rIns="0" bIns="0" rtlCol="0" anchor="t"/>
          <a:lstStyle/>
          <a:p>
            <a:pPr algn="ctr" indent="0" marL="0">
              <a:buNone/>
            </a:pPr>
            <a:r>
              <a:rPr lang="en-US" sz="1300" dirty="0">
                <a:solidFill>
                  <a:srgbClr val="9FB0B0"/>
                </a:solidFill>
                <a:latin typeface="Poppins" pitchFamily="34" charset="0"/>
                <a:ea typeface="Poppins" pitchFamily="34" charset="-122"/>
                <a:cs typeface="Poppins" pitchFamily="34" charset="-120"/>
              </a:rPr>
              <a:t>Clear headline. Share what you build, weekly.</a:t>
            </a:r>
            <a:endParaRPr lang="en-US" sz="1300" dirty="0"/>
          </a:p>
        </p:txBody>
      </p:sp>
      <p:sp>
        <p:nvSpPr>
          <p:cNvPr id="31" name="A6-c"/>
          <p:cNvSpPr/>
          <p:nvPr/>
        </p:nvSpPr>
        <p:spPr>
          <a:xfrm>
            <a:off x="9656064" y="4315968"/>
            <a:ext cx="676656" cy="676656"/>
          </a:xfrm>
          <a:prstGeom prst="ellipse">
            <a:avLst/>
          </a:prstGeom>
          <a:solidFill>
            <a:srgbClr val="122021"/>
          </a:solidFill>
          <a:ln w="19050">
            <a:solidFill>
              <a:srgbClr val="01A3A3"/>
            </a:solidFill>
            <a:prstDash val="solid"/>
          </a:ln>
        </p:spPr>
      </p:sp>
      <p:pic>
        <p:nvPicPr>
          <p:cNvPr id="32" name="A6-c-i" descr="preencoded.png">    </p:cNvPr>
          <p:cNvPicPr>
            <a:picLocks noChangeAspect="1"/>
          </p:cNvPicPr>
          <p:nvPr/>
        </p:nvPicPr>
        <p:blipFill>
          <a:blip r:embed="rId6"/>
          <a:stretch>
            <a:fillRect/>
          </a:stretch>
        </p:blipFill>
        <p:spPr>
          <a:xfrm>
            <a:off x="9818461" y="4478365"/>
            <a:ext cx="351861" cy="351861"/>
          </a:xfrm>
          <a:prstGeom prst="rect">
            <a:avLst/>
          </a:prstGeom>
        </p:spPr>
      </p:pic>
      <p:sp>
        <p:nvSpPr>
          <p:cNvPr id="33" name="A6-b"/>
          <p:cNvSpPr/>
          <p:nvPr/>
        </p:nvSpPr>
        <p:spPr>
          <a:xfrm>
            <a:off x="9582912" y="4242816"/>
            <a:ext cx="274320" cy="274320"/>
          </a:xfrm>
          <a:prstGeom prst="ellipse">
            <a:avLst/>
          </a:prstGeom>
          <a:solidFill>
            <a:srgbClr val="030607"/>
          </a:solidFill>
          <a:ln w="12700">
            <a:solidFill>
              <a:srgbClr val="01A3A3"/>
            </a:solidFill>
            <a:prstDash val="solid"/>
          </a:ln>
        </p:spPr>
      </p:sp>
      <p:sp>
        <p:nvSpPr>
          <p:cNvPr id="34" name="A6-bn"/>
          <p:cNvSpPr txBox="1"/>
          <p:nvPr/>
        </p:nvSpPr>
        <p:spPr>
          <a:xfrm>
            <a:off x="9582912" y="4242816"/>
            <a:ext cx="274320" cy="274320"/>
          </a:xfrm>
          <a:prstGeom prst="rect">
            <a:avLst/>
          </a:prstGeom>
          <a:noFill/>
          <a:ln/>
        </p:spPr>
        <p:txBody>
          <a:bodyPr wrap="square" lIns="0" tIns="0" rIns="0" bIns="0" rtlCol="0" anchor="ctr"/>
          <a:lstStyle/>
          <a:p>
            <a:pPr algn="ctr" indent="0" marL="0">
              <a:buNone/>
            </a:pPr>
            <a:r>
              <a:rPr lang="en-US" sz="900" dirty="0">
                <a:solidFill>
                  <a:srgbClr val="0CCCCC"/>
                </a:solidFill>
                <a:latin typeface="Poppins ExtraBold" pitchFamily="34" charset="0"/>
                <a:ea typeface="Poppins ExtraBold" pitchFamily="34" charset="-122"/>
                <a:cs typeface="Poppins ExtraBold" pitchFamily="34" charset="-120"/>
              </a:rPr>
              <a:t>5</a:t>
            </a:r>
            <a:endParaRPr lang="en-US" sz="900" dirty="0"/>
          </a:p>
        </p:txBody>
      </p:sp>
      <p:sp>
        <p:nvSpPr>
          <p:cNvPr id="35" name="A6-t"/>
          <p:cNvSpPr txBox="1"/>
          <p:nvPr/>
        </p:nvSpPr>
        <p:spPr>
          <a:xfrm>
            <a:off x="8668512" y="5102352"/>
            <a:ext cx="2194560" cy="310896"/>
          </a:xfrm>
          <a:prstGeom prst="rect">
            <a:avLst/>
          </a:prstGeom>
          <a:noFill/>
          <a:ln/>
        </p:spPr>
        <p:txBody>
          <a:bodyPr wrap="square" lIns="0" tIns="0" rIns="0" bIns="0" rtlCol="0" anchor="t"/>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Networking</a:t>
            </a:r>
            <a:endParaRPr lang="en-US" sz="1600" dirty="0"/>
          </a:p>
        </p:txBody>
      </p:sp>
      <p:sp>
        <p:nvSpPr>
          <p:cNvPr id="36" name="A6-d"/>
          <p:cNvSpPr txBox="1"/>
          <p:nvPr/>
        </p:nvSpPr>
        <p:spPr>
          <a:xfrm>
            <a:off x="8668512" y="5413248"/>
            <a:ext cx="2194560" cy="502920"/>
          </a:xfrm>
          <a:prstGeom prst="rect">
            <a:avLst/>
          </a:prstGeom>
          <a:noFill/>
          <a:ln/>
        </p:spPr>
        <p:txBody>
          <a:bodyPr wrap="square" lIns="0" tIns="0" rIns="0" bIns="0" rtlCol="0" anchor="t"/>
          <a:lstStyle/>
          <a:p>
            <a:pPr algn="ctr" indent="0" marL="0">
              <a:buNone/>
            </a:pPr>
            <a:r>
              <a:rPr lang="en-US" sz="1300" dirty="0">
                <a:solidFill>
                  <a:srgbClr val="9FB0B0"/>
                </a:solidFill>
                <a:latin typeface="Poppins" pitchFamily="34" charset="0"/>
                <a:ea typeface="Poppins" pitchFamily="34" charset="-122"/>
                <a:cs typeface="Poppins" pitchFamily="34" charset="-120"/>
              </a:rPr>
              <a:t>Meetups, hackathons, communities. Help first.</a:t>
            </a:r>
            <a:endParaRPr lang="en-US" sz="1300" dirty="0"/>
          </a:p>
        </p:txBody>
      </p:sp>
      <p:sp>
        <p:nvSpPr>
          <p:cNvPr id="37" name="A7-c"/>
          <p:cNvSpPr/>
          <p:nvPr/>
        </p:nvSpPr>
        <p:spPr>
          <a:xfrm>
            <a:off x="6848856" y="4315968"/>
            <a:ext cx="676656" cy="676656"/>
          </a:xfrm>
          <a:prstGeom prst="ellipse">
            <a:avLst/>
          </a:prstGeom>
          <a:solidFill>
            <a:srgbClr val="122021"/>
          </a:solidFill>
          <a:ln w="19050">
            <a:solidFill>
              <a:srgbClr val="01A3A3"/>
            </a:solidFill>
            <a:prstDash val="solid"/>
          </a:ln>
        </p:spPr>
      </p:sp>
      <p:pic>
        <p:nvPicPr>
          <p:cNvPr id="38" name="A7-c-i" descr="preencoded.png">    </p:cNvPr>
          <p:cNvPicPr>
            <a:picLocks noChangeAspect="1"/>
          </p:cNvPicPr>
          <p:nvPr/>
        </p:nvPicPr>
        <p:blipFill>
          <a:blip r:embed="rId7"/>
          <a:stretch>
            <a:fillRect/>
          </a:stretch>
        </p:blipFill>
        <p:spPr>
          <a:xfrm>
            <a:off x="7011253" y="4478365"/>
            <a:ext cx="351861" cy="351861"/>
          </a:xfrm>
          <a:prstGeom prst="rect">
            <a:avLst/>
          </a:prstGeom>
        </p:spPr>
      </p:pic>
      <p:sp>
        <p:nvSpPr>
          <p:cNvPr id="39" name="A7-b"/>
          <p:cNvSpPr/>
          <p:nvPr/>
        </p:nvSpPr>
        <p:spPr>
          <a:xfrm>
            <a:off x="6775704" y="4242816"/>
            <a:ext cx="274320" cy="274320"/>
          </a:xfrm>
          <a:prstGeom prst="ellipse">
            <a:avLst/>
          </a:prstGeom>
          <a:solidFill>
            <a:srgbClr val="030607"/>
          </a:solidFill>
          <a:ln w="12700">
            <a:solidFill>
              <a:srgbClr val="01A3A3"/>
            </a:solidFill>
            <a:prstDash val="solid"/>
          </a:ln>
        </p:spPr>
      </p:sp>
      <p:sp>
        <p:nvSpPr>
          <p:cNvPr id="40" name="A7-bn"/>
          <p:cNvSpPr txBox="1"/>
          <p:nvPr/>
        </p:nvSpPr>
        <p:spPr>
          <a:xfrm>
            <a:off x="6775704" y="4242816"/>
            <a:ext cx="274320" cy="274320"/>
          </a:xfrm>
          <a:prstGeom prst="rect">
            <a:avLst/>
          </a:prstGeom>
          <a:noFill/>
          <a:ln/>
        </p:spPr>
        <p:txBody>
          <a:bodyPr wrap="square" lIns="0" tIns="0" rIns="0" bIns="0" rtlCol="0" anchor="ctr"/>
          <a:lstStyle/>
          <a:p>
            <a:pPr algn="ctr" indent="0" marL="0">
              <a:buNone/>
            </a:pPr>
            <a:r>
              <a:rPr lang="en-US" sz="900" dirty="0">
                <a:solidFill>
                  <a:srgbClr val="0CCCCC"/>
                </a:solidFill>
                <a:latin typeface="Poppins ExtraBold" pitchFamily="34" charset="0"/>
                <a:ea typeface="Poppins ExtraBold" pitchFamily="34" charset="-122"/>
                <a:cs typeface="Poppins ExtraBold" pitchFamily="34" charset="-120"/>
              </a:rPr>
              <a:t>6</a:t>
            </a:r>
            <a:endParaRPr lang="en-US" sz="900" dirty="0"/>
          </a:p>
        </p:txBody>
      </p:sp>
      <p:sp>
        <p:nvSpPr>
          <p:cNvPr id="41" name="A7-t"/>
          <p:cNvSpPr txBox="1"/>
          <p:nvPr/>
        </p:nvSpPr>
        <p:spPr>
          <a:xfrm>
            <a:off x="6089904" y="5102352"/>
            <a:ext cx="2194560" cy="310896"/>
          </a:xfrm>
          <a:prstGeom prst="rect">
            <a:avLst/>
          </a:prstGeom>
          <a:noFill/>
          <a:ln/>
        </p:spPr>
        <p:txBody>
          <a:bodyPr wrap="square" lIns="0" tIns="0" rIns="0" bIns="0" rtlCol="0" anchor="t"/>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Internships</a:t>
            </a:r>
            <a:endParaRPr lang="en-US" sz="1600" dirty="0"/>
          </a:p>
        </p:txBody>
      </p:sp>
      <p:sp>
        <p:nvSpPr>
          <p:cNvPr id="42" name="A7-d"/>
          <p:cNvSpPr txBox="1"/>
          <p:nvPr/>
        </p:nvSpPr>
        <p:spPr>
          <a:xfrm>
            <a:off x="6089904" y="5413248"/>
            <a:ext cx="2194560" cy="502920"/>
          </a:xfrm>
          <a:prstGeom prst="rect">
            <a:avLst/>
          </a:prstGeom>
          <a:noFill/>
          <a:ln/>
        </p:spPr>
        <p:txBody>
          <a:bodyPr wrap="square" lIns="0" tIns="0" rIns="0" bIns="0" rtlCol="0" anchor="t"/>
          <a:lstStyle/>
          <a:p>
            <a:pPr algn="ctr" indent="0" marL="0">
              <a:buNone/>
            </a:pPr>
            <a:r>
              <a:rPr lang="en-US" sz="1300" dirty="0">
                <a:solidFill>
                  <a:srgbClr val="9FB0B0"/>
                </a:solidFill>
                <a:latin typeface="Poppins" pitchFamily="34" charset="0"/>
                <a:ea typeface="Poppins" pitchFamily="34" charset="-122"/>
                <a:cs typeface="Poppins" pitchFamily="34" charset="-120"/>
              </a:rPr>
              <a:t>Apply early. Small startups count.</a:t>
            </a:r>
            <a:endParaRPr lang="en-US" sz="1300" dirty="0"/>
          </a:p>
        </p:txBody>
      </p:sp>
      <p:sp>
        <p:nvSpPr>
          <p:cNvPr id="43" name="A8-c"/>
          <p:cNvSpPr/>
          <p:nvPr/>
        </p:nvSpPr>
        <p:spPr>
          <a:xfrm>
            <a:off x="4041648" y="4315968"/>
            <a:ext cx="676656" cy="676656"/>
          </a:xfrm>
          <a:prstGeom prst="ellipse">
            <a:avLst/>
          </a:prstGeom>
          <a:solidFill>
            <a:srgbClr val="122021"/>
          </a:solidFill>
          <a:ln w="19050">
            <a:solidFill>
              <a:srgbClr val="01A3A3"/>
            </a:solidFill>
            <a:prstDash val="solid"/>
          </a:ln>
        </p:spPr>
      </p:sp>
      <p:pic>
        <p:nvPicPr>
          <p:cNvPr id="44" name="A8-c-i" descr="preencoded.png">    </p:cNvPr>
          <p:cNvPicPr>
            <a:picLocks noChangeAspect="1"/>
          </p:cNvPicPr>
          <p:nvPr/>
        </p:nvPicPr>
        <p:blipFill>
          <a:blip r:embed="rId8"/>
          <a:stretch>
            <a:fillRect/>
          </a:stretch>
        </p:blipFill>
        <p:spPr>
          <a:xfrm>
            <a:off x="4204045" y="4478365"/>
            <a:ext cx="351861" cy="351861"/>
          </a:xfrm>
          <a:prstGeom prst="rect">
            <a:avLst/>
          </a:prstGeom>
        </p:spPr>
      </p:pic>
      <p:sp>
        <p:nvSpPr>
          <p:cNvPr id="45" name="A8-b"/>
          <p:cNvSpPr/>
          <p:nvPr/>
        </p:nvSpPr>
        <p:spPr>
          <a:xfrm>
            <a:off x="3968496" y="4242816"/>
            <a:ext cx="274320" cy="274320"/>
          </a:xfrm>
          <a:prstGeom prst="ellipse">
            <a:avLst/>
          </a:prstGeom>
          <a:solidFill>
            <a:srgbClr val="030607"/>
          </a:solidFill>
          <a:ln w="12700">
            <a:solidFill>
              <a:srgbClr val="01A3A3"/>
            </a:solidFill>
            <a:prstDash val="solid"/>
          </a:ln>
        </p:spPr>
      </p:sp>
      <p:sp>
        <p:nvSpPr>
          <p:cNvPr id="46" name="A8-bn"/>
          <p:cNvSpPr txBox="1"/>
          <p:nvPr/>
        </p:nvSpPr>
        <p:spPr>
          <a:xfrm>
            <a:off x="3968496" y="4242816"/>
            <a:ext cx="274320" cy="274320"/>
          </a:xfrm>
          <a:prstGeom prst="rect">
            <a:avLst/>
          </a:prstGeom>
          <a:noFill/>
          <a:ln/>
        </p:spPr>
        <p:txBody>
          <a:bodyPr wrap="square" lIns="0" tIns="0" rIns="0" bIns="0" rtlCol="0" anchor="ctr"/>
          <a:lstStyle/>
          <a:p>
            <a:pPr algn="ctr" indent="0" marL="0">
              <a:buNone/>
            </a:pPr>
            <a:r>
              <a:rPr lang="en-US" sz="900" dirty="0">
                <a:solidFill>
                  <a:srgbClr val="0CCCCC"/>
                </a:solidFill>
                <a:latin typeface="Poppins ExtraBold" pitchFamily="34" charset="0"/>
                <a:ea typeface="Poppins ExtraBold" pitchFamily="34" charset="-122"/>
                <a:cs typeface="Poppins ExtraBold" pitchFamily="34" charset="-120"/>
              </a:rPr>
              <a:t>7</a:t>
            </a:r>
            <a:endParaRPr lang="en-US" sz="900" dirty="0"/>
          </a:p>
        </p:txBody>
      </p:sp>
      <p:sp>
        <p:nvSpPr>
          <p:cNvPr id="47" name="A8-t"/>
          <p:cNvSpPr txBox="1"/>
          <p:nvPr/>
        </p:nvSpPr>
        <p:spPr>
          <a:xfrm>
            <a:off x="3282696" y="5102352"/>
            <a:ext cx="2194560" cy="310896"/>
          </a:xfrm>
          <a:prstGeom prst="rect">
            <a:avLst/>
          </a:prstGeom>
          <a:noFill/>
          <a:ln/>
        </p:spPr>
        <p:txBody>
          <a:bodyPr wrap="square" lIns="0" tIns="0" rIns="0" bIns="0" rtlCol="0" anchor="t"/>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Interviews</a:t>
            </a:r>
            <a:endParaRPr lang="en-US" sz="1600" dirty="0"/>
          </a:p>
        </p:txBody>
      </p:sp>
      <p:sp>
        <p:nvSpPr>
          <p:cNvPr id="48" name="A8-d"/>
          <p:cNvSpPr txBox="1"/>
          <p:nvPr/>
        </p:nvSpPr>
        <p:spPr>
          <a:xfrm>
            <a:off x="3282696" y="5413248"/>
            <a:ext cx="2194560" cy="502920"/>
          </a:xfrm>
          <a:prstGeom prst="rect">
            <a:avLst/>
          </a:prstGeom>
          <a:noFill/>
          <a:ln/>
        </p:spPr>
        <p:txBody>
          <a:bodyPr wrap="square" lIns="0" tIns="0" rIns="0" bIns="0" rtlCol="0" anchor="t"/>
          <a:lstStyle/>
          <a:p>
            <a:pPr algn="ctr" indent="0" marL="0">
              <a:buNone/>
            </a:pPr>
            <a:r>
              <a:rPr lang="en-US" sz="1300" dirty="0">
                <a:solidFill>
                  <a:srgbClr val="9FB0B0"/>
                </a:solidFill>
                <a:latin typeface="Poppins" pitchFamily="34" charset="0"/>
                <a:ea typeface="Poppins" pitchFamily="34" charset="-122"/>
                <a:cs typeface="Poppins" pitchFamily="34" charset="-120"/>
              </a:rPr>
              <a:t>Explain your own project's decisions out loud.</a:t>
            </a:r>
            <a:endParaRPr lang="en-US" sz="1300" dirty="0"/>
          </a:p>
        </p:txBody>
      </p:sp>
      <p:pic>
        <p:nvPicPr>
          <p:cNvPr id="49" name="Image 8" descr="/private/tmp/claude-501/-Users-swibit-skillture/f1e62dc3-dfc1-4d04-897a-70d066cdcef5/scratchpad/deck/img/glow_coral.png">    </p:cNvPr>
          <p:cNvPicPr>
            <a:picLocks noChangeAspect="1"/>
          </p:cNvPicPr>
          <p:nvPr/>
        </p:nvPicPr>
        <p:blipFill>
          <a:blip r:embed="rId9">
            <a:alphaModFix amt="45000"/>
          </a:blip>
          <a:stretch>
            <a:fillRect/>
          </a:stretch>
        </p:blipFill>
        <p:spPr>
          <a:xfrm>
            <a:off x="749808" y="3831336"/>
            <a:ext cx="1645920" cy="1645920"/>
          </a:xfrm>
          <a:prstGeom prst="rect">
            <a:avLst/>
          </a:prstGeom>
        </p:spPr>
      </p:pic>
      <p:sp>
        <p:nvSpPr>
          <p:cNvPr id="50" name="A9-c"/>
          <p:cNvSpPr/>
          <p:nvPr/>
        </p:nvSpPr>
        <p:spPr>
          <a:xfrm>
            <a:off x="1234440" y="4315968"/>
            <a:ext cx="676656" cy="676656"/>
          </a:xfrm>
          <a:prstGeom prst="ellipse">
            <a:avLst/>
          </a:prstGeom>
          <a:solidFill>
            <a:srgbClr val="FF4D4D"/>
          </a:solidFill>
          <a:ln/>
        </p:spPr>
      </p:sp>
      <p:pic>
        <p:nvPicPr>
          <p:cNvPr id="51" name="A9-c-i" descr="preencoded.png">    </p:cNvPr>
          <p:cNvPicPr>
            <a:picLocks noChangeAspect="1"/>
          </p:cNvPicPr>
          <p:nvPr/>
        </p:nvPicPr>
        <p:blipFill>
          <a:blip r:embed="rId10"/>
          <a:stretch>
            <a:fillRect/>
          </a:stretch>
        </p:blipFill>
        <p:spPr>
          <a:xfrm>
            <a:off x="1396837" y="4478365"/>
            <a:ext cx="351861" cy="351861"/>
          </a:xfrm>
          <a:prstGeom prst="rect">
            <a:avLst/>
          </a:prstGeom>
        </p:spPr>
      </p:pic>
      <p:sp>
        <p:nvSpPr>
          <p:cNvPr id="52" name="A9-b"/>
          <p:cNvSpPr/>
          <p:nvPr/>
        </p:nvSpPr>
        <p:spPr>
          <a:xfrm>
            <a:off x="1161288" y="4242816"/>
            <a:ext cx="274320" cy="274320"/>
          </a:xfrm>
          <a:prstGeom prst="ellipse">
            <a:avLst/>
          </a:prstGeom>
          <a:solidFill>
            <a:srgbClr val="030607"/>
          </a:solidFill>
          <a:ln w="12700">
            <a:solidFill>
              <a:srgbClr val="01A3A3"/>
            </a:solidFill>
            <a:prstDash val="solid"/>
          </a:ln>
        </p:spPr>
      </p:sp>
      <p:sp>
        <p:nvSpPr>
          <p:cNvPr id="53" name="A9-bn"/>
          <p:cNvSpPr txBox="1"/>
          <p:nvPr/>
        </p:nvSpPr>
        <p:spPr>
          <a:xfrm>
            <a:off x="1161288" y="4242816"/>
            <a:ext cx="274320" cy="274320"/>
          </a:xfrm>
          <a:prstGeom prst="rect">
            <a:avLst/>
          </a:prstGeom>
          <a:noFill/>
          <a:ln/>
        </p:spPr>
        <p:txBody>
          <a:bodyPr wrap="square" lIns="0" tIns="0" rIns="0" bIns="0" rtlCol="0" anchor="ctr"/>
          <a:lstStyle/>
          <a:p>
            <a:pPr algn="ctr" indent="0" marL="0">
              <a:buNone/>
            </a:pPr>
            <a:r>
              <a:rPr lang="en-US" sz="900" dirty="0">
                <a:solidFill>
                  <a:srgbClr val="0CCCCC"/>
                </a:solidFill>
                <a:latin typeface="Poppins ExtraBold" pitchFamily="34" charset="0"/>
                <a:ea typeface="Poppins ExtraBold" pitchFamily="34" charset="-122"/>
                <a:cs typeface="Poppins ExtraBold" pitchFamily="34" charset="-120"/>
              </a:rPr>
              <a:t>8</a:t>
            </a:r>
            <a:endParaRPr lang="en-US" sz="900" dirty="0"/>
          </a:p>
        </p:txBody>
      </p:sp>
      <p:sp>
        <p:nvSpPr>
          <p:cNvPr id="54" name="A9-t"/>
          <p:cNvSpPr txBox="1"/>
          <p:nvPr/>
        </p:nvSpPr>
        <p:spPr>
          <a:xfrm>
            <a:off x="475488" y="5102352"/>
            <a:ext cx="2194560" cy="310896"/>
          </a:xfrm>
          <a:prstGeom prst="rect">
            <a:avLst/>
          </a:prstGeom>
          <a:noFill/>
          <a:ln/>
        </p:spPr>
        <p:txBody>
          <a:bodyPr wrap="square" lIns="0" tIns="0" rIns="0" bIns="0" rtlCol="0" anchor="t"/>
          <a:lstStyle/>
          <a:p>
            <a:pPr algn="ctr" indent="0" marL="0">
              <a:buNone/>
            </a:pPr>
            <a:r>
              <a:rPr lang="en-US" sz="1600" dirty="0">
                <a:solidFill>
                  <a:srgbClr val="FF4D4D"/>
                </a:solidFill>
                <a:latin typeface="Poppins SemiBold" pitchFamily="34" charset="0"/>
                <a:ea typeface="Poppins SemiBold" pitchFamily="34" charset="-122"/>
                <a:cs typeface="Poppins SemiBold" pitchFamily="34" charset="-120"/>
              </a:rPr>
              <a:t>Applications</a:t>
            </a:r>
            <a:endParaRPr lang="en-US" sz="1600" dirty="0"/>
          </a:p>
        </p:txBody>
      </p:sp>
      <p:sp>
        <p:nvSpPr>
          <p:cNvPr id="55" name="A9-d"/>
          <p:cNvSpPr txBox="1"/>
          <p:nvPr/>
        </p:nvSpPr>
        <p:spPr>
          <a:xfrm>
            <a:off x="475488" y="5413248"/>
            <a:ext cx="2194560" cy="502920"/>
          </a:xfrm>
          <a:prstGeom prst="rect">
            <a:avLst/>
          </a:prstGeom>
          <a:noFill/>
          <a:ln/>
        </p:spPr>
        <p:txBody>
          <a:bodyPr wrap="square" lIns="0" tIns="0" rIns="0" bIns="0" rtlCol="0" anchor="t"/>
          <a:lstStyle/>
          <a:p>
            <a:pPr algn="ctr" indent="0" marL="0">
              <a:buNone/>
            </a:pPr>
            <a:r>
              <a:rPr lang="en-US" sz="1300" dirty="0">
                <a:solidFill>
                  <a:srgbClr val="9FB0B0"/>
                </a:solidFill>
                <a:latin typeface="Poppins" pitchFamily="34" charset="0"/>
                <a:ea typeface="Poppins" pitchFamily="34" charset="-122"/>
                <a:cs typeface="Poppins" pitchFamily="34" charset="-120"/>
              </a:rPr>
              <a:t>Tailor each one. Track them. Follow up.</a:t>
            </a:r>
            <a:endParaRPr lang="en-US" sz="1300" dirty="0"/>
          </a:p>
        </p:txBody>
      </p:sp>
      <p:sp>
        <p:nvSpPr>
          <p:cNvPr id="56" name="A2-start"/>
          <p:cNvSpPr txBox="1"/>
          <p:nvPr/>
        </p:nvSpPr>
        <p:spPr>
          <a:xfrm>
            <a:off x="274320" y="2368296"/>
            <a:ext cx="914400" cy="237744"/>
          </a:xfrm>
          <a:prstGeom prst="rect">
            <a:avLst/>
          </a:prstGeom>
          <a:noFill/>
          <a:ln/>
        </p:spPr>
        <p:txBody>
          <a:bodyPr wrap="square" lIns="0" tIns="0" rIns="0" bIns="0" rtlCol="0" anchor="t"/>
          <a:lstStyle/>
          <a:p>
            <a:pPr algn="r" indent="0" marL="0">
              <a:buNone/>
            </a:pPr>
            <a:r>
              <a:rPr lang="en-US" sz="1000" spc="200" kern="0" dirty="0">
                <a:solidFill>
                  <a:srgbClr val="0CCCCC"/>
                </a:solidFill>
                <a:latin typeface="Poppins SemiBold" pitchFamily="34" charset="0"/>
                <a:ea typeface="Poppins SemiBold" pitchFamily="34" charset="-122"/>
                <a:cs typeface="Poppins SemiBold" pitchFamily="34" charset="-120"/>
              </a:rPr>
              <a:t>START</a:t>
            </a:r>
            <a:endParaRPr lang="en-US" sz="1000" dirty="0"/>
          </a:p>
        </p:txBody>
      </p:sp>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8282"/>
                </a:solidFill>
                <a:latin typeface="Poppins SemiBold"/>
                <a:ea typeface="Poppins SemiBold"/>
                <a:cs typeface="Poppins SemiBold"/>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80"/>
                                        <p:tgtEl>
                                          <p:spTgt spid="4"/>
                                        </p:tgtEl>
                                      </p:cBhvr>
                                    </p:animEffect>
                                  </p:childTnLst>
                                </p:cTn>
                              </p:par>
                              <p:par>
                                <p:cTn id="8" presetID="22" presetClass="entr" presetSubtype="8" fill="hold" grpId="0" nodeType="withEffect">
                                  <p:stCondLst>
                                    <p:cond delay="32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480"/>
                                        <p:tgtEl>
                                          <p:spTgt spid="6"/>
                                        </p:tgtEl>
                                      </p:cBhvr>
                                    </p:animEffect>
                                  </p:childTnLst>
                                </p:cTn>
                              </p:par>
                              <p:par>
                                <p:cTn id="11" presetID="10" presetClass="entr" presetSubtype="0" fill="hold" grpId="0" nodeType="withEffect">
                                  <p:stCondLst>
                                    <p:cond delay="64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80"/>
                                        <p:tgtEl>
                                          <p:spTgt spid="7"/>
                                        </p:tgtEl>
                                      </p:cBhvr>
                                    </p:animEffect>
                                  </p:childTnLst>
                                </p:cTn>
                              </p:par>
                              <p:par>
                                <p:cTn id="14" presetID="10" presetClass="entr" presetSubtype="0" fill="hold" grpId="0" nodeType="withEffect">
                                  <p:stCondLst>
                                    <p:cond delay="64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80"/>
                                        <p:tgtEl>
                                          <p:spTgt spid="8"/>
                                        </p:tgtEl>
                                      </p:cBhvr>
                                    </p:animEffect>
                                  </p:childTnLst>
                                </p:cTn>
                              </p:par>
                              <p:par>
                                <p:cTn id="17" presetID="10" presetClass="entr" presetSubtype="0" fill="hold" grpId="0" nodeType="withEffect">
                                  <p:stCondLst>
                                    <p:cond delay="64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80"/>
                                        <p:tgtEl>
                                          <p:spTgt spid="9"/>
                                        </p:tgtEl>
                                      </p:cBhvr>
                                    </p:animEffect>
                                  </p:childTnLst>
                                </p:cTn>
                              </p:par>
                              <p:par>
                                <p:cTn id="20" presetID="10" presetClass="entr" presetSubtype="0" fill="hold" grpId="0" nodeType="withEffect">
                                  <p:stCondLst>
                                    <p:cond delay="64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80"/>
                                        <p:tgtEl>
                                          <p:spTgt spid="10"/>
                                        </p:tgtEl>
                                      </p:cBhvr>
                                    </p:animEffect>
                                  </p:childTnLst>
                                </p:cTn>
                              </p:par>
                              <p:par>
                                <p:cTn id="23" presetID="10" presetClass="entr" presetSubtype="0" fill="hold" grpId="0" nodeType="withEffect">
                                  <p:stCondLst>
                                    <p:cond delay="64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80"/>
                                        <p:tgtEl>
                                          <p:spTgt spid="11"/>
                                        </p:tgtEl>
                                      </p:cBhvr>
                                    </p:animEffect>
                                  </p:childTnLst>
                                </p:cTn>
                              </p:par>
                              <p:par>
                                <p:cTn id="26" presetID="10" presetClass="entr" presetSubtype="0" fill="hold" grpId="0" nodeType="withEffect">
                                  <p:stCondLst>
                                    <p:cond delay="64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80"/>
                                        <p:tgtEl>
                                          <p:spTgt spid="12"/>
                                        </p:tgtEl>
                                      </p:cBhvr>
                                    </p:animEffect>
                                  </p:childTnLst>
                                </p:cTn>
                              </p:par>
                              <p:par>
                                <p:cTn id="29" presetID="10" presetClass="entr" presetSubtype="0" fill="hold" grpId="0" nodeType="withEffect">
                                  <p:stCondLst>
                                    <p:cond delay="640"/>
                                  </p:stCondLst>
                                  <p:childTnLst>
                                    <p:set>
                                      <p:cBhvr>
                                        <p:cTn id="30" dur="1" fill="hold">
                                          <p:stCondLst>
                                            <p:cond delay="0"/>
                                          </p:stCondLst>
                                        </p:cTn>
                                        <p:tgtEl>
                                          <p:spTgt spid="56"/>
                                        </p:tgtEl>
                                        <p:attrNameLst>
                                          <p:attrName>style.visibility</p:attrName>
                                        </p:attrNameLst>
                                      </p:cBhvr>
                                      <p:to>
                                        <p:strVal val="visible"/>
                                      </p:to>
                                    </p:set>
                                    <p:animEffect transition="in" filter="fade">
                                      <p:cBhvr>
                                        <p:cTn id="31" dur="480"/>
                                        <p:tgtEl>
                                          <p:spTgt spid="56"/>
                                        </p:tgtEl>
                                      </p:cBhvr>
                                    </p:animEffect>
                                  </p:childTnLst>
                                </p:cTn>
                              </p:par>
                              <p:par>
                                <p:cTn id="32" presetID="10" presetClass="entr" presetSubtype="0" fill="hold" grpId="0" nodeType="withEffect">
                                  <p:stCondLst>
                                    <p:cond delay="96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80"/>
                                        <p:tgtEl>
                                          <p:spTgt spid="13"/>
                                        </p:tgtEl>
                                      </p:cBhvr>
                                    </p:animEffect>
                                  </p:childTnLst>
                                </p:cTn>
                              </p:par>
                              <p:par>
                                <p:cTn id="35" presetID="10" presetClass="entr" presetSubtype="0" fill="hold" grpId="0" nodeType="withEffect">
                                  <p:stCondLst>
                                    <p:cond delay="96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80"/>
                                        <p:tgtEl>
                                          <p:spTgt spid="14"/>
                                        </p:tgtEl>
                                      </p:cBhvr>
                                    </p:animEffect>
                                  </p:childTnLst>
                                </p:cTn>
                              </p:par>
                              <p:par>
                                <p:cTn id="38" presetID="10" presetClass="entr" presetSubtype="0" fill="hold" grpId="0" nodeType="withEffect">
                                  <p:stCondLst>
                                    <p:cond delay="96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80"/>
                                        <p:tgtEl>
                                          <p:spTgt spid="15"/>
                                        </p:tgtEl>
                                      </p:cBhvr>
                                    </p:animEffect>
                                  </p:childTnLst>
                                </p:cTn>
                              </p:par>
                              <p:par>
                                <p:cTn id="41" presetID="10" presetClass="entr" presetSubtype="0" fill="hold" grpId="0" nodeType="withEffect">
                                  <p:stCondLst>
                                    <p:cond delay="96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80"/>
                                        <p:tgtEl>
                                          <p:spTgt spid="16"/>
                                        </p:tgtEl>
                                      </p:cBhvr>
                                    </p:animEffect>
                                  </p:childTnLst>
                                </p:cTn>
                              </p:par>
                              <p:par>
                                <p:cTn id="44" presetID="10" presetClass="entr" presetSubtype="0" fill="hold" grpId="0" nodeType="withEffect">
                                  <p:stCondLst>
                                    <p:cond delay="96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80"/>
                                        <p:tgtEl>
                                          <p:spTgt spid="17"/>
                                        </p:tgtEl>
                                      </p:cBhvr>
                                    </p:animEffect>
                                  </p:childTnLst>
                                </p:cTn>
                              </p:par>
                              <p:par>
                                <p:cTn id="47" presetID="10" presetClass="entr" presetSubtype="0" fill="hold" grpId="0" nodeType="withEffect">
                                  <p:stCondLst>
                                    <p:cond delay="96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80"/>
                                        <p:tgtEl>
                                          <p:spTgt spid="18"/>
                                        </p:tgtEl>
                                      </p:cBhvr>
                                    </p:animEffect>
                                  </p:childTnLst>
                                </p:cTn>
                              </p:par>
                              <p:par>
                                <p:cTn id="50" presetID="10" presetClass="entr" presetSubtype="0" fill="hold" grpId="0" nodeType="withEffect">
                                  <p:stCondLst>
                                    <p:cond delay="128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80"/>
                                        <p:tgtEl>
                                          <p:spTgt spid="19"/>
                                        </p:tgtEl>
                                      </p:cBhvr>
                                    </p:animEffect>
                                  </p:childTnLst>
                                </p:cTn>
                              </p:par>
                              <p:par>
                                <p:cTn id="53" presetID="10" presetClass="entr" presetSubtype="0" fill="hold" grpId="0" nodeType="withEffect">
                                  <p:stCondLst>
                                    <p:cond delay="128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80"/>
                                        <p:tgtEl>
                                          <p:spTgt spid="20"/>
                                        </p:tgtEl>
                                      </p:cBhvr>
                                    </p:animEffect>
                                  </p:childTnLst>
                                </p:cTn>
                              </p:par>
                              <p:par>
                                <p:cTn id="56" presetID="10" presetClass="entr" presetSubtype="0" fill="hold" grpId="0" nodeType="withEffect">
                                  <p:stCondLst>
                                    <p:cond delay="128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80"/>
                                        <p:tgtEl>
                                          <p:spTgt spid="21"/>
                                        </p:tgtEl>
                                      </p:cBhvr>
                                    </p:animEffect>
                                  </p:childTnLst>
                                </p:cTn>
                              </p:par>
                              <p:par>
                                <p:cTn id="59" presetID="10" presetClass="entr" presetSubtype="0" fill="hold" grpId="0" nodeType="withEffect">
                                  <p:stCondLst>
                                    <p:cond delay="128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80"/>
                                        <p:tgtEl>
                                          <p:spTgt spid="22"/>
                                        </p:tgtEl>
                                      </p:cBhvr>
                                    </p:animEffect>
                                  </p:childTnLst>
                                </p:cTn>
                              </p:par>
                              <p:par>
                                <p:cTn id="62" presetID="10" presetClass="entr" presetSubtype="0" fill="hold" grpId="0" nodeType="withEffect">
                                  <p:stCondLst>
                                    <p:cond delay="128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80"/>
                                        <p:tgtEl>
                                          <p:spTgt spid="23"/>
                                        </p:tgtEl>
                                      </p:cBhvr>
                                    </p:animEffect>
                                  </p:childTnLst>
                                </p:cTn>
                              </p:par>
                              <p:par>
                                <p:cTn id="65" presetID="10" presetClass="entr" presetSubtype="0" fill="hold" grpId="0" nodeType="withEffect">
                                  <p:stCondLst>
                                    <p:cond delay="128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80"/>
                                        <p:tgtEl>
                                          <p:spTgt spid="24"/>
                                        </p:tgtEl>
                                      </p:cBhvr>
                                    </p:animEffect>
                                  </p:childTnLst>
                                </p:cTn>
                              </p:par>
                              <p:par>
                                <p:cTn id="68" presetID="10" presetClass="entr" presetSubtype="0" fill="hold" grpId="0" nodeType="withEffect">
                                  <p:stCondLst>
                                    <p:cond delay="160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80"/>
                                        <p:tgtEl>
                                          <p:spTgt spid="25"/>
                                        </p:tgtEl>
                                      </p:cBhvr>
                                    </p:animEffect>
                                  </p:childTnLst>
                                </p:cTn>
                              </p:par>
                              <p:par>
                                <p:cTn id="71" presetID="10" presetClass="entr" presetSubtype="0" fill="hold" grpId="0" nodeType="withEffect">
                                  <p:stCondLst>
                                    <p:cond delay="160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80"/>
                                        <p:tgtEl>
                                          <p:spTgt spid="26"/>
                                        </p:tgtEl>
                                      </p:cBhvr>
                                    </p:animEffect>
                                  </p:childTnLst>
                                </p:cTn>
                              </p:par>
                              <p:par>
                                <p:cTn id="74" presetID="10" presetClass="entr" presetSubtype="0" fill="hold" grpId="0" nodeType="withEffect">
                                  <p:stCondLst>
                                    <p:cond delay="160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80"/>
                                        <p:tgtEl>
                                          <p:spTgt spid="27"/>
                                        </p:tgtEl>
                                      </p:cBhvr>
                                    </p:animEffect>
                                  </p:childTnLst>
                                </p:cTn>
                              </p:par>
                              <p:par>
                                <p:cTn id="77" presetID="10" presetClass="entr" presetSubtype="0" fill="hold" grpId="0" nodeType="withEffect">
                                  <p:stCondLst>
                                    <p:cond delay="160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80"/>
                                        <p:tgtEl>
                                          <p:spTgt spid="28"/>
                                        </p:tgtEl>
                                      </p:cBhvr>
                                    </p:animEffect>
                                  </p:childTnLst>
                                </p:cTn>
                              </p:par>
                              <p:par>
                                <p:cTn id="80" presetID="10" presetClass="entr" presetSubtype="0" fill="hold" grpId="0" nodeType="withEffect">
                                  <p:stCondLst>
                                    <p:cond delay="160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80"/>
                                        <p:tgtEl>
                                          <p:spTgt spid="29"/>
                                        </p:tgtEl>
                                      </p:cBhvr>
                                    </p:animEffect>
                                  </p:childTnLst>
                                </p:cTn>
                              </p:par>
                              <p:par>
                                <p:cTn id="83" presetID="10" presetClass="entr" presetSubtype="0" fill="hold" grpId="0" nodeType="withEffect">
                                  <p:stCondLst>
                                    <p:cond delay="160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80"/>
                                        <p:tgtEl>
                                          <p:spTgt spid="30"/>
                                        </p:tgtEl>
                                      </p:cBhvr>
                                    </p:animEffect>
                                  </p:childTnLst>
                                </p:cTn>
                              </p:par>
                              <p:par>
                                <p:cTn id="86" presetID="10" presetClass="entr" presetSubtype="0" fill="hold" grpId="0" nodeType="withEffect">
                                  <p:stCondLst>
                                    <p:cond delay="192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80"/>
                                        <p:tgtEl>
                                          <p:spTgt spid="31"/>
                                        </p:tgtEl>
                                      </p:cBhvr>
                                    </p:animEffect>
                                  </p:childTnLst>
                                </p:cTn>
                              </p:par>
                              <p:par>
                                <p:cTn id="89" presetID="10" presetClass="entr" presetSubtype="0" fill="hold" grpId="0" nodeType="withEffect">
                                  <p:stCondLst>
                                    <p:cond delay="192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80"/>
                                        <p:tgtEl>
                                          <p:spTgt spid="32"/>
                                        </p:tgtEl>
                                      </p:cBhvr>
                                    </p:animEffect>
                                  </p:childTnLst>
                                </p:cTn>
                              </p:par>
                              <p:par>
                                <p:cTn id="92" presetID="10" presetClass="entr" presetSubtype="0" fill="hold" grpId="0" nodeType="withEffect">
                                  <p:stCondLst>
                                    <p:cond delay="192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80"/>
                                        <p:tgtEl>
                                          <p:spTgt spid="33"/>
                                        </p:tgtEl>
                                      </p:cBhvr>
                                    </p:animEffect>
                                  </p:childTnLst>
                                </p:cTn>
                              </p:par>
                              <p:par>
                                <p:cTn id="95" presetID="10" presetClass="entr" presetSubtype="0" fill="hold" grpId="0" nodeType="withEffect">
                                  <p:stCondLst>
                                    <p:cond delay="192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80"/>
                                        <p:tgtEl>
                                          <p:spTgt spid="34"/>
                                        </p:tgtEl>
                                      </p:cBhvr>
                                    </p:animEffect>
                                  </p:childTnLst>
                                </p:cTn>
                              </p:par>
                              <p:par>
                                <p:cTn id="98" presetID="10" presetClass="entr" presetSubtype="0" fill="hold" grpId="0" nodeType="withEffect">
                                  <p:stCondLst>
                                    <p:cond delay="192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80"/>
                                        <p:tgtEl>
                                          <p:spTgt spid="35"/>
                                        </p:tgtEl>
                                      </p:cBhvr>
                                    </p:animEffect>
                                  </p:childTnLst>
                                </p:cTn>
                              </p:par>
                              <p:par>
                                <p:cTn id="101" presetID="10" presetClass="entr" presetSubtype="0" fill="hold" grpId="0" nodeType="withEffect">
                                  <p:stCondLst>
                                    <p:cond delay="192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80"/>
                                        <p:tgtEl>
                                          <p:spTgt spid="36"/>
                                        </p:tgtEl>
                                      </p:cBhvr>
                                    </p:animEffect>
                                  </p:childTnLst>
                                </p:cTn>
                              </p:par>
                              <p:par>
                                <p:cTn id="104" presetID="10" presetClass="entr" presetSubtype="0" fill="hold" grpId="0" nodeType="withEffect">
                                  <p:stCondLst>
                                    <p:cond delay="224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80"/>
                                        <p:tgtEl>
                                          <p:spTgt spid="37"/>
                                        </p:tgtEl>
                                      </p:cBhvr>
                                    </p:animEffect>
                                  </p:childTnLst>
                                </p:cTn>
                              </p:par>
                              <p:par>
                                <p:cTn id="107" presetID="10" presetClass="entr" presetSubtype="0" fill="hold" grpId="0" nodeType="withEffect">
                                  <p:stCondLst>
                                    <p:cond delay="224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480"/>
                                        <p:tgtEl>
                                          <p:spTgt spid="38"/>
                                        </p:tgtEl>
                                      </p:cBhvr>
                                    </p:animEffect>
                                  </p:childTnLst>
                                </p:cTn>
                              </p:par>
                              <p:par>
                                <p:cTn id="110" presetID="10" presetClass="entr" presetSubtype="0" fill="hold" grpId="0" nodeType="withEffect">
                                  <p:stCondLst>
                                    <p:cond delay="224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480"/>
                                        <p:tgtEl>
                                          <p:spTgt spid="39"/>
                                        </p:tgtEl>
                                      </p:cBhvr>
                                    </p:animEffect>
                                  </p:childTnLst>
                                </p:cTn>
                              </p:par>
                              <p:par>
                                <p:cTn id="113" presetID="10" presetClass="entr" presetSubtype="0" fill="hold" grpId="0" nodeType="withEffect">
                                  <p:stCondLst>
                                    <p:cond delay="224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480"/>
                                        <p:tgtEl>
                                          <p:spTgt spid="40"/>
                                        </p:tgtEl>
                                      </p:cBhvr>
                                    </p:animEffect>
                                  </p:childTnLst>
                                </p:cTn>
                              </p:par>
                              <p:par>
                                <p:cTn id="116" presetID="10" presetClass="entr" presetSubtype="0" fill="hold" grpId="0" nodeType="withEffect">
                                  <p:stCondLst>
                                    <p:cond delay="224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480"/>
                                        <p:tgtEl>
                                          <p:spTgt spid="41"/>
                                        </p:tgtEl>
                                      </p:cBhvr>
                                    </p:animEffect>
                                  </p:childTnLst>
                                </p:cTn>
                              </p:par>
                              <p:par>
                                <p:cTn id="119" presetID="10" presetClass="entr" presetSubtype="0" fill="hold" grpId="0" nodeType="withEffect">
                                  <p:stCondLst>
                                    <p:cond delay="224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480"/>
                                        <p:tgtEl>
                                          <p:spTgt spid="42"/>
                                        </p:tgtEl>
                                      </p:cBhvr>
                                    </p:animEffect>
                                  </p:childTnLst>
                                </p:cTn>
                              </p:par>
                              <p:par>
                                <p:cTn id="122" presetID="10" presetClass="entr" presetSubtype="0" fill="hold" grpId="0" nodeType="withEffect">
                                  <p:stCondLst>
                                    <p:cond delay="256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480"/>
                                        <p:tgtEl>
                                          <p:spTgt spid="43"/>
                                        </p:tgtEl>
                                      </p:cBhvr>
                                    </p:animEffect>
                                  </p:childTnLst>
                                </p:cTn>
                              </p:par>
                              <p:par>
                                <p:cTn id="125" presetID="10" presetClass="entr" presetSubtype="0" fill="hold" grpId="0" nodeType="withEffect">
                                  <p:stCondLst>
                                    <p:cond delay="256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480"/>
                                        <p:tgtEl>
                                          <p:spTgt spid="44"/>
                                        </p:tgtEl>
                                      </p:cBhvr>
                                    </p:animEffect>
                                  </p:childTnLst>
                                </p:cTn>
                              </p:par>
                              <p:par>
                                <p:cTn id="128" presetID="10" presetClass="entr" presetSubtype="0" fill="hold" grpId="0" nodeType="withEffect">
                                  <p:stCondLst>
                                    <p:cond delay="2560"/>
                                  </p:stCondLst>
                                  <p:childTnLst>
                                    <p:set>
                                      <p:cBhvr>
                                        <p:cTn id="129" dur="1" fill="hold">
                                          <p:stCondLst>
                                            <p:cond delay="0"/>
                                          </p:stCondLst>
                                        </p:cTn>
                                        <p:tgtEl>
                                          <p:spTgt spid="45"/>
                                        </p:tgtEl>
                                        <p:attrNameLst>
                                          <p:attrName>style.visibility</p:attrName>
                                        </p:attrNameLst>
                                      </p:cBhvr>
                                      <p:to>
                                        <p:strVal val="visible"/>
                                      </p:to>
                                    </p:set>
                                    <p:animEffect transition="in" filter="fade">
                                      <p:cBhvr>
                                        <p:cTn id="130" dur="480"/>
                                        <p:tgtEl>
                                          <p:spTgt spid="45"/>
                                        </p:tgtEl>
                                      </p:cBhvr>
                                    </p:animEffect>
                                  </p:childTnLst>
                                </p:cTn>
                              </p:par>
                              <p:par>
                                <p:cTn id="131" presetID="10" presetClass="entr" presetSubtype="0" fill="hold" grpId="0" nodeType="withEffect">
                                  <p:stCondLst>
                                    <p:cond delay="2560"/>
                                  </p:stCondLst>
                                  <p:childTnLst>
                                    <p:set>
                                      <p:cBhvr>
                                        <p:cTn id="132" dur="1" fill="hold">
                                          <p:stCondLst>
                                            <p:cond delay="0"/>
                                          </p:stCondLst>
                                        </p:cTn>
                                        <p:tgtEl>
                                          <p:spTgt spid="46"/>
                                        </p:tgtEl>
                                        <p:attrNameLst>
                                          <p:attrName>style.visibility</p:attrName>
                                        </p:attrNameLst>
                                      </p:cBhvr>
                                      <p:to>
                                        <p:strVal val="visible"/>
                                      </p:to>
                                    </p:set>
                                    <p:animEffect transition="in" filter="fade">
                                      <p:cBhvr>
                                        <p:cTn id="133" dur="480"/>
                                        <p:tgtEl>
                                          <p:spTgt spid="46"/>
                                        </p:tgtEl>
                                      </p:cBhvr>
                                    </p:animEffect>
                                  </p:childTnLst>
                                </p:cTn>
                              </p:par>
                              <p:par>
                                <p:cTn id="134" presetID="10" presetClass="entr" presetSubtype="0" fill="hold" grpId="0" nodeType="withEffect">
                                  <p:stCondLst>
                                    <p:cond delay="2560"/>
                                  </p:stCondLst>
                                  <p:childTnLst>
                                    <p:set>
                                      <p:cBhvr>
                                        <p:cTn id="135" dur="1" fill="hold">
                                          <p:stCondLst>
                                            <p:cond delay="0"/>
                                          </p:stCondLst>
                                        </p:cTn>
                                        <p:tgtEl>
                                          <p:spTgt spid="47"/>
                                        </p:tgtEl>
                                        <p:attrNameLst>
                                          <p:attrName>style.visibility</p:attrName>
                                        </p:attrNameLst>
                                      </p:cBhvr>
                                      <p:to>
                                        <p:strVal val="visible"/>
                                      </p:to>
                                    </p:set>
                                    <p:animEffect transition="in" filter="fade">
                                      <p:cBhvr>
                                        <p:cTn id="136" dur="480"/>
                                        <p:tgtEl>
                                          <p:spTgt spid="47"/>
                                        </p:tgtEl>
                                      </p:cBhvr>
                                    </p:animEffect>
                                  </p:childTnLst>
                                </p:cTn>
                              </p:par>
                              <p:par>
                                <p:cTn id="137" presetID="10" presetClass="entr" presetSubtype="0" fill="hold" grpId="0" nodeType="withEffect">
                                  <p:stCondLst>
                                    <p:cond delay="2560"/>
                                  </p:stCondLst>
                                  <p:childTnLst>
                                    <p:set>
                                      <p:cBhvr>
                                        <p:cTn id="138" dur="1" fill="hold">
                                          <p:stCondLst>
                                            <p:cond delay="0"/>
                                          </p:stCondLst>
                                        </p:cTn>
                                        <p:tgtEl>
                                          <p:spTgt spid="48"/>
                                        </p:tgtEl>
                                        <p:attrNameLst>
                                          <p:attrName>style.visibility</p:attrName>
                                        </p:attrNameLst>
                                      </p:cBhvr>
                                      <p:to>
                                        <p:strVal val="visible"/>
                                      </p:to>
                                    </p:set>
                                    <p:animEffect transition="in" filter="fade">
                                      <p:cBhvr>
                                        <p:cTn id="139" dur="480"/>
                                        <p:tgtEl>
                                          <p:spTgt spid="48"/>
                                        </p:tgtEl>
                                      </p:cBhvr>
                                    </p:animEffect>
                                  </p:childTnLst>
                                </p:cTn>
                              </p:par>
                              <p:par>
                                <p:cTn id="140" presetID="10" presetClass="entr" presetSubtype="0" fill="hold" grpId="0" nodeType="withEffect">
                                  <p:stCondLst>
                                    <p:cond delay="288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480"/>
                                        <p:tgtEl>
                                          <p:spTgt spid="50"/>
                                        </p:tgtEl>
                                      </p:cBhvr>
                                    </p:animEffect>
                                  </p:childTnLst>
                                </p:cTn>
                              </p:par>
                              <p:par>
                                <p:cTn id="143" presetID="10" presetClass="entr" presetSubtype="0" fill="hold" grpId="0" nodeType="withEffect">
                                  <p:stCondLst>
                                    <p:cond delay="2880"/>
                                  </p:stCondLst>
                                  <p:childTnLst>
                                    <p:set>
                                      <p:cBhvr>
                                        <p:cTn id="144" dur="1" fill="hold">
                                          <p:stCondLst>
                                            <p:cond delay="0"/>
                                          </p:stCondLst>
                                        </p:cTn>
                                        <p:tgtEl>
                                          <p:spTgt spid="51"/>
                                        </p:tgtEl>
                                        <p:attrNameLst>
                                          <p:attrName>style.visibility</p:attrName>
                                        </p:attrNameLst>
                                      </p:cBhvr>
                                      <p:to>
                                        <p:strVal val="visible"/>
                                      </p:to>
                                    </p:set>
                                    <p:animEffect transition="in" filter="fade">
                                      <p:cBhvr>
                                        <p:cTn id="145" dur="480"/>
                                        <p:tgtEl>
                                          <p:spTgt spid="51"/>
                                        </p:tgtEl>
                                      </p:cBhvr>
                                    </p:animEffect>
                                  </p:childTnLst>
                                </p:cTn>
                              </p:par>
                              <p:par>
                                <p:cTn id="146" presetID="10" presetClass="entr" presetSubtype="0" fill="hold" grpId="0" nodeType="withEffect">
                                  <p:stCondLst>
                                    <p:cond delay="2880"/>
                                  </p:stCondLst>
                                  <p:childTnLst>
                                    <p:set>
                                      <p:cBhvr>
                                        <p:cTn id="147" dur="1" fill="hold">
                                          <p:stCondLst>
                                            <p:cond delay="0"/>
                                          </p:stCondLst>
                                        </p:cTn>
                                        <p:tgtEl>
                                          <p:spTgt spid="52"/>
                                        </p:tgtEl>
                                        <p:attrNameLst>
                                          <p:attrName>style.visibility</p:attrName>
                                        </p:attrNameLst>
                                      </p:cBhvr>
                                      <p:to>
                                        <p:strVal val="visible"/>
                                      </p:to>
                                    </p:set>
                                    <p:animEffect transition="in" filter="fade">
                                      <p:cBhvr>
                                        <p:cTn id="148" dur="480"/>
                                        <p:tgtEl>
                                          <p:spTgt spid="52"/>
                                        </p:tgtEl>
                                      </p:cBhvr>
                                    </p:animEffect>
                                  </p:childTnLst>
                                </p:cTn>
                              </p:par>
                              <p:par>
                                <p:cTn id="149" presetID="10" presetClass="entr" presetSubtype="0" fill="hold" grpId="0" nodeType="withEffect">
                                  <p:stCondLst>
                                    <p:cond delay="2880"/>
                                  </p:stCondLst>
                                  <p:childTnLst>
                                    <p:set>
                                      <p:cBhvr>
                                        <p:cTn id="150" dur="1" fill="hold">
                                          <p:stCondLst>
                                            <p:cond delay="0"/>
                                          </p:stCondLst>
                                        </p:cTn>
                                        <p:tgtEl>
                                          <p:spTgt spid="53"/>
                                        </p:tgtEl>
                                        <p:attrNameLst>
                                          <p:attrName>style.visibility</p:attrName>
                                        </p:attrNameLst>
                                      </p:cBhvr>
                                      <p:to>
                                        <p:strVal val="visible"/>
                                      </p:to>
                                    </p:set>
                                    <p:animEffect transition="in" filter="fade">
                                      <p:cBhvr>
                                        <p:cTn id="151" dur="480"/>
                                        <p:tgtEl>
                                          <p:spTgt spid="53"/>
                                        </p:tgtEl>
                                      </p:cBhvr>
                                    </p:animEffect>
                                  </p:childTnLst>
                                </p:cTn>
                              </p:par>
                              <p:par>
                                <p:cTn id="152" presetID="10" presetClass="entr" presetSubtype="0" fill="hold" grpId="0" nodeType="withEffect">
                                  <p:stCondLst>
                                    <p:cond delay="2880"/>
                                  </p:stCondLst>
                                  <p:childTnLst>
                                    <p:set>
                                      <p:cBhvr>
                                        <p:cTn id="153" dur="1" fill="hold">
                                          <p:stCondLst>
                                            <p:cond delay="0"/>
                                          </p:stCondLst>
                                        </p:cTn>
                                        <p:tgtEl>
                                          <p:spTgt spid="54"/>
                                        </p:tgtEl>
                                        <p:attrNameLst>
                                          <p:attrName>style.visibility</p:attrName>
                                        </p:attrNameLst>
                                      </p:cBhvr>
                                      <p:to>
                                        <p:strVal val="visible"/>
                                      </p:to>
                                    </p:set>
                                    <p:animEffect transition="in" filter="fade">
                                      <p:cBhvr>
                                        <p:cTn id="154" dur="480"/>
                                        <p:tgtEl>
                                          <p:spTgt spid="54"/>
                                        </p:tgtEl>
                                      </p:cBhvr>
                                    </p:animEffect>
                                  </p:childTnLst>
                                </p:cTn>
                              </p:par>
                              <p:par>
                                <p:cTn id="155" presetID="10" presetClass="entr" presetSubtype="0" fill="hold" grpId="0" nodeType="withEffect">
                                  <p:stCondLst>
                                    <p:cond delay="2880"/>
                                  </p:stCondLst>
                                  <p:childTnLst>
                                    <p:set>
                                      <p:cBhvr>
                                        <p:cTn id="156" dur="1" fill="hold">
                                          <p:stCondLst>
                                            <p:cond delay="0"/>
                                          </p:stCondLst>
                                        </p:cTn>
                                        <p:tgtEl>
                                          <p:spTgt spid="55"/>
                                        </p:tgtEl>
                                        <p:attrNameLst>
                                          <p:attrName>style.visibility</p:attrName>
                                        </p:attrNameLst>
                                      </p:cBhvr>
                                      <p:to>
                                        <p:strVal val="visible"/>
                                      </p:to>
                                    </p:set>
                                    <p:animEffect transition="in" filter="fade">
                                      <p:cBhvr>
                                        <p:cTn id="157" dur="48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9" grpId="0" animBg="1"/>
      <p:bldP spid="40" grpId="0" animBg="1"/>
      <p:bldP spid="41" grpId="0" animBg="1"/>
      <p:bldP spid="42" grpId="0" animBg="1"/>
      <p:bldP spid="43" grpId="0" animBg="1"/>
      <p:bldP spid="45" grpId="0" animBg="1"/>
      <p:bldP spid="46" grpId="0" animBg="1"/>
      <p:bldP spid="47" grpId="0" animBg="1"/>
      <p:bldP spid="48" grpId="0" animBg="1"/>
      <p:bldP spid="50" grpId="0" animBg="1"/>
      <p:bldP spid="52" grpId="0" animBg="1"/>
      <p:bldP spid="53" grpId="0" animBg="1"/>
      <p:bldP spid="54" grpId="0" animBg="1"/>
      <p:bldP spid="55" grpId="0" animBg="1"/>
      <p:bldP spid="5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A0-eyebrow"/>
          <p:cNvSpPr txBox="1"/>
          <p:nvPr/>
        </p:nvSpPr>
        <p:spPr>
          <a:xfrm>
            <a:off x="685800" y="457200"/>
            <a:ext cx="8229600" cy="274320"/>
          </a:xfrm>
          <a:prstGeom prst="rect">
            <a:avLst/>
          </a:prstGeom>
          <a:noFill/>
          <a:ln/>
        </p:spPr>
        <p:txBody>
          <a:bodyPr wrap="square" lIns="0" tIns="0" rIns="0" bIns="0" rtlCol="0" anchor="t"/>
          <a:lstStyle/>
          <a:p>
            <a:pPr indent="0" marL="0">
              <a:buNone/>
            </a:pPr>
            <a:r>
              <a:rPr lang="en-US" sz="1200" spc="300" kern="0" dirty="0">
                <a:solidFill>
                  <a:srgbClr val="000000"/>
                </a:solidFill>
                <a:latin typeface="Poppins SemiBold" pitchFamily="34" charset="0"/>
                <a:ea typeface="Poppins SemiBold" pitchFamily="34" charset="-122"/>
                <a:cs typeface="Poppins SemiBold" pitchFamily="34" charset="-120"/>
              </a:rPr>
              <a:t>10  ·  THE 30-DAY CHALLENGE</a:t>
            </a:r>
            <a:endParaRPr lang="en-US" sz="1200" dirty="0"/>
          </a:p>
        </p:txBody>
      </p:sp>
      <p:sp>
        <p:nvSpPr>
          <p:cNvPr id="4" name="Text 1"/>
          <p:cNvSpPr/>
          <p:nvPr>
            <p:ph idx="102" type="title" hasCustomPrompt="1"/>
          </p:nvPr>
        </p:nvSpPr>
        <p:spPr>
          <a:xfrm>
            <a:off x="685800" y="749808"/>
            <a:ext cx="10820095" cy="685800"/>
          </a:xfrm>
          <a:prstGeom prst="rect">
            <a:avLst/>
          </a:prstGeom>
          <a:noFill/>
          <a:ln/>
        </p:spPr>
        <p:txBody>
          <a:bodyPr wrap="square" lIns="0" tIns="0" rIns="0" bIns="0" rtlCol="0" anchor="t"/>
          <a:lstStyle/>
          <a:p>
            <a:pPr algn="l" indent="0" marL="0">
              <a:buNone/>
            </a:pPr>
            <a:r>
              <a:rPr lang="en-US" sz="3600" dirty="0">
                <a:solidFill>
                  <a:srgbClr val="000000"/>
                </a:solidFill>
                <a:latin typeface="Poppins ExtraBold" pitchFamily="34" charset="0"/>
                <a:ea typeface="Poppins ExtraBold" pitchFamily="34" charset="-122"/>
                <a:cs typeface="Poppins ExtraBold" pitchFamily="34" charset="-120"/>
              </a:rPr>
              <a:t>Your Next 30 Days</a:t>
            </a:r>
            <a:endParaRPr lang="en-US" sz="3600" dirty="0"/>
          </a:p>
        </p:txBody>
      </p:sp>
      <p:sp>
        <p:nvSpPr>
          <p:cNvPr id="5" name="A0-shot"/>
          <p:cNvSpPr/>
          <p:nvPr/>
        </p:nvSpPr>
        <p:spPr>
          <a:xfrm>
            <a:off x="7756855" y="804672"/>
            <a:ext cx="3749040" cy="457200"/>
          </a:xfrm>
          <a:prstGeom prst="roundRect">
            <a:avLst>
              <a:gd name="adj" fmla="val 50000"/>
            </a:avLst>
          </a:prstGeom>
          <a:solidFill>
            <a:srgbClr val="000000"/>
          </a:solidFill>
          <a:ln/>
        </p:spPr>
      </p:sp>
      <p:pic>
        <p:nvPicPr>
          <p:cNvPr id="6" name="A0-shotI" descr="preencoded.png">    </p:cNvPr>
          <p:cNvPicPr>
            <a:picLocks noChangeAspect="1"/>
          </p:cNvPicPr>
          <p:nvPr/>
        </p:nvPicPr>
        <p:blipFill>
          <a:blip r:embed="rId1"/>
          <a:stretch>
            <a:fillRect/>
          </a:stretch>
        </p:blipFill>
        <p:spPr>
          <a:xfrm>
            <a:off x="7958023" y="896112"/>
            <a:ext cx="274320" cy="274320"/>
          </a:xfrm>
          <a:prstGeom prst="rect">
            <a:avLst/>
          </a:prstGeom>
        </p:spPr>
      </p:pic>
      <p:sp>
        <p:nvSpPr>
          <p:cNvPr id="7" name="A0-shotT"/>
          <p:cNvSpPr txBox="1"/>
          <p:nvPr/>
        </p:nvSpPr>
        <p:spPr>
          <a:xfrm>
            <a:off x="8323783" y="804672"/>
            <a:ext cx="3063240" cy="457200"/>
          </a:xfrm>
          <a:prstGeom prst="rect">
            <a:avLst/>
          </a:prstGeom>
          <a:noFill/>
          <a:ln/>
        </p:spPr>
        <p:txBody>
          <a:bodyPr wrap="square" lIns="0" tIns="0" rIns="0" bIns="0" rtlCol="0" anchor="ctr"/>
          <a:lstStyle/>
          <a:p>
            <a:pPr indent="0" marL="0">
              <a:buNone/>
            </a:pPr>
            <a:r>
              <a:rPr lang="en-US" sz="1300" dirty="0">
                <a:solidFill>
                  <a:srgbClr val="FFFFFF"/>
                </a:solidFill>
                <a:latin typeface="Poppins SemiBold" pitchFamily="34" charset="0"/>
                <a:ea typeface="Poppins SemiBold" pitchFamily="34" charset="-122"/>
                <a:cs typeface="Poppins SemiBold" pitchFamily="34" charset="-120"/>
              </a:rPr>
              <a:t>Screenshot this. Start tomorrow.</a:t>
            </a:r>
            <a:endParaRPr lang="en-US" sz="1300" dirty="0"/>
          </a:p>
        </p:txBody>
      </p:sp>
      <p:sp>
        <p:nvSpPr>
          <p:cNvPr id="8" name="A1-c"/>
          <p:cNvSpPr/>
          <p:nvPr/>
        </p:nvSpPr>
        <p:spPr>
          <a:xfrm>
            <a:off x="685800" y="1645920"/>
            <a:ext cx="2533574" cy="4160520"/>
          </a:xfrm>
          <a:prstGeom prst="roundRect">
            <a:avLst>
              <a:gd name="adj" fmla="val 6496"/>
            </a:avLst>
          </a:prstGeom>
          <a:solidFill>
            <a:srgbClr val="000000"/>
          </a:solidFill>
          <a:ln/>
          <a:effectLst>
            <a:outerShdw sx="100000" sy="100000" kx="0" ky="0" algn="bl" rotWithShape="0" blurRad="127000" dist="38100" dir="5400000">
              <a:srgbClr val="000000">
                <a:alpha val="25000"/>
              </a:srgbClr>
            </a:outerShdw>
          </a:effectLst>
        </p:spPr>
      </p:sp>
      <p:sp>
        <p:nvSpPr>
          <p:cNvPr id="9" name="A1-w"/>
          <p:cNvSpPr txBox="1"/>
          <p:nvPr/>
        </p:nvSpPr>
        <p:spPr>
          <a:xfrm>
            <a:off x="960120" y="1920240"/>
            <a:ext cx="1463040" cy="237744"/>
          </a:xfrm>
          <a:prstGeom prst="rect">
            <a:avLst/>
          </a:prstGeom>
          <a:noFill/>
          <a:ln/>
        </p:spPr>
        <p:txBody>
          <a:bodyPr wrap="square" lIns="0" tIns="0" rIns="0" bIns="0" rtlCol="0" anchor="t"/>
          <a:lstStyle/>
          <a:p>
            <a:pPr indent="0" marL="0">
              <a:buNone/>
            </a:pPr>
            <a:r>
              <a:rPr lang="en-US" sz="1100" spc="300" kern="0" dirty="0">
                <a:solidFill>
                  <a:srgbClr val="0CCCCC"/>
                </a:solidFill>
                <a:latin typeface="Poppins SemiBold" pitchFamily="34" charset="0"/>
                <a:ea typeface="Poppins SemiBold" pitchFamily="34" charset="-122"/>
                <a:cs typeface="Poppins SemiBold" pitchFamily="34" charset="-120"/>
              </a:rPr>
              <a:t>WEEK 1</a:t>
            </a:r>
            <a:endParaRPr lang="en-US" sz="1100" dirty="0"/>
          </a:p>
        </p:txBody>
      </p:sp>
      <p:sp>
        <p:nvSpPr>
          <p:cNvPr id="10" name="A1-dy"/>
          <p:cNvSpPr txBox="1"/>
          <p:nvPr/>
        </p:nvSpPr>
        <p:spPr>
          <a:xfrm>
            <a:off x="1802054" y="1920240"/>
            <a:ext cx="1143000" cy="237744"/>
          </a:xfrm>
          <a:prstGeom prst="rect">
            <a:avLst/>
          </a:prstGeom>
          <a:noFill/>
          <a:ln/>
        </p:spPr>
        <p:txBody>
          <a:bodyPr wrap="square" lIns="0" tIns="0" rIns="0" bIns="0" rtlCol="0" anchor="t"/>
          <a:lstStyle/>
          <a:p>
            <a:pPr algn="r" indent="0" marL="0">
              <a:buNone/>
            </a:pPr>
            <a:r>
              <a:rPr lang="en-US" sz="1000" dirty="0">
                <a:solidFill>
                  <a:srgbClr val="6E8282"/>
                </a:solidFill>
                <a:latin typeface="Poppins" pitchFamily="34" charset="0"/>
                <a:ea typeface="Poppins" pitchFamily="34" charset="-122"/>
                <a:cs typeface="Poppins" pitchFamily="34" charset="-120"/>
              </a:rPr>
              <a:t>Day 1–7</a:t>
            </a:r>
            <a:endParaRPr lang="en-US" sz="1000" dirty="0"/>
          </a:p>
        </p:txBody>
      </p:sp>
      <p:sp>
        <p:nvSpPr>
          <p:cNvPr id="11" name="A1-t"/>
          <p:cNvSpPr txBox="1"/>
          <p:nvPr/>
        </p:nvSpPr>
        <p:spPr>
          <a:xfrm>
            <a:off x="960120" y="2212848"/>
            <a:ext cx="2076374" cy="594360"/>
          </a:xfrm>
          <a:prstGeom prst="rect">
            <a:avLst/>
          </a:prstGeom>
          <a:noFill/>
          <a:ln/>
        </p:spPr>
        <p:txBody>
          <a:bodyPr wrap="square" lIns="0" tIns="0" rIns="0" bIns="0" rtlCol="0" anchor="t"/>
          <a:lstStyle/>
          <a:p>
            <a:pPr indent="0" marL="0">
              <a:buNone/>
            </a:pPr>
            <a:r>
              <a:rPr lang="en-US" sz="3600" dirty="0">
                <a:solidFill>
                  <a:srgbClr val="FFFFFF"/>
                </a:solidFill>
                <a:latin typeface="Poppins ExtraBold" pitchFamily="34" charset="0"/>
                <a:ea typeface="Poppins ExtraBold" pitchFamily="34" charset="-122"/>
                <a:cs typeface="Poppins ExtraBold" pitchFamily="34" charset="-120"/>
              </a:rPr>
              <a:t>PICK</a:t>
            </a:r>
            <a:endParaRPr lang="en-US" sz="3600" dirty="0"/>
          </a:p>
        </p:txBody>
      </p:sp>
      <p:sp>
        <p:nvSpPr>
          <p:cNvPr id="12" name="A1-s"/>
          <p:cNvSpPr txBox="1"/>
          <p:nvPr/>
        </p:nvSpPr>
        <p:spPr>
          <a:xfrm>
            <a:off x="960120" y="2852928"/>
            <a:ext cx="2030654" cy="502920"/>
          </a:xfrm>
          <a:prstGeom prst="rect">
            <a:avLst/>
          </a:prstGeom>
          <a:noFill/>
          <a:ln/>
        </p:spPr>
        <p:txBody>
          <a:bodyPr wrap="square" lIns="0" tIns="0" rIns="0" bIns="0" rtlCol="0" anchor="t"/>
          <a:lstStyle/>
          <a:p>
            <a:pPr indent="0" marL="0">
              <a:buNone/>
            </a:pPr>
            <a:r>
              <a:rPr lang="en-US" sz="1300" dirty="0">
                <a:solidFill>
                  <a:srgbClr val="9FB0B0"/>
                </a:solidFill>
                <a:latin typeface="Poppins" pitchFamily="34" charset="0"/>
                <a:ea typeface="Poppins" pitchFamily="34" charset="-122"/>
                <a:cs typeface="Poppins" pitchFamily="34" charset="-120"/>
              </a:rPr>
              <a:t>Choose your problem and your stack.</a:t>
            </a:r>
            <a:endParaRPr lang="en-US" sz="1300" dirty="0"/>
          </a:p>
        </p:txBody>
      </p:sp>
      <p:sp>
        <p:nvSpPr>
          <p:cNvPr id="13" name="A1-hr"/>
          <p:cNvSpPr/>
          <p:nvPr/>
        </p:nvSpPr>
        <p:spPr>
          <a:xfrm>
            <a:off x="960120" y="3456432"/>
            <a:ext cx="1984934" cy="10973"/>
          </a:xfrm>
          <a:prstGeom prst="rect">
            <a:avLst/>
          </a:prstGeom>
          <a:solidFill>
            <a:srgbClr val="26393A"/>
          </a:solidFill>
          <a:ln/>
        </p:spPr>
      </p:sp>
      <p:pic>
        <p:nvPicPr>
          <p:cNvPr id="14" name="A1-bx0" descr="preencoded.png">    </p:cNvPr>
          <p:cNvPicPr>
            <a:picLocks noChangeAspect="1"/>
          </p:cNvPicPr>
          <p:nvPr/>
        </p:nvPicPr>
        <p:blipFill>
          <a:blip r:embed="rId2"/>
          <a:stretch>
            <a:fillRect/>
          </a:stretch>
        </p:blipFill>
        <p:spPr>
          <a:xfrm>
            <a:off x="960120" y="3666744"/>
            <a:ext cx="201168" cy="201168"/>
          </a:xfrm>
          <a:prstGeom prst="rect">
            <a:avLst/>
          </a:prstGeom>
        </p:spPr>
      </p:pic>
      <p:sp>
        <p:nvSpPr>
          <p:cNvPr id="15" name="A1-k0"/>
          <p:cNvSpPr txBox="1"/>
          <p:nvPr/>
        </p:nvSpPr>
        <p:spPr>
          <a:xfrm>
            <a:off x="1289304" y="3639312"/>
            <a:ext cx="1710614" cy="566928"/>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Pick one real problem around you</a:t>
            </a:r>
            <a:endParaRPr lang="en-US" sz="1300" dirty="0"/>
          </a:p>
        </p:txBody>
      </p:sp>
      <p:pic>
        <p:nvPicPr>
          <p:cNvPr id="16" name="A1-bx1" descr="preencoded.png">    </p:cNvPr>
          <p:cNvPicPr>
            <a:picLocks noChangeAspect="1"/>
          </p:cNvPicPr>
          <p:nvPr/>
        </p:nvPicPr>
        <p:blipFill>
          <a:blip r:embed="rId3"/>
          <a:stretch>
            <a:fillRect/>
          </a:stretch>
        </p:blipFill>
        <p:spPr>
          <a:xfrm>
            <a:off x="960120" y="4343400"/>
            <a:ext cx="201168" cy="201168"/>
          </a:xfrm>
          <a:prstGeom prst="rect">
            <a:avLst/>
          </a:prstGeom>
        </p:spPr>
      </p:pic>
      <p:sp>
        <p:nvSpPr>
          <p:cNvPr id="17" name="A1-k1"/>
          <p:cNvSpPr txBox="1"/>
          <p:nvPr/>
        </p:nvSpPr>
        <p:spPr>
          <a:xfrm>
            <a:off x="1289304" y="4315968"/>
            <a:ext cx="1710614" cy="566928"/>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Choose one stack and stick to it</a:t>
            </a:r>
            <a:endParaRPr lang="en-US" sz="1300" dirty="0"/>
          </a:p>
        </p:txBody>
      </p:sp>
      <p:pic>
        <p:nvPicPr>
          <p:cNvPr id="18" name="A1-bx2" descr="preencoded.png">    </p:cNvPr>
          <p:cNvPicPr>
            <a:picLocks noChangeAspect="1"/>
          </p:cNvPicPr>
          <p:nvPr/>
        </p:nvPicPr>
        <p:blipFill>
          <a:blip r:embed="rId4"/>
          <a:stretch>
            <a:fillRect/>
          </a:stretch>
        </p:blipFill>
        <p:spPr>
          <a:xfrm>
            <a:off x="960120" y="5020056"/>
            <a:ext cx="201168" cy="201168"/>
          </a:xfrm>
          <a:prstGeom prst="rect">
            <a:avLst/>
          </a:prstGeom>
        </p:spPr>
      </p:pic>
      <p:sp>
        <p:nvSpPr>
          <p:cNvPr id="19" name="A1-k2"/>
          <p:cNvSpPr txBox="1"/>
          <p:nvPr/>
        </p:nvSpPr>
        <p:spPr>
          <a:xfrm>
            <a:off x="1289304" y="4992624"/>
            <a:ext cx="1710614" cy="566928"/>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Create the repo and a README plan</a:t>
            </a:r>
            <a:endParaRPr lang="en-US" sz="1300" dirty="0"/>
          </a:p>
        </p:txBody>
      </p:sp>
      <p:sp>
        <p:nvSpPr>
          <p:cNvPr id="20" name="A2-c"/>
          <p:cNvSpPr/>
          <p:nvPr/>
        </p:nvSpPr>
        <p:spPr>
          <a:xfrm>
            <a:off x="3447974" y="1645920"/>
            <a:ext cx="2533574" cy="4160520"/>
          </a:xfrm>
          <a:prstGeom prst="roundRect">
            <a:avLst>
              <a:gd name="adj" fmla="val 6496"/>
            </a:avLst>
          </a:prstGeom>
          <a:solidFill>
            <a:srgbClr val="000000"/>
          </a:solidFill>
          <a:ln/>
          <a:effectLst>
            <a:outerShdw sx="100000" sy="100000" kx="0" ky="0" algn="bl" rotWithShape="0" blurRad="127000" dist="38100" dir="5400000">
              <a:srgbClr val="000000">
                <a:alpha val="25000"/>
              </a:srgbClr>
            </a:outerShdw>
          </a:effectLst>
        </p:spPr>
      </p:sp>
      <p:sp>
        <p:nvSpPr>
          <p:cNvPr id="21" name="A2-w"/>
          <p:cNvSpPr txBox="1"/>
          <p:nvPr/>
        </p:nvSpPr>
        <p:spPr>
          <a:xfrm>
            <a:off x="3722294" y="1920240"/>
            <a:ext cx="1463040" cy="237744"/>
          </a:xfrm>
          <a:prstGeom prst="rect">
            <a:avLst/>
          </a:prstGeom>
          <a:noFill/>
          <a:ln/>
        </p:spPr>
        <p:txBody>
          <a:bodyPr wrap="square" lIns="0" tIns="0" rIns="0" bIns="0" rtlCol="0" anchor="t"/>
          <a:lstStyle/>
          <a:p>
            <a:pPr indent="0" marL="0">
              <a:buNone/>
            </a:pPr>
            <a:r>
              <a:rPr lang="en-US" sz="1100" spc="300" kern="0" dirty="0">
                <a:solidFill>
                  <a:srgbClr val="0CCCCC"/>
                </a:solidFill>
                <a:latin typeface="Poppins SemiBold" pitchFamily="34" charset="0"/>
                <a:ea typeface="Poppins SemiBold" pitchFamily="34" charset="-122"/>
                <a:cs typeface="Poppins SemiBold" pitchFamily="34" charset="-120"/>
              </a:rPr>
              <a:t>WEEK 2</a:t>
            </a:r>
            <a:endParaRPr lang="en-US" sz="1100" dirty="0"/>
          </a:p>
        </p:txBody>
      </p:sp>
      <p:sp>
        <p:nvSpPr>
          <p:cNvPr id="22" name="A2-dy"/>
          <p:cNvSpPr txBox="1"/>
          <p:nvPr/>
        </p:nvSpPr>
        <p:spPr>
          <a:xfrm>
            <a:off x="4564228" y="1920240"/>
            <a:ext cx="1143000" cy="237744"/>
          </a:xfrm>
          <a:prstGeom prst="rect">
            <a:avLst/>
          </a:prstGeom>
          <a:noFill/>
          <a:ln/>
        </p:spPr>
        <p:txBody>
          <a:bodyPr wrap="square" lIns="0" tIns="0" rIns="0" bIns="0" rtlCol="0" anchor="t"/>
          <a:lstStyle/>
          <a:p>
            <a:pPr algn="r" indent="0" marL="0">
              <a:buNone/>
            </a:pPr>
            <a:r>
              <a:rPr lang="en-US" sz="1000" dirty="0">
                <a:solidFill>
                  <a:srgbClr val="6E8282"/>
                </a:solidFill>
                <a:latin typeface="Poppins" pitchFamily="34" charset="0"/>
                <a:ea typeface="Poppins" pitchFamily="34" charset="-122"/>
                <a:cs typeface="Poppins" pitchFamily="34" charset="-120"/>
              </a:rPr>
              <a:t>Day 8–14</a:t>
            </a:r>
            <a:endParaRPr lang="en-US" sz="1000" dirty="0"/>
          </a:p>
        </p:txBody>
      </p:sp>
      <p:sp>
        <p:nvSpPr>
          <p:cNvPr id="23" name="A2-t"/>
          <p:cNvSpPr txBox="1"/>
          <p:nvPr/>
        </p:nvSpPr>
        <p:spPr>
          <a:xfrm>
            <a:off x="3722294" y="2212848"/>
            <a:ext cx="2076374" cy="594360"/>
          </a:xfrm>
          <a:prstGeom prst="rect">
            <a:avLst/>
          </a:prstGeom>
          <a:noFill/>
          <a:ln/>
        </p:spPr>
        <p:txBody>
          <a:bodyPr wrap="square" lIns="0" tIns="0" rIns="0" bIns="0" rtlCol="0" anchor="t"/>
          <a:lstStyle/>
          <a:p>
            <a:pPr indent="0" marL="0">
              <a:buNone/>
            </a:pPr>
            <a:r>
              <a:rPr lang="en-US" sz="3600" dirty="0">
                <a:solidFill>
                  <a:srgbClr val="FFFFFF"/>
                </a:solidFill>
                <a:latin typeface="Poppins ExtraBold" pitchFamily="34" charset="0"/>
                <a:ea typeface="Poppins ExtraBold" pitchFamily="34" charset="-122"/>
                <a:cs typeface="Poppins ExtraBold" pitchFamily="34" charset="-120"/>
              </a:rPr>
              <a:t>BUILD</a:t>
            </a:r>
            <a:endParaRPr lang="en-US" sz="3600" dirty="0"/>
          </a:p>
        </p:txBody>
      </p:sp>
      <p:sp>
        <p:nvSpPr>
          <p:cNvPr id="24" name="A2-s"/>
          <p:cNvSpPr txBox="1"/>
          <p:nvPr/>
        </p:nvSpPr>
        <p:spPr>
          <a:xfrm>
            <a:off x="3722294" y="2852928"/>
            <a:ext cx="2030654" cy="502920"/>
          </a:xfrm>
          <a:prstGeom prst="rect">
            <a:avLst/>
          </a:prstGeom>
          <a:noFill/>
          <a:ln/>
        </p:spPr>
        <p:txBody>
          <a:bodyPr wrap="square" lIns="0" tIns="0" rIns="0" bIns="0" rtlCol="0" anchor="t"/>
          <a:lstStyle/>
          <a:p>
            <a:pPr indent="0" marL="0">
              <a:buNone/>
            </a:pPr>
            <a:r>
              <a:rPr lang="en-US" sz="1300" dirty="0">
                <a:solidFill>
                  <a:srgbClr val="9FB0B0"/>
                </a:solidFill>
                <a:latin typeface="Poppins" pitchFamily="34" charset="0"/>
                <a:ea typeface="Poppins" pitchFamily="34" charset="-122"/>
                <a:cs typeface="Poppins" pitchFamily="34" charset="-120"/>
              </a:rPr>
              <a:t>Make the core work.</a:t>
            </a:r>
            <a:endParaRPr lang="en-US" sz="1300" dirty="0"/>
          </a:p>
        </p:txBody>
      </p:sp>
      <p:sp>
        <p:nvSpPr>
          <p:cNvPr id="25" name="A2-hr"/>
          <p:cNvSpPr/>
          <p:nvPr/>
        </p:nvSpPr>
        <p:spPr>
          <a:xfrm>
            <a:off x="3722294" y="3456432"/>
            <a:ext cx="1984934" cy="10973"/>
          </a:xfrm>
          <a:prstGeom prst="rect">
            <a:avLst/>
          </a:prstGeom>
          <a:solidFill>
            <a:srgbClr val="26393A"/>
          </a:solidFill>
          <a:ln/>
        </p:spPr>
      </p:sp>
      <p:pic>
        <p:nvPicPr>
          <p:cNvPr id="26" name="A2-bx0" descr="preencoded.png">    </p:cNvPr>
          <p:cNvPicPr>
            <a:picLocks noChangeAspect="1"/>
          </p:cNvPicPr>
          <p:nvPr/>
        </p:nvPicPr>
        <p:blipFill>
          <a:blip r:embed="rId5"/>
          <a:stretch>
            <a:fillRect/>
          </a:stretch>
        </p:blipFill>
        <p:spPr>
          <a:xfrm>
            <a:off x="3722294" y="3666744"/>
            <a:ext cx="201168" cy="201168"/>
          </a:xfrm>
          <a:prstGeom prst="rect">
            <a:avLst/>
          </a:prstGeom>
        </p:spPr>
      </p:pic>
      <p:sp>
        <p:nvSpPr>
          <p:cNvPr id="27" name="A2-k0"/>
          <p:cNvSpPr txBox="1"/>
          <p:nvPr/>
        </p:nvSpPr>
        <p:spPr>
          <a:xfrm>
            <a:off x="4051478" y="3639312"/>
            <a:ext cx="1710614" cy="566928"/>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Design the database</a:t>
            </a:r>
            <a:endParaRPr lang="en-US" sz="1300" dirty="0"/>
          </a:p>
        </p:txBody>
      </p:sp>
      <p:pic>
        <p:nvPicPr>
          <p:cNvPr id="28" name="A2-bx1" descr="preencoded.png">    </p:cNvPr>
          <p:cNvPicPr>
            <a:picLocks noChangeAspect="1"/>
          </p:cNvPicPr>
          <p:nvPr/>
        </p:nvPicPr>
        <p:blipFill>
          <a:blip r:embed="rId6"/>
          <a:stretch>
            <a:fillRect/>
          </a:stretch>
        </p:blipFill>
        <p:spPr>
          <a:xfrm>
            <a:off x="3722294" y="4343400"/>
            <a:ext cx="201168" cy="201168"/>
          </a:xfrm>
          <a:prstGeom prst="rect">
            <a:avLst/>
          </a:prstGeom>
        </p:spPr>
      </p:pic>
      <p:sp>
        <p:nvSpPr>
          <p:cNvPr id="29" name="A2-k1"/>
          <p:cNvSpPr txBox="1"/>
          <p:nvPr/>
        </p:nvSpPr>
        <p:spPr>
          <a:xfrm>
            <a:off x="4051478" y="4315968"/>
            <a:ext cx="1710614" cy="566928"/>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Build 3–4 API endpoints</a:t>
            </a:r>
            <a:endParaRPr lang="en-US" sz="1300" dirty="0"/>
          </a:p>
        </p:txBody>
      </p:sp>
      <p:pic>
        <p:nvPicPr>
          <p:cNvPr id="30" name="A2-bx2" descr="preencoded.png">    </p:cNvPr>
          <p:cNvPicPr>
            <a:picLocks noChangeAspect="1"/>
          </p:cNvPicPr>
          <p:nvPr/>
        </p:nvPicPr>
        <p:blipFill>
          <a:blip r:embed="rId7"/>
          <a:stretch>
            <a:fillRect/>
          </a:stretch>
        </p:blipFill>
        <p:spPr>
          <a:xfrm>
            <a:off x="3722294" y="5020056"/>
            <a:ext cx="201168" cy="201168"/>
          </a:xfrm>
          <a:prstGeom prst="rect">
            <a:avLst/>
          </a:prstGeom>
        </p:spPr>
      </p:pic>
      <p:sp>
        <p:nvSpPr>
          <p:cNvPr id="31" name="A2-k2"/>
          <p:cNvSpPr txBox="1"/>
          <p:nvPr/>
        </p:nvSpPr>
        <p:spPr>
          <a:xfrm>
            <a:off x="4051478" y="4992624"/>
            <a:ext cx="1710614" cy="566928"/>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Commit every day you code</a:t>
            </a:r>
            <a:endParaRPr lang="en-US" sz="1300" dirty="0"/>
          </a:p>
        </p:txBody>
      </p:sp>
      <p:sp>
        <p:nvSpPr>
          <p:cNvPr id="32" name="A3-c"/>
          <p:cNvSpPr/>
          <p:nvPr/>
        </p:nvSpPr>
        <p:spPr>
          <a:xfrm>
            <a:off x="6210148" y="1645920"/>
            <a:ext cx="2533574" cy="4160520"/>
          </a:xfrm>
          <a:prstGeom prst="roundRect">
            <a:avLst>
              <a:gd name="adj" fmla="val 6496"/>
            </a:avLst>
          </a:prstGeom>
          <a:solidFill>
            <a:srgbClr val="000000"/>
          </a:solidFill>
          <a:ln/>
          <a:effectLst>
            <a:outerShdw sx="100000" sy="100000" kx="0" ky="0" algn="bl" rotWithShape="0" blurRad="127000" dist="38100" dir="5400000">
              <a:srgbClr val="000000">
                <a:alpha val="25000"/>
              </a:srgbClr>
            </a:outerShdw>
          </a:effectLst>
        </p:spPr>
      </p:sp>
      <p:sp>
        <p:nvSpPr>
          <p:cNvPr id="33" name="A3-w"/>
          <p:cNvSpPr txBox="1"/>
          <p:nvPr/>
        </p:nvSpPr>
        <p:spPr>
          <a:xfrm>
            <a:off x="6484468" y="1920240"/>
            <a:ext cx="1463040" cy="237744"/>
          </a:xfrm>
          <a:prstGeom prst="rect">
            <a:avLst/>
          </a:prstGeom>
          <a:noFill/>
          <a:ln/>
        </p:spPr>
        <p:txBody>
          <a:bodyPr wrap="square" lIns="0" tIns="0" rIns="0" bIns="0" rtlCol="0" anchor="t"/>
          <a:lstStyle/>
          <a:p>
            <a:pPr indent="0" marL="0">
              <a:buNone/>
            </a:pPr>
            <a:r>
              <a:rPr lang="en-US" sz="1100" spc="300" kern="0" dirty="0">
                <a:solidFill>
                  <a:srgbClr val="0CCCCC"/>
                </a:solidFill>
                <a:latin typeface="Poppins SemiBold" pitchFamily="34" charset="0"/>
                <a:ea typeface="Poppins SemiBold" pitchFamily="34" charset="-122"/>
                <a:cs typeface="Poppins SemiBold" pitchFamily="34" charset="-120"/>
              </a:rPr>
              <a:t>WEEK 3</a:t>
            </a:r>
            <a:endParaRPr lang="en-US" sz="1100" dirty="0"/>
          </a:p>
        </p:txBody>
      </p:sp>
      <p:sp>
        <p:nvSpPr>
          <p:cNvPr id="34" name="A3-dy"/>
          <p:cNvSpPr txBox="1"/>
          <p:nvPr/>
        </p:nvSpPr>
        <p:spPr>
          <a:xfrm>
            <a:off x="7326401" y="1920240"/>
            <a:ext cx="1143000" cy="237744"/>
          </a:xfrm>
          <a:prstGeom prst="rect">
            <a:avLst/>
          </a:prstGeom>
          <a:noFill/>
          <a:ln/>
        </p:spPr>
        <p:txBody>
          <a:bodyPr wrap="square" lIns="0" tIns="0" rIns="0" bIns="0" rtlCol="0" anchor="t"/>
          <a:lstStyle/>
          <a:p>
            <a:pPr algn="r" indent="0" marL="0">
              <a:buNone/>
            </a:pPr>
            <a:r>
              <a:rPr lang="en-US" sz="1000" dirty="0">
                <a:solidFill>
                  <a:srgbClr val="6E8282"/>
                </a:solidFill>
                <a:latin typeface="Poppins" pitchFamily="34" charset="0"/>
                <a:ea typeface="Poppins" pitchFamily="34" charset="-122"/>
                <a:cs typeface="Poppins" pitchFamily="34" charset="-120"/>
              </a:rPr>
              <a:t>Day 15–21</a:t>
            </a:r>
            <a:endParaRPr lang="en-US" sz="1000" dirty="0"/>
          </a:p>
        </p:txBody>
      </p:sp>
      <p:sp>
        <p:nvSpPr>
          <p:cNvPr id="35" name="A3-t"/>
          <p:cNvSpPr txBox="1"/>
          <p:nvPr/>
        </p:nvSpPr>
        <p:spPr>
          <a:xfrm>
            <a:off x="6484468" y="2212848"/>
            <a:ext cx="2076374" cy="594360"/>
          </a:xfrm>
          <a:prstGeom prst="rect">
            <a:avLst/>
          </a:prstGeom>
          <a:noFill/>
          <a:ln/>
        </p:spPr>
        <p:txBody>
          <a:bodyPr wrap="square" lIns="0" tIns="0" rIns="0" bIns="0" rtlCol="0" anchor="t"/>
          <a:lstStyle/>
          <a:p>
            <a:pPr indent="0" marL="0">
              <a:buNone/>
            </a:pPr>
            <a:r>
              <a:rPr lang="en-US" sz="3600" dirty="0">
                <a:solidFill>
                  <a:srgbClr val="FFFFFF"/>
                </a:solidFill>
                <a:latin typeface="Poppins ExtraBold" pitchFamily="34" charset="0"/>
                <a:ea typeface="Poppins ExtraBold" pitchFamily="34" charset="-122"/>
                <a:cs typeface="Poppins ExtraBold" pitchFamily="34" charset="-120"/>
              </a:rPr>
              <a:t>SHIP</a:t>
            </a:r>
            <a:endParaRPr lang="en-US" sz="3600" dirty="0"/>
          </a:p>
        </p:txBody>
      </p:sp>
      <p:sp>
        <p:nvSpPr>
          <p:cNvPr id="36" name="A3-s"/>
          <p:cNvSpPr txBox="1"/>
          <p:nvPr/>
        </p:nvSpPr>
        <p:spPr>
          <a:xfrm>
            <a:off x="6484468" y="2852928"/>
            <a:ext cx="2030654" cy="502920"/>
          </a:xfrm>
          <a:prstGeom prst="rect">
            <a:avLst/>
          </a:prstGeom>
          <a:noFill/>
          <a:ln/>
        </p:spPr>
        <p:txBody>
          <a:bodyPr wrap="square" lIns="0" tIns="0" rIns="0" bIns="0" rtlCol="0" anchor="t"/>
          <a:lstStyle/>
          <a:p>
            <a:pPr indent="0" marL="0">
              <a:buNone/>
            </a:pPr>
            <a:r>
              <a:rPr lang="en-US" sz="1300" dirty="0">
                <a:solidFill>
                  <a:srgbClr val="9FB0B0"/>
                </a:solidFill>
                <a:latin typeface="Poppins" pitchFamily="34" charset="0"/>
                <a:ea typeface="Poppins" pitchFamily="34" charset="-122"/>
                <a:cs typeface="Poppins" pitchFamily="34" charset="-120"/>
              </a:rPr>
              <a:t>Put it online.</a:t>
            </a:r>
            <a:endParaRPr lang="en-US" sz="1300" dirty="0"/>
          </a:p>
        </p:txBody>
      </p:sp>
      <p:sp>
        <p:nvSpPr>
          <p:cNvPr id="37" name="A3-hr"/>
          <p:cNvSpPr/>
          <p:nvPr/>
        </p:nvSpPr>
        <p:spPr>
          <a:xfrm>
            <a:off x="6484468" y="3456432"/>
            <a:ext cx="1984934" cy="10973"/>
          </a:xfrm>
          <a:prstGeom prst="rect">
            <a:avLst/>
          </a:prstGeom>
          <a:solidFill>
            <a:srgbClr val="26393A"/>
          </a:solidFill>
          <a:ln/>
        </p:spPr>
      </p:sp>
      <p:pic>
        <p:nvPicPr>
          <p:cNvPr id="38" name="A3-bx0" descr="preencoded.png">    </p:cNvPr>
          <p:cNvPicPr>
            <a:picLocks noChangeAspect="1"/>
          </p:cNvPicPr>
          <p:nvPr/>
        </p:nvPicPr>
        <p:blipFill>
          <a:blip r:embed="rId8"/>
          <a:stretch>
            <a:fillRect/>
          </a:stretch>
        </p:blipFill>
        <p:spPr>
          <a:xfrm>
            <a:off x="6484468" y="3666744"/>
            <a:ext cx="201168" cy="201168"/>
          </a:xfrm>
          <a:prstGeom prst="rect">
            <a:avLst/>
          </a:prstGeom>
        </p:spPr>
      </p:pic>
      <p:sp>
        <p:nvSpPr>
          <p:cNvPr id="39" name="A3-k0"/>
          <p:cNvSpPr txBox="1"/>
          <p:nvPr/>
        </p:nvSpPr>
        <p:spPr>
          <a:xfrm>
            <a:off x="6813652" y="3639312"/>
            <a:ext cx="1710614" cy="566928"/>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Add a simple interface</a:t>
            </a:r>
            <a:endParaRPr lang="en-US" sz="1300" dirty="0"/>
          </a:p>
        </p:txBody>
      </p:sp>
      <p:pic>
        <p:nvPicPr>
          <p:cNvPr id="40" name="A3-bx1" descr="preencoded.png">    </p:cNvPr>
          <p:cNvPicPr>
            <a:picLocks noChangeAspect="1"/>
          </p:cNvPicPr>
          <p:nvPr/>
        </p:nvPicPr>
        <p:blipFill>
          <a:blip r:embed="rId9"/>
          <a:stretch>
            <a:fillRect/>
          </a:stretch>
        </p:blipFill>
        <p:spPr>
          <a:xfrm>
            <a:off x="6484468" y="4343400"/>
            <a:ext cx="201168" cy="201168"/>
          </a:xfrm>
          <a:prstGeom prst="rect">
            <a:avLst/>
          </a:prstGeom>
        </p:spPr>
      </p:pic>
      <p:sp>
        <p:nvSpPr>
          <p:cNvPr id="41" name="A3-k1"/>
          <p:cNvSpPr txBox="1"/>
          <p:nvPr/>
        </p:nvSpPr>
        <p:spPr>
          <a:xfrm>
            <a:off x="6813652" y="4315968"/>
            <a:ext cx="1710614" cy="566928"/>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Test the core logic</a:t>
            </a:r>
            <a:endParaRPr lang="en-US" sz="1300" dirty="0"/>
          </a:p>
        </p:txBody>
      </p:sp>
      <p:pic>
        <p:nvPicPr>
          <p:cNvPr id="42" name="A3-bx2" descr="preencoded.png">    </p:cNvPr>
          <p:cNvPicPr>
            <a:picLocks noChangeAspect="1"/>
          </p:cNvPicPr>
          <p:nvPr/>
        </p:nvPicPr>
        <p:blipFill>
          <a:blip r:embed="rId10"/>
          <a:stretch>
            <a:fillRect/>
          </a:stretch>
        </p:blipFill>
        <p:spPr>
          <a:xfrm>
            <a:off x="6484468" y="5020056"/>
            <a:ext cx="201168" cy="201168"/>
          </a:xfrm>
          <a:prstGeom prst="rect">
            <a:avLst/>
          </a:prstGeom>
        </p:spPr>
      </p:pic>
      <p:sp>
        <p:nvSpPr>
          <p:cNvPr id="43" name="A3-k2"/>
          <p:cNvSpPr txBox="1"/>
          <p:nvPr/>
        </p:nvSpPr>
        <p:spPr>
          <a:xfrm>
            <a:off x="6813652" y="4992624"/>
            <a:ext cx="1710614" cy="566928"/>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Deploy it with a public link</a:t>
            </a:r>
            <a:endParaRPr lang="en-US" sz="1300" dirty="0"/>
          </a:p>
        </p:txBody>
      </p:sp>
      <p:sp>
        <p:nvSpPr>
          <p:cNvPr id="44" name="A4-c"/>
          <p:cNvSpPr/>
          <p:nvPr/>
        </p:nvSpPr>
        <p:spPr>
          <a:xfrm>
            <a:off x="8972321" y="1645920"/>
            <a:ext cx="2533574" cy="4160520"/>
          </a:xfrm>
          <a:prstGeom prst="roundRect">
            <a:avLst>
              <a:gd name="adj" fmla="val 6496"/>
            </a:avLst>
          </a:prstGeom>
          <a:solidFill>
            <a:srgbClr val="000000"/>
          </a:solidFill>
          <a:ln/>
          <a:effectLst>
            <a:outerShdw sx="100000" sy="100000" kx="0" ky="0" algn="bl" rotWithShape="0" blurRad="127000" dist="38100" dir="5400000">
              <a:srgbClr val="000000">
                <a:alpha val="25000"/>
              </a:srgbClr>
            </a:outerShdw>
          </a:effectLst>
        </p:spPr>
      </p:sp>
      <p:sp>
        <p:nvSpPr>
          <p:cNvPr id="45" name="A4-w"/>
          <p:cNvSpPr txBox="1"/>
          <p:nvPr/>
        </p:nvSpPr>
        <p:spPr>
          <a:xfrm>
            <a:off x="9246641" y="1920240"/>
            <a:ext cx="1463040" cy="237744"/>
          </a:xfrm>
          <a:prstGeom prst="rect">
            <a:avLst/>
          </a:prstGeom>
          <a:noFill/>
          <a:ln/>
        </p:spPr>
        <p:txBody>
          <a:bodyPr wrap="square" lIns="0" tIns="0" rIns="0" bIns="0" rtlCol="0" anchor="t"/>
          <a:lstStyle/>
          <a:p>
            <a:pPr indent="0" marL="0">
              <a:buNone/>
            </a:pPr>
            <a:r>
              <a:rPr lang="en-US" sz="1100" spc="300" kern="0" dirty="0">
                <a:solidFill>
                  <a:srgbClr val="0CCCCC"/>
                </a:solidFill>
                <a:latin typeface="Poppins SemiBold" pitchFamily="34" charset="0"/>
                <a:ea typeface="Poppins SemiBold" pitchFamily="34" charset="-122"/>
                <a:cs typeface="Poppins SemiBold" pitchFamily="34" charset="-120"/>
              </a:rPr>
              <a:t>WEEK 4</a:t>
            </a:r>
            <a:endParaRPr lang="en-US" sz="1100" dirty="0"/>
          </a:p>
        </p:txBody>
      </p:sp>
      <p:sp>
        <p:nvSpPr>
          <p:cNvPr id="46" name="A4-dy"/>
          <p:cNvSpPr txBox="1"/>
          <p:nvPr/>
        </p:nvSpPr>
        <p:spPr>
          <a:xfrm>
            <a:off x="10088575" y="1920240"/>
            <a:ext cx="1143000" cy="237744"/>
          </a:xfrm>
          <a:prstGeom prst="rect">
            <a:avLst/>
          </a:prstGeom>
          <a:noFill/>
          <a:ln/>
        </p:spPr>
        <p:txBody>
          <a:bodyPr wrap="square" lIns="0" tIns="0" rIns="0" bIns="0" rtlCol="0" anchor="t"/>
          <a:lstStyle/>
          <a:p>
            <a:pPr algn="r" indent="0" marL="0">
              <a:buNone/>
            </a:pPr>
            <a:r>
              <a:rPr lang="en-US" sz="1000" dirty="0">
                <a:solidFill>
                  <a:srgbClr val="6E8282"/>
                </a:solidFill>
                <a:latin typeface="Poppins" pitchFamily="34" charset="0"/>
                <a:ea typeface="Poppins" pitchFamily="34" charset="-122"/>
                <a:cs typeface="Poppins" pitchFamily="34" charset="-120"/>
              </a:rPr>
              <a:t>Day 22–30</a:t>
            </a:r>
            <a:endParaRPr lang="en-US" sz="1000" dirty="0"/>
          </a:p>
        </p:txBody>
      </p:sp>
      <p:sp>
        <p:nvSpPr>
          <p:cNvPr id="47" name="A4-t"/>
          <p:cNvSpPr txBox="1"/>
          <p:nvPr/>
        </p:nvSpPr>
        <p:spPr>
          <a:xfrm>
            <a:off x="9246641" y="2212848"/>
            <a:ext cx="2076374" cy="594360"/>
          </a:xfrm>
          <a:prstGeom prst="rect">
            <a:avLst/>
          </a:prstGeom>
          <a:noFill/>
          <a:ln/>
        </p:spPr>
        <p:txBody>
          <a:bodyPr wrap="square" lIns="0" tIns="0" rIns="0" bIns="0" rtlCol="0" anchor="t"/>
          <a:lstStyle/>
          <a:p>
            <a:pPr indent="0" marL="0">
              <a:buNone/>
            </a:pPr>
            <a:r>
              <a:rPr lang="en-US" sz="3600" dirty="0">
                <a:solidFill>
                  <a:srgbClr val="FFFFFF"/>
                </a:solidFill>
                <a:latin typeface="Poppins ExtraBold" pitchFamily="34" charset="0"/>
                <a:ea typeface="Poppins ExtraBold" pitchFamily="34" charset="-122"/>
                <a:cs typeface="Poppins ExtraBold" pitchFamily="34" charset="-120"/>
              </a:rPr>
              <a:t>SHOW</a:t>
            </a:r>
            <a:endParaRPr lang="en-US" sz="3600" dirty="0"/>
          </a:p>
        </p:txBody>
      </p:sp>
      <p:sp>
        <p:nvSpPr>
          <p:cNvPr id="48" name="A4-s"/>
          <p:cNvSpPr txBox="1"/>
          <p:nvPr/>
        </p:nvSpPr>
        <p:spPr>
          <a:xfrm>
            <a:off x="9246641" y="2852928"/>
            <a:ext cx="2030654" cy="502920"/>
          </a:xfrm>
          <a:prstGeom prst="rect">
            <a:avLst/>
          </a:prstGeom>
          <a:noFill/>
          <a:ln/>
        </p:spPr>
        <p:txBody>
          <a:bodyPr wrap="square" lIns="0" tIns="0" rIns="0" bIns="0" rtlCol="0" anchor="t"/>
          <a:lstStyle/>
          <a:p>
            <a:pPr indent="0" marL="0">
              <a:buNone/>
            </a:pPr>
            <a:r>
              <a:rPr lang="en-US" sz="1300" dirty="0">
                <a:solidFill>
                  <a:srgbClr val="9FB0B0"/>
                </a:solidFill>
                <a:latin typeface="Poppins" pitchFamily="34" charset="0"/>
                <a:ea typeface="Poppins" pitchFamily="34" charset="-122"/>
                <a:cs typeface="Poppins" pitchFamily="34" charset="-120"/>
              </a:rPr>
              <a:t>Let people see it.</a:t>
            </a:r>
            <a:endParaRPr lang="en-US" sz="1300" dirty="0"/>
          </a:p>
        </p:txBody>
      </p:sp>
      <p:sp>
        <p:nvSpPr>
          <p:cNvPr id="49" name="A4-hr"/>
          <p:cNvSpPr/>
          <p:nvPr/>
        </p:nvSpPr>
        <p:spPr>
          <a:xfrm>
            <a:off x="9246641" y="3456432"/>
            <a:ext cx="1984934" cy="10973"/>
          </a:xfrm>
          <a:prstGeom prst="rect">
            <a:avLst/>
          </a:prstGeom>
          <a:solidFill>
            <a:srgbClr val="26393A"/>
          </a:solidFill>
          <a:ln/>
        </p:spPr>
      </p:sp>
      <p:pic>
        <p:nvPicPr>
          <p:cNvPr id="50" name="A4-bx0" descr="preencoded.png">    </p:cNvPr>
          <p:cNvPicPr>
            <a:picLocks noChangeAspect="1"/>
          </p:cNvPicPr>
          <p:nvPr/>
        </p:nvPicPr>
        <p:blipFill>
          <a:blip r:embed="rId11"/>
          <a:stretch>
            <a:fillRect/>
          </a:stretch>
        </p:blipFill>
        <p:spPr>
          <a:xfrm>
            <a:off x="9246641" y="3666744"/>
            <a:ext cx="201168" cy="201168"/>
          </a:xfrm>
          <a:prstGeom prst="rect">
            <a:avLst/>
          </a:prstGeom>
        </p:spPr>
      </p:pic>
      <p:sp>
        <p:nvSpPr>
          <p:cNvPr id="51" name="A4-k0"/>
          <p:cNvSpPr txBox="1"/>
          <p:nvPr/>
        </p:nvSpPr>
        <p:spPr>
          <a:xfrm>
            <a:off x="9575825" y="3639312"/>
            <a:ext cx="1710614" cy="566928"/>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Polish the README with screenshots</a:t>
            </a:r>
            <a:endParaRPr lang="en-US" sz="1300" dirty="0"/>
          </a:p>
        </p:txBody>
      </p:sp>
      <p:pic>
        <p:nvPicPr>
          <p:cNvPr id="52" name="A4-bx1" descr="preencoded.png">    </p:cNvPr>
          <p:cNvPicPr>
            <a:picLocks noChangeAspect="1"/>
          </p:cNvPicPr>
          <p:nvPr/>
        </p:nvPicPr>
        <p:blipFill>
          <a:blip r:embed="rId12"/>
          <a:stretch>
            <a:fillRect/>
          </a:stretch>
        </p:blipFill>
        <p:spPr>
          <a:xfrm>
            <a:off x="9246641" y="4343400"/>
            <a:ext cx="201168" cy="201168"/>
          </a:xfrm>
          <a:prstGeom prst="rect">
            <a:avLst/>
          </a:prstGeom>
        </p:spPr>
      </p:pic>
      <p:sp>
        <p:nvSpPr>
          <p:cNvPr id="53" name="A4-k1"/>
          <p:cNvSpPr txBox="1"/>
          <p:nvPr/>
        </p:nvSpPr>
        <p:spPr>
          <a:xfrm>
            <a:off x="9575825" y="4315968"/>
            <a:ext cx="1710614" cy="566928"/>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Post a short demo video</a:t>
            </a:r>
            <a:endParaRPr lang="en-US" sz="1300" dirty="0"/>
          </a:p>
        </p:txBody>
      </p:sp>
      <p:pic>
        <p:nvPicPr>
          <p:cNvPr id="54" name="A4-bx2" descr="preencoded.png">    </p:cNvPr>
          <p:cNvPicPr>
            <a:picLocks noChangeAspect="1"/>
          </p:cNvPicPr>
          <p:nvPr/>
        </p:nvPicPr>
        <p:blipFill>
          <a:blip r:embed="rId13"/>
          <a:stretch>
            <a:fillRect/>
          </a:stretch>
        </p:blipFill>
        <p:spPr>
          <a:xfrm>
            <a:off x="9246641" y="5020056"/>
            <a:ext cx="201168" cy="201168"/>
          </a:xfrm>
          <a:prstGeom prst="rect">
            <a:avLst/>
          </a:prstGeom>
        </p:spPr>
      </p:pic>
      <p:sp>
        <p:nvSpPr>
          <p:cNvPr id="55" name="A4-k2"/>
          <p:cNvSpPr txBox="1"/>
          <p:nvPr/>
        </p:nvSpPr>
        <p:spPr>
          <a:xfrm>
            <a:off x="9575825" y="4992624"/>
            <a:ext cx="1710614" cy="566928"/>
          </a:xfrm>
          <a:prstGeom prst="rect">
            <a:avLst/>
          </a:prstGeom>
          <a:noFill/>
          <a:ln/>
        </p:spPr>
        <p:txBody>
          <a:bodyPr wrap="square" lIns="0" tIns="0" rIns="0" bIns="0" rtlCol="0" anchor="t"/>
          <a:lstStyle/>
          <a:p>
            <a:pPr indent="0" marL="0">
              <a:buNone/>
            </a:pPr>
            <a:r>
              <a:rPr lang="en-US" sz="1300" dirty="0">
                <a:solidFill>
                  <a:srgbClr val="FFFFFF"/>
                </a:solidFill>
                <a:latin typeface="Poppins" pitchFamily="34" charset="0"/>
                <a:ea typeface="Poppins" pitchFamily="34" charset="-122"/>
                <a:cs typeface="Poppins" pitchFamily="34" charset="-120"/>
              </a:rPr>
              <a:t>Apply to 5 roles with this project</a:t>
            </a:r>
            <a:endParaRPr lang="en-US" sz="1300" dirty="0"/>
          </a:p>
        </p:txBody>
      </p:sp>
      <p:sp>
        <p:nvSpPr>
          <p:cNvPr id="56" name="A5-daily"/>
          <p:cNvSpPr txBox="1"/>
          <p:nvPr/>
        </p:nvSpPr>
        <p:spPr>
          <a:xfrm>
            <a:off x="685800" y="5925312"/>
            <a:ext cx="10820095" cy="292608"/>
          </a:xfrm>
          <a:prstGeom prst="rect">
            <a:avLst/>
          </a:prstGeom>
          <a:noFill/>
          <a:ln/>
        </p:spPr>
        <p:txBody>
          <a:bodyPr wrap="square" lIns="0" tIns="0" rIns="0" bIns="0" rtlCol="0" anchor="t"/>
          <a:lstStyle/>
          <a:p>
            <a:pPr indent="0" marL="0">
              <a:buNone/>
            </a:pPr>
            <a:r>
              <a:rPr lang="en-US" sz="1300" dirty="0">
                <a:solidFill>
                  <a:srgbClr val="000000"/>
                </a:solidFill>
                <a:latin typeface="Poppins ExtraBold" pitchFamily="34" charset="0"/>
                <a:ea typeface="Poppins ExtraBold" pitchFamily="34" charset="-122"/>
                <a:cs typeface="Poppins ExtraBold" pitchFamily="34" charset="-120"/>
              </a:rPr>
              <a:t>DAILY MINIMUM: </a:t>
            </a:r>
            <a:pPr indent="0" marL="0">
              <a:buNone/>
            </a:pPr>
            <a:r>
              <a:rPr lang="en-US" sz="1300" dirty="0">
                <a:solidFill>
                  <a:srgbClr val="000000"/>
                </a:solidFill>
                <a:latin typeface="Poppins SemiBold" pitchFamily="34" charset="0"/>
                <a:ea typeface="Poppins SemiBold" pitchFamily="34" charset="-122"/>
                <a:cs typeface="Poppins SemiBold" pitchFamily="34" charset="-120"/>
              </a:rPr>
              <a:t>1 focused hour.   Share your progress and tag @skillture.iq</a:t>
            </a:r>
            <a:endParaRPr lang="en-US" sz="1300" dirty="0"/>
          </a:p>
        </p:txBody>
      </p:sp>
      <p:sp>
        <p:nvSpPr>
          <p:cNvPr id="25" name="Slide Number Placeholder 0"/>
          <p:cNvSpPr>
            <a:spLocks noGrp="1"/>
          </p:cNvSpPr>
          <p:nvPr>
            <p:ph type="sldNum" sz="quarter" idx="4294967295"/>
          </p:nvPr>
        </p:nvSpPr>
        <p:spPr>
          <a:xfrm>
            <a:off x="10957255" y="6355080"/>
            <a:ext cx="54864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00000"/>
                </a:solidFill>
                <a:latin typeface="Poppins SemiBold"/>
                <a:ea typeface="Poppins SemiBold"/>
                <a:cs typeface="Poppins SemiBold"/>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8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8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8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80"/>
                                        <p:tgtEl>
                                          <p:spTgt spid="7"/>
                                        </p:tgtEl>
                                      </p:cBhvr>
                                    </p:animEffect>
                                  </p:childTnLst>
                                </p:cTn>
                              </p:par>
                              <p:par>
                                <p:cTn id="17" presetID="10" presetClass="entr" presetSubtype="0" fill="hold" grpId="0" nodeType="withEffect">
                                  <p:stCondLst>
                                    <p:cond delay="32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80"/>
                                        <p:tgtEl>
                                          <p:spTgt spid="8"/>
                                        </p:tgtEl>
                                      </p:cBhvr>
                                    </p:animEffect>
                                  </p:childTnLst>
                                </p:cTn>
                              </p:par>
                              <p:par>
                                <p:cTn id="20" presetID="10" presetClass="entr" presetSubtype="0" fill="hold" grpId="0" nodeType="withEffect">
                                  <p:stCondLst>
                                    <p:cond delay="32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80"/>
                                        <p:tgtEl>
                                          <p:spTgt spid="9"/>
                                        </p:tgtEl>
                                      </p:cBhvr>
                                    </p:animEffect>
                                  </p:childTnLst>
                                </p:cTn>
                              </p:par>
                              <p:par>
                                <p:cTn id="23" presetID="10" presetClass="entr" presetSubtype="0" fill="hold" grpId="0" nodeType="withEffect">
                                  <p:stCondLst>
                                    <p:cond delay="32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80"/>
                                        <p:tgtEl>
                                          <p:spTgt spid="10"/>
                                        </p:tgtEl>
                                      </p:cBhvr>
                                    </p:animEffect>
                                  </p:childTnLst>
                                </p:cTn>
                              </p:par>
                              <p:par>
                                <p:cTn id="26" presetID="10" presetClass="entr" presetSubtype="0" fill="hold" grpId="0" nodeType="withEffect">
                                  <p:stCondLst>
                                    <p:cond delay="3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80"/>
                                        <p:tgtEl>
                                          <p:spTgt spid="11"/>
                                        </p:tgtEl>
                                      </p:cBhvr>
                                    </p:animEffect>
                                  </p:childTnLst>
                                </p:cTn>
                              </p:par>
                              <p:par>
                                <p:cTn id="29" presetID="10" presetClass="entr" presetSubtype="0" fill="hold" grpId="0" nodeType="withEffect">
                                  <p:stCondLst>
                                    <p:cond delay="32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80"/>
                                        <p:tgtEl>
                                          <p:spTgt spid="12"/>
                                        </p:tgtEl>
                                      </p:cBhvr>
                                    </p:animEffect>
                                  </p:childTnLst>
                                </p:cTn>
                              </p:par>
                              <p:par>
                                <p:cTn id="32" presetID="10" presetClass="entr" presetSubtype="0" fill="hold" grpId="0" nodeType="withEffect">
                                  <p:stCondLst>
                                    <p:cond delay="32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80"/>
                                        <p:tgtEl>
                                          <p:spTgt spid="13"/>
                                        </p:tgtEl>
                                      </p:cBhvr>
                                    </p:animEffect>
                                  </p:childTnLst>
                                </p:cTn>
                              </p:par>
                              <p:par>
                                <p:cTn id="35" presetID="10" presetClass="entr" presetSubtype="0" fill="hold" grpId="0" nodeType="withEffect">
                                  <p:stCondLst>
                                    <p:cond delay="32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80"/>
                                        <p:tgtEl>
                                          <p:spTgt spid="14"/>
                                        </p:tgtEl>
                                      </p:cBhvr>
                                    </p:animEffect>
                                  </p:childTnLst>
                                </p:cTn>
                              </p:par>
                              <p:par>
                                <p:cTn id="38" presetID="10" presetClass="entr" presetSubtype="0" fill="hold" grpId="0" nodeType="withEffect">
                                  <p:stCondLst>
                                    <p:cond delay="32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80"/>
                                        <p:tgtEl>
                                          <p:spTgt spid="15"/>
                                        </p:tgtEl>
                                      </p:cBhvr>
                                    </p:animEffect>
                                  </p:childTnLst>
                                </p:cTn>
                              </p:par>
                              <p:par>
                                <p:cTn id="41" presetID="10" presetClass="entr" presetSubtype="0" fill="hold" grpId="0" nodeType="withEffect">
                                  <p:stCondLst>
                                    <p:cond delay="3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80"/>
                                        <p:tgtEl>
                                          <p:spTgt spid="16"/>
                                        </p:tgtEl>
                                      </p:cBhvr>
                                    </p:animEffect>
                                  </p:childTnLst>
                                </p:cTn>
                              </p:par>
                              <p:par>
                                <p:cTn id="44" presetID="10" presetClass="entr" presetSubtype="0" fill="hold" grpId="0" nodeType="withEffect">
                                  <p:stCondLst>
                                    <p:cond delay="32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80"/>
                                        <p:tgtEl>
                                          <p:spTgt spid="17"/>
                                        </p:tgtEl>
                                      </p:cBhvr>
                                    </p:animEffect>
                                  </p:childTnLst>
                                </p:cTn>
                              </p:par>
                              <p:par>
                                <p:cTn id="47" presetID="10" presetClass="entr" presetSubtype="0" fill="hold" grpId="0" nodeType="withEffect">
                                  <p:stCondLst>
                                    <p:cond delay="32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80"/>
                                        <p:tgtEl>
                                          <p:spTgt spid="18"/>
                                        </p:tgtEl>
                                      </p:cBhvr>
                                    </p:animEffect>
                                  </p:childTnLst>
                                </p:cTn>
                              </p:par>
                              <p:par>
                                <p:cTn id="50" presetID="10" presetClass="entr" presetSubtype="0" fill="hold" grpId="0" nodeType="withEffect">
                                  <p:stCondLst>
                                    <p:cond delay="32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80"/>
                                        <p:tgtEl>
                                          <p:spTgt spid="19"/>
                                        </p:tgtEl>
                                      </p:cBhvr>
                                    </p:animEffect>
                                  </p:childTnLst>
                                </p:cTn>
                              </p:par>
                              <p:par>
                                <p:cTn id="53" presetID="10" presetClass="entr" presetSubtype="0" fill="hold" grpId="0" nodeType="withEffect">
                                  <p:stCondLst>
                                    <p:cond delay="64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80"/>
                                        <p:tgtEl>
                                          <p:spTgt spid="20"/>
                                        </p:tgtEl>
                                      </p:cBhvr>
                                    </p:animEffect>
                                  </p:childTnLst>
                                </p:cTn>
                              </p:par>
                              <p:par>
                                <p:cTn id="56" presetID="10" presetClass="entr" presetSubtype="0" fill="hold" grpId="0" nodeType="withEffect">
                                  <p:stCondLst>
                                    <p:cond delay="64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80"/>
                                        <p:tgtEl>
                                          <p:spTgt spid="21"/>
                                        </p:tgtEl>
                                      </p:cBhvr>
                                    </p:animEffect>
                                  </p:childTnLst>
                                </p:cTn>
                              </p:par>
                              <p:par>
                                <p:cTn id="59" presetID="10" presetClass="entr" presetSubtype="0" fill="hold" grpId="0" nodeType="withEffect">
                                  <p:stCondLst>
                                    <p:cond delay="64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80"/>
                                        <p:tgtEl>
                                          <p:spTgt spid="22"/>
                                        </p:tgtEl>
                                      </p:cBhvr>
                                    </p:animEffect>
                                  </p:childTnLst>
                                </p:cTn>
                              </p:par>
                              <p:par>
                                <p:cTn id="62" presetID="10" presetClass="entr" presetSubtype="0" fill="hold" grpId="0" nodeType="withEffect">
                                  <p:stCondLst>
                                    <p:cond delay="64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80"/>
                                        <p:tgtEl>
                                          <p:spTgt spid="23"/>
                                        </p:tgtEl>
                                      </p:cBhvr>
                                    </p:animEffect>
                                  </p:childTnLst>
                                </p:cTn>
                              </p:par>
                              <p:par>
                                <p:cTn id="65" presetID="10" presetClass="entr" presetSubtype="0" fill="hold" grpId="0" nodeType="withEffect">
                                  <p:stCondLst>
                                    <p:cond delay="64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80"/>
                                        <p:tgtEl>
                                          <p:spTgt spid="24"/>
                                        </p:tgtEl>
                                      </p:cBhvr>
                                    </p:animEffect>
                                  </p:childTnLst>
                                </p:cTn>
                              </p:par>
                              <p:par>
                                <p:cTn id="68" presetID="10" presetClass="entr" presetSubtype="0" fill="hold" grpId="0" nodeType="withEffect">
                                  <p:stCondLst>
                                    <p:cond delay="64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80"/>
                                        <p:tgtEl>
                                          <p:spTgt spid="25"/>
                                        </p:tgtEl>
                                      </p:cBhvr>
                                    </p:animEffect>
                                  </p:childTnLst>
                                </p:cTn>
                              </p:par>
                              <p:par>
                                <p:cTn id="71" presetID="10" presetClass="entr" presetSubtype="0" fill="hold" grpId="0" nodeType="withEffect">
                                  <p:stCondLst>
                                    <p:cond delay="64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80"/>
                                        <p:tgtEl>
                                          <p:spTgt spid="26"/>
                                        </p:tgtEl>
                                      </p:cBhvr>
                                    </p:animEffect>
                                  </p:childTnLst>
                                </p:cTn>
                              </p:par>
                              <p:par>
                                <p:cTn id="74" presetID="10" presetClass="entr" presetSubtype="0" fill="hold" grpId="0" nodeType="withEffect">
                                  <p:stCondLst>
                                    <p:cond delay="64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80"/>
                                        <p:tgtEl>
                                          <p:spTgt spid="27"/>
                                        </p:tgtEl>
                                      </p:cBhvr>
                                    </p:animEffect>
                                  </p:childTnLst>
                                </p:cTn>
                              </p:par>
                              <p:par>
                                <p:cTn id="77" presetID="10" presetClass="entr" presetSubtype="0" fill="hold" grpId="0" nodeType="withEffect">
                                  <p:stCondLst>
                                    <p:cond delay="64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80"/>
                                        <p:tgtEl>
                                          <p:spTgt spid="28"/>
                                        </p:tgtEl>
                                      </p:cBhvr>
                                    </p:animEffect>
                                  </p:childTnLst>
                                </p:cTn>
                              </p:par>
                              <p:par>
                                <p:cTn id="80" presetID="10" presetClass="entr" presetSubtype="0" fill="hold" grpId="0" nodeType="withEffect">
                                  <p:stCondLst>
                                    <p:cond delay="64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80"/>
                                        <p:tgtEl>
                                          <p:spTgt spid="29"/>
                                        </p:tgtEl>
                                      </p:cBhvr>
                                    </p:animEffect>
                                  </p:childTnLst>
                                </p:cTn>
                              </p:par>
                              <p:par>
                                <p:cTn id="83" presetID="10" presetClass="entr" presetSubtype="0" fill="hold" grpId="0" nodeType="withEffect">
                                  <p:stCondLst>
                                    <p:cond delay="6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80"/>
                                        <p:tgtEl>
                                          <p:spTgt spid="30"/>
                                        </p:tgtEl>
                                      </p:cBhvr>
                                    </p:animEffect>
                                  </p:childTnLst>
                                </p:cTn>
                              </p:par>
                              <p:par>
                                <p:cTn id="86" presetID="10" presetClass="entr" presetSubtype="0" fill="hold" grpId="0" nodeType="withEffect">
                                  <p:stCondLst>
                                    <p:cond delay="64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80"/>
                                        <p:tgtEl>
                                          <p:spTgt spid="31"/>
                                        </p:tgtEl>
                                      </p:cBhvr>
                                    </p:animEffect>
                                  </p:childTnLst>
                                </p:cTn>
                              </p:par>
                              <p:par>
                                <p:cTn id="89" presetID="10" presetClass="entr" presetSubtype="0" fill="hold" grpId="0" nodeType="withEffect">
                                  <p:stCondLst>
                                    <p:cond delay="96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80"/>
                                        <p:tgtEl>
                                          <p:spTgt spid="32"/>
                                        </p:tgtEl>
                                      </p:cBhvr>
                                    </p:animEffect>
                                  </p:childTnLst>
                                </p:cTn>
                              </p:par>
                              <p:par>
                                <p:cTn id="92" presetID="10" presetClass="entr" presetSubtype="0" fill="hold" grpId="0" nodeType="withEffect">
                                  <p:stCondLst>
                                    <p:cond delay="96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80"/>
                                        <p:tgtEl>
                                          <p:spTgt spid="33"/>
                                        </p:tgtEl>
                                      </p:cBhvr>
                                    </p:animEffect>
                                  </p:childTnLst>
                                </p:cTn>
                              </p:par>
                              <p:par>
                                <p:cTn id="95" presetID="10" presetClass="entr" presetSubtype="0" fill="hold" grpId="0" nodeType="withEffect">
                                  <p:stCondLst>
                                    <p:cond delay="96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80"/>
                                        <p:tgtEl>
                                          <p:spTgt spid="34"/>
                                        </p:tgtEl>
                                      </p:cBhvr>
                                    </p:animEffect>
                                  </p:childTnLst>
                                </p:cTn>
                              </p:par>
                              <p:par>
                                <p:cTn id="98" presetID="10" presetClass="entr" presetSubtype="0" fill="hold" grpId="0" nodeType="withEffect">
                                  <p:stCondLst>
                                    <p:cond delay="96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80"/>
                                        <p:tgtEl>
                                          <p:spTgt spid="35"/>
                                        </p:tgtEl>
                                      </p:cBhvr>
                                    </p:animEffect>
                                  </p:childTnLst>
                                </p:cTn>
                              </p:par>
                              <p:par>
                                <p:cTn id="101" presetID="10" presetClass="entr" presetSubtype="0" fill="hold" grpId="0" nodeType="withEffect">
                                  <p:stCondLst>
                                    <p:cond delay="96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80"/>
                                        <p:tgtEl>
                                          <p:spTgt spid="36"/>
                                        </p:tgtEl>
                                      </p:cBhvr>
                                    </p:animEffect>
                                  </p:childTnLst>
                                </p:cTn>
                              </p:par>
                              <p:par>
                                <p:cTn id="104" presetID="10" presetClass="entr" presetSubtype="0" fill="hold" grpId="0" nodeType="withEffect">
                                  <p:stCondLst>
                                    <p:cond delay="96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80"/>
                                        <p:tgtEl>
                                          <p:spTgt spid="37"/>
                                        </p:tgtEl>
                                      </p:cBhvr>
                                    </p:animEffect>
                                  </p:childTnLst>
                                </p:cTn>
                              </p:par>
                              <p:par>
                                <p:cTn id="107" presetID="10" presetClass="entr" presetSubtype="0" fill="hold" grpId="0" nodeType="withEffect">
                                  <p:stCondLst>
                                    <p:cond delay="96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480"/>
                                        <p:tgtEl>
                                          <p:spTgt spid="38"/>
                                        </p:tgtEl>
                                      </p:cBhvr>
                                    </p:animEffect>
                                  </p:childTnLst>
                                </p:cTn>
                              </p:par>
                              <p:par>
                                <p:cTn id="110" presetID="10" presetClass="entr" presetSubtype="0" fill="hold" grpId="0" nodeType="withEffect">
                                  <p:stCondLst>
                                    <p:cond delay="96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480"/>
                                        <p:tgtEl>
                                          <p:spTgt spid="39"/>
                                        </p:tgtEl>
                                      </p:cBhvr>
                                    </p:animEffect>
                                  </p:childTnLst>
                                </p:cTn>
                              </p:par>
                              <p:par>
                                <p:cTn id="113" presetID="10" presetClass="entr" presetSubtype="0" fill="hold" grpId="0" nodeType="withEffect">
                                  <p:stCondLst>
                                    <p:cond delay="96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480"/>
                                        <p:tgtEl>
                                          <p:spTgt spid="40"/>
                                        </p:tgtEl>
                                      </p:cBhvr>
                                    </p:animEffect>
                                  </p:childTnLst>
                                </p:cTn>
                              </p:par>
                              <p:par>
                                <p:cTn id="116" presetID="10" presetClass="entr" presetSubtype="0" fill="hold" grpId="0" nodeType="withEffect">
                                  <p:stCondLst>
                                    <p:cond delay="96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480"/>
                                        <p:tgtEl>
                                          <p:spTgt spid="41"/>
                                        </p:tgtEl>
                                      </p:cBhvr>
                                    </p:animEffect>
                                  </p:childTnLst>
                                </p:cTn>
                              </p:par>
                              <p:par>
                                <p:cTn id="119" presetID="10" presetClass="entr" presetSubtype="0" fill="hold" grpId="0" nodeType="withEffect">
                                  <p:stCondLst>
                                    <p:cond delay="96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480"/>
                                        <p:tgtEl>
                                          <p:spTgt spid="42"/>
                                        </p:tgtEl>
                                      </p:cBhvr>
                                    </p:animEffect>
                                  </p:childTnLst>
                                </p:cTn>
                              </p:par>
                              <p:par>
                                <p:cTn id="122" presetID="10" presetClass="entr" presetSubtype="0" fill="hold" grpId="0" nodeType="withEffect">
                                  <p:stCondLst>
                                    <p:cond delay="96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480"/>
                                        <p:tgtEl>
                                          <p:spTgt spid="43"/>
                                        </p:tgtEl>
                                      </p:cBhvr>
                                    </p:animEffect>
                                  </p:childTnLst>
                                </p:cTn>
                              </p:par>
                              <p:par>
                                <p:cTn id="125" presetID="10" presetClass="entr" presetSubtype="0" fill="hold" grpId="0" nodeType="withEffect">
                                  <p:stCondLst>
                                    <p:cond delay="128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480"/>
                                        <p:tgtEl>
                                          <p:spTgt spid="44"/>
                                        </p:tgtEl>
                                      </p:cBhvr>
                                    </p:animEffect>
                                  </p:childTnLst>
                                </p:cTn>
                              </p:par>
                              <p:par>
                                <p:cTn id="128" presetID="10" presetClass="entr" presetSubtype="0" fill="hold" grpId="0" nodeType="withEffect">
                                  <p:stCondLst>
                                    <p:cond delay="1280"/>
                                  </p:stCondLst>
                                  <p:childTnLst>
                                    <p:set>
                                      <p:cBhvr>
                                        <p:cTn id="129" dur="1" fill="hold">
                                          <p:stCondLst>
                                            <p:cond delay="0"/>
                                          </p:stCondLst>
                                        </p:cTn>
                                        <p:tgtEl>
                                          <p:spTgt spid="45"/>
                                        </p:tgtEl>
                                        <p:attrNameLst>
                                          <p:attrName>style.visibility</p:attrName>
                                        </p:attrNameLst>
                                      </p:cBhvr>
                                      <p:to>
                                        <p:strVal val="visible"/>
                                      </p:to>
                                    </p:set>
                                    <p:animEffect transition="in" filter="fade">
                                      <p:cBhvr>
                                        <p:cTn id="130" dur="480"/>
                                        <p:tgtEl>
                                          <p:spTgt spid="45"/>
                                        </p:tgtEl>
                                      </p:cBhvr>
                                    </p:animEffect>
                                  </p:childTnLst>
                                </p:cTn>
                              </p:par>
                              <p:par>
                                <p:cTn id="131" presetID="10" presetClass="entr" presetSubtype="0" fill="hold" grpId="0" nodeType="withEffect">
                                  <p:stCondLst>
                                    <p:cond delay="1280"/>
                                  </p:stCondLst>
                                  <p:childTnLst>
                                    <p:set>
                                      <p:cBhvr>
                                        <p:cTn id="132" dur="1" fill="hold">
                                          <p:stCondLst>
                                            <p:cond delay="0"/>
                                          </p:stCondLst>
                                        </p:cTn>
                                        <p:tgtEl>
                                          <p:spTgt spid="46"/>
                                        </p:tgtEl>
                                        <p:attrNameLst>
                                          <p:attrName>style.visibility</p:attrName>
                                        </p:attrNameLst>
                                      </p:cBhvr>
                                      <p:to>
                                        <p:strVal val="visible"/>
                                      </p:to>
                                    </p:set>
                                    <p:animEffect transition="in" filter="fade">
                                      <p:cBhvr>
                                        <p:cTn id="133" dur="480"/>
                                        <p:tgtEl>
                                          <p:spTgt spid="46"/>
                                        </p:tgtEl>
                                      </p:cBhvr>
                                    </p:animEffect>
                                  </p:childTnLst>
                                </p:cTn>
                              </p:par>
                              <p:par>
                                <p:cTn id="134" presetID="10" presetClass="entr" presetSubtype="0" fill="hold" grpId="0" nodeType="withEffect">
                                  <p:stCondLst>
                                    <p:cond delay="1280"/>
                                  </p:stCondLst>
                                  <p:childTnLst>
                                    <p:set>
                                      <p:cBhvr>
                                        <p:cTn id="135" dur="1" fill="hold">
                                          <p:stCondLst>
                                            <p:cond delay="0"/>
                                          </p:stCondLst>
                                        </p:cTn>
                                        <p:tgtEl>
                                          <p:spTgt spid="47"/>
                                        </p:tgtEl>
                                        <p:attrNameLst>
                                          <p:attrName>style.visibility</p:attrName>
                                        </p:attrNameLst>
                                      </p:cBhvr>
                                      <p:to>
                                        <p:strVal val="visible"/>
                                      </p:to>
                                    </p:set>
                                    <p:animEffect transition="in" filter="fade">
                                      <p:cBhvr>
                                        <p:cTn id="136" dur="480"/>
                                        <p:tgtEl>
                                          <p:spTgt spid="47"/>
                                        </p:tgtEl>
                                      </p:cBhvr>
                                    </p:animEffect>
                                  </p:childTnLst>
                                </p:cTn>
                              </p:par>
                              <p:par>
                                <p:cTn id="137" presetID="10" presetClass="entr" presetSubtype="0" fill="hold" grpId="0" nodeType="withEffect">
                                  <p:stCondLst>
                                    <p:cond delay="1280"/>
                                  </p:stCondLst>
                                  <p:childTnLst>
                                    <p:set>
                                      <p:cBhvr>
                                        <p:cTn id="138" dur="1" fill="hold">
                                          <p:stCondLst>
                                            <p:cond delay="0"/>
                                          </p:stCondLst>
                                        </p:cTn>
                                        <p:tgtEl>
                                          <p:spTgt spid="48"/>
                                        </p:tgtEl>
                                        <p:attrNameLst>
                                          <p:attrName>style.visibility</p:attrName>
                                        </p:attrNameLst>
                                      </p:cBhvr>
                                      <p:to>
                                        <p:strVal val="visible"/>
                                      </p:to>
                                    </p:set>
                                    <p:animEffect transition="in" filter="fade">
                                      <p:cBhvr>
                                        <p:cTn id="139" dur="480"/>
                                        <p:tgtEl>
                                          <p:spTgt spid="48"/>
                                        </p:tgtEl>
                                      </p:cBhvr>
                                    </p:animEffect>
                                  </p:childTnLst>
                                </p:cTn>
                              </p:par>
                              <p:par>
                                <p:cTn id="140" presetID="10" presetClass="entr" presetSubtype="0" fill="hold" grpId="0" nodeType="withEffect">
                                  <p:stCondLst>
                                    <p:cond delay="1280"/>
                                  </p:stCondLst>
                                  <p:childTnLst>
                                    <p:set>
                                      <p:cBhvr>
                                        <p:cTn id="141" dur="1" fill="hold">
                                          <p:stCondLst>
                                            <p:cond delay="0"/>
                                          </p:stCondLst>
                                        </p:cTn>
                                        <p:tgtEl>
                                          <p:spTgt spid="49"/>
                                        </p:tgtEl>
                                        <p:attrNameLst>
                                          <p:attrName>style.visibility</p:attrName>
                                        </p:attrNameLst>
                                      </p:cBhvr>
                                      <p:to>
                                        <p:strVal val="visible"/>
                                      </p:to>
                                    </p:set>
                                    <p:animEffect transition="in" filter="fade">
                                      <p:cBhvr>
                                        <p:cTn id="142" dur="480"/>
                                        <p:tgtEl>
                                          <p:spTgt spid="49"/>
                                        </p:tgtEl>
                                      </p:cBhvr>
                                    </p:animEffect>
                                  </p:childTnLst>
                                </p:cTn>
                              </p:par>
                              <p:par>
                                <p:cTn id="143" presetID="10" presetClass="entr" presetSubtype="0" fill="hold" grpId="0" nodeType="withEffect">
                                  <p:stCondLst>
                                    <p:cond delay="1280"/>
                                  </p:stCondLst>
                                  <p:childTnLst>
                                    <p:set>
                                      <p:cBhvr>
                                        <p:cTn id="144" dur="1" fill="hold">
                                          <p:stCondLst>
                                            <p:cond delay="0"/>
                                          </p:stCondLst>
                                        </p:cTn>
                                        <p:tgtEl>
                                          <p:spTgt spid="50"/>
                                        </p:tgtEl>
                                        <p:attrNameLst>
                                          <p:attrName>style.visibility</p:attrName>
                                        </p:attrNameLst>
                                      </p:cBhvr>
                                      <p:to>
                                        <p:strVal val="visible"/>
                                      </p:to>
                                    </p:set>
                                    <p:animEffect transition="in" filter="fade">
                                      <p:cBhvr>
                                        <p:cTn id="145" dur="480"/>
                                        <p:tgtEl>
                                          <p:spTgt spid="50"/>
                                        </p:tgtEl>
                                      </p:cBhvr>
                                    </p:animEffect>
                                  </p:childTnLst>
                                </p:cTn>
                              </p:par>
                              <p:par>
                                <p:cTn id="146" presetID="10" presetClass="entr" presetSubtype="0" fill="hold" grpId="0" nodeType="withEffect">
                                  <p:stCondLst>
                                    <p:cond delay="1280"/>
                                  </p:stCondLst>
                                  <p:childTnLst>
                                    <p:set>
                                      <p:cBhvr>
                                        <p:cTn id="147" dur="1" fill="hold">
                                          <p:stCondLst>
                                            <p:cond delay="0"/>
                                          </p:stCondLst>
                                        </p:cTn>
                                        <p:tgtEl>
                                          <p:spTgt spid="51"/>
                                        </p:tgtEl>
                                        <p:attrNameLst>
                                          <p:attrName>style.visibility</p:attrName>
                                        </p:attrNameLst>
                                      </p:cBhvr>
                                      <p:to>
                                        <p:strVal val="visible"/>
                                      </p:to>
                                    </p:set>
                                    <p:animEffect transition="in" filter="fade">
                                      <p:cBhvr>
                                        <p:cTn id="148" dur="480"/>
                                        <p:tgtEl>
                                          <p:spTgt spid="51"/>
                                        </p:tgtEl>
                                      </p:cBhvr>
                                    </p:animEffect>
                                  </p:childTnLst>
                                </p:cTn>
                              </p:par>
                              <p:par>
                                <p:cTn id="149" presetID="10" presetClass="entr" presetSubtype="0" fill="hold" grpId="0" nodeType="withEffect">
                                  <p:stCondLst>
                                    <p:cond delay="1280"/>
                                  </p:stCondLst>
                                  <p:childTnLst>
                                    <p:set>
                                      <p:cBhvr>
                                        <p:cTn id="150" dur="1" fill="hold">
                                          <p:stCondLst>
                                            <p:cond delay="0"/>
                                          </p:stCondLst>
                                        </p:cTn>
                                        <p:tgtEl>
                                          <p:spTgt spid="52"/>
                                        </p:tgtEl>
                                        <p:attrNameLst>
                                          <p:attrName>style.visibility</p:attrName>
                                        </p:attrNameLst>
                                      </p:cBhvr>
                                      <p:to>
                                        <p:strVal val="visible"/>
                                      </p:to>
                                    </p:set>
                                    <p:animEffect transition="in" filter="fade">
                                      <p:cBhvr>
                                        <p:cTn id="151" dur="480"/>
                                        <p:tgtEl>
                                          <p:spTgt spid="52"/>
                                        </p:tgtEl>
                                      </p:cBhvr>
                                    </p:animEffect>
                                  </p:childTnLst>
                                </p:cTn>
                              </p:par>
                              <p:par>
                                <p:cTn id="152" presetID="10" presetClass="entr" presetSubtype="0" fill="hold" grpId="0" nodeType="withEffect">
                                  <p:stCondLst>
                                    <p:cond delay="128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480"/>
                                        <p:tgtEl>
                                          <p:spTgt spid="53"/>
                                        </p:tgtEl>
                                      </p:cBhvr>
                                    </p:animEffect>
                                  </p:childTnLst>
                                </p:cTn>
                              </p:par>
                              <p:par>
                                <p:cTn id="155" presetID="10" presetClass="entr" presetSubtype="0" fill="hold" grpId="0" nodeType="withEffect">
                                  <p:stCondLst>
                                    <p:cond delay="128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7" dur="480"/>
                                        <p:tgtEl>
                                          <p:spTgt spid="54"/>
                                        </p:tgtEl>
                                      </p:cBhvr>
                                    </p:animEffect>
                                  </p:childTnLst>
                                </p:cTn>
                              </p:par>
                              <p:par>
                                <p:cTn id="158" presetID="10" presetClass="entr" presetSubtype="0" fill="hold" grpId="0" nodeType="withEffect">
                                  <p:stCondLst>
                                    <p:cond delay="1280"/>
                                  </p:stCondLst>
                                  <p:childTnLst>
                                    <p:set>
                                      <p:cBhvr>
                                        <p:cTn id="159" dur="1" fill="hold">
                                          <p:stCondLst>
                                            <p:cond delay="0"/>
                                          </p:stCondLst>
                                        </p:cTn>
                                        <p:tgtEl>
                                          <p:spTgt spid="55"/>
                                        </p:tgtEl>
                                        <p:attrNameLst>
                                          <p:attrName>style.visibility</p:attrName>
                                        </p:attrNameLst>
                                      </p:cBhvr>
                                      <p:to>
                                        <p:strVal val="visible"/>
                                      </p:to>
                                    </p:set>
                                    <p:animEffect transition="in" filter="fade">
                                      <p:cBhvr>
                                        <p:cTn id="160" dur="480"/>
                                        <p:tgtEl>
                                          <p:spTgt spid="55"/>
                                        </p:tgtEl>
                                      </p:cBhvr>
                                    </p:animEffect>
                                  </p:childTnLst>
                                </p:cTn>
                              </p:par>
                              <p:par>
                                <p:cTn id="161" presetID="10" presetClass="entr" presetSubtype="0" fill="hold" grpId="0" nodeType="withEffect">
                                  <p:stCondLst>
                                    <p:cond delay="1600"/>
                                  </p:stCondLst>
                                  <p:childTnLst>
                                    <p:set>
                                      <p:cBhvr>
                                        <p:cTn id="162" dur="1" fill="hold">
                                          <p:stCondLst>
                                            <p:cond delay="0"/>
                                          </p:stCondLst>
                                        </p:cTn>
                                        <p:tgtEl>
                                          <p:spTgt spid="56"/>
                                        </p:tgtEl>
                                        <p:attrNameLst>
                                          <p:attrName>style.visibility</p:attrName>
                                        </p:attrNameLst>
                                      </p:cBhvr>
                                      <p:to>
                                        <p:strVal val="visible"/>
                                      </p:to>
                                    </p:set>
                                    <p:animEffect transition="in" filter="fade">
                                      <p:cBhvr>
                                        <p:cTn id="163" dur="48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P spid="9" grpId="0" animBg="1"/>
      <p:bldP spid="10" grpId="0" animBg="1"/>
      <p:bldP spid="11" grpId="0" animBg="1"/>
      <p:bldP spid="12" grpId="0" animBg="1"/>
      <p:bldP spid="13" grpId="0" animBg="1"/>
      <p:bldP spid="15" grpId="0" animBg="1"/>
      <p:bldP spid="17" grpId="0" animBg="1"/>
      <p:bldP spid="19" grpId="0" animBg="1"/>
      <p:bldP spid="20" grpId="0" animBg="1"/>
      <p:bldP spid="21" grpId="0" animBg="1"/>
      <p:bldP spid="22" grpId="0" animBg="1"/>
      <p:bldP spid="23" grpId="0" animBg="1"/>
      <p:bldP spid="24" grpId="0" animBg="1"/>
      <p:bldP spid="25" grpId="0" animBg="1"/>
      <p:bldP spid="27" grpId="0" animBg="1"/>
      <p:bldP spid="29" grpId="0" animBg="1"/>
      <p:bldP spid="31" grpId="0" animBg="1"/>
      <p:bldP spid="32" grpId="0" animBg="1"/>
      <p:bldP spid="33" grpId="0" animBg="1"/>
      <p:bldP spid="34" grpId="0" animBg="1"/>
      <p:bldP spid="35" grpId="0" animBg="1"/>
      <p:bldP spid="36" grpId="0" animBg="1"/>
      <p:bldP spid="37" grpId="0" animBg="1"/>
      <p:bldP spid="39" grpId="0" animBg="1"/>
      <p:bldP spid="41" grpId="0" animBg="1"/>
      <p:bldP spid="43" grpId="0" animBg="1"/>
      <p:bldP spid="44" grpId="0" animBg="1"/>
      <p:bldP spid="45" grpId="0" animBg="1"/>
      <p:bldP spid="46" grpId="0" animBg="1"/>
      <p:bldP spid="47" grpId="0" animBg="1"/>
      <p:bldP spid="48" grpId="0" animBg="1"/>
      <p:bldP spid="49" grpId="0" animBg="1"/>
      <p:bldP spid="51" grpId="0" animBg="1"/>
      <p:bldP spid="53" grpId="0" animBg="1"/>
      <p:bldP spid="55" grpId="0" animBg="1"/>
      <p:bldP spid="5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ivate/tmp/claude-501/-Users-swibit-skillture/f1e62dc3-dfc1-4d04-897a-70d066cdcef5/scratchpad/deck/img/pat_right.png">    </p:cNvPr>
          <p:cNvPicPr>
            <a:picLocks noChangeAspect="1"/>
          </p:cNvPicPr>
          <p:nvPr/>
        </p:nvPicPr>
        <p:blipFill>
          <a:blip r:embed="rId1"/>
          <a:stretch>
            <a:fillRect/>
          </a:stretch>
        </p:blipFill>
        <p:spPr>
          <a:xfrm>
            <a:off x="0" y="0"/>
            <a:ext cx="12191695" cy="6858000"/>
          </a:xfrm>
          <a:prstGeom prst="rect">
            <a:avLst/>
          </a:prstGeom>
        </p:spPr>
      </p:pic>
      <p:pic>
        <p:nvPicPr>
          <p:cNvPr id="4" name="Image 1" descr="/private/tmp/claude-501/-Users-swibit-skillture/f1e62dc3-dfc1-4d04-897a-70d066cdcef5/scratchpad/deck/img/glow_turq.png">    </p:cNvPr>
          <p:cNvPicPr>
            <a:picLocks noChangeAspect="1"/>
          </p:cNvPicPr>
          <p:nvPr/>
        </p:nvPicPr>
        <p:blipFill>
          <a:blip r:embed="rId2">
            <a:alphaModFix amt="60000"/>
          </a:blip>
          <a:stretch>
            <a:fillRect/>
          </a:stretch>
        </p:blipFill>
        <p:spPr>
          <a:xfrm>
            <a:off x="6766560" y="365760"/>
            <a:ext cx="5394960" cy="5394960"/>
          </a:xfrm>
          <a:prstGeom prst="rect">
            <a:avLst/>
          </a:prstGeom>
        </p:spPr>
      </p:pic>
      <p:pic>
        <p:nvPicPr>
          <p:cNvPr id="5" name="A4-floor" descr="/private/tmp/claude-501/-Users-swibit-skillture/f1e62dc3-dfc1-4d04-897a-70d066cdcef5/scratchpad/deck/img/floor_glow.png">    </p:cNvPr>
          <p:cNvPicPr>
            <a:picLocks noChangeAspect="1"/>
          </p:cNvPicPr>
          <p:nvPr/>
        </p:nvPicPr>
        <p:blipFill>
          <a:blip r:embed="rId3">
            <a:alphaModFix amt="70000"/>
          </a:blip>
          <a:stretch>
            <a:fillRect/>
          </a:stretch>
        </p:blipFill>
        <p:spPr>
          <a:xfrm>
            <a:off x="7772400" y="5120640"/>
            <a:ext cx="3474720" cy="731520"/>
          </a:xfrm>
          <a:prstGeom prst="rect">
            <a:avLst/>
          </a:prstGeom>
        </p:spPr>
      </p:pic>
      <p:pic>
        <p:nvPicPr>
          <p:cNvPr id="6" name="A4-blocks" descr="3D building blocks">    </p:cNvPr>
          <p:cNvPicPr>
            <a:picLocks noChangeAspect="1"/>
          </p:cNvPicPr>
          <p:nvPr/>
        </p:nvPicPr>
        <p:blipFill>
          <a:blip r:embed="rId4"/>
          <a:stretch>
            <a:fillRect/>
          </a:stretch>
        </p:blipFill>
        <p:spPr>
          <a:xfrm>
            <a:off x="8006878" y="731520"/>
            <a:ext cx="3005763" cy="4754880"/>
          </a:xfrm>
          <a:prstGeom prst="rect">
            <a:avLst/>
          </a:prstGeom>
        </p:spPr>
      </p:pic>
      <p:sp>
        <p:nvSpPr>
          <p:cNvPr id="7" name="A1-l1"/>
          <p:cNvSpPr txBox="1"/>
          <p:nvPr/>
        </p:nvSpPr>
        <p:spPr>
          <a:xfrm>
            <a:off x="685800" y="1097280"/>
            <a:ext cx="6583680" cy="502920"/>
          </a:xfrm>
          <a:prstGeom prst="rect">
            <a:avLst/>
          </a:prstGeom>
          <a:noFill/>
          <a:ln/>
        </p:spPr>
        <p:txBody>
          <a:bodyPr wrap="square" lIns="0" tIns="0" rIns="0" bIns="0" rtlCol="0" anchor="t"/>
          <a:lstStyle/>
          <a:p>
            <a:pPr indent="0" marL="0">
              <a:buNone/>
            </a:pPr>
            <a:r>
              <a:rPr lang="en-US" sz="2600" dirty="0">
                <a:solidFill>
                  <a:srgbClr val="6E8282"/>
                </a:solidFill>
                <a:latin typeface="Poppins Medium" pitchFamily="34" charset="0"/>
                <a:ea typeface="Poppins Medium" pitchFamily="34" charset="-122"/>
                <a:cs typeface="Poppins Medium" pitchFamily="34" charset="-120"/>
              </a:rPr>
              <a:t>Your degree is what you earned.</a:t>
            </a:r>
            <a:endParaRPr lang="en-US" sz="2600" dirty="0"/>
          </a:p>
        </p:txBody>
      </p:sp>
      <p:sp>
        <p:nvSpPr>
          <p:cNvPr id="8" name="A2-l2"/>
          <p:cNvSpPr txBox="1"/>
          <p:nvPr/>
        </p:nvSpPr>
        <p:spPr>
          <a:xfrm>
            <a:off x="658368" y="1691640"/>
            <a:ext cx="6949440" cy="2103120"/>
          </a:xfrm>
          <a:prstGeom prst="rect">
            <a:avLst/>
          </a:prstGeom>
          <a:noFill/>
          <a:ln/>
        </p:spPr>
        <p:txBody>
          <a:bodyPr wrap="square" lIns="0" tIns="0" rIns="0" bIns="0" rtlCol="0" anchor="t"/>
          <a:lstStyle/>
          <a:p>
            <a:pPr indent="0" marL="0">
              <a:lnSpc>
                <a:spcPct val="95000"/>
              </a:lnSpc>
              <a:buNone/>
            </a:pPr>
            <a:r>
              <a:rPr lang="en-US" sz="6000" dirty="0">
                <a:solidFill>
                  <a:srgbClr val="FFFFFF"/>
                </a:solidFill>
                <a:latin typeface="Poppins ExtraBold" pitchFamily="34" charset="0"/>
                <a:ea typeface="Poppins ExtraBold" pitchFamily="34" charset="-122"/>
                <a:cs typeface="Poppins ExtraBold" pitchFamily="34" charset="-120"/>
              </a:rPr>
              <a:t>Your future is</a:t>
            </a:r>
            <a:endParaRPr lang="en-US" sz="6000" dirty="0"/>
          </a:p>
          <a:p>
            <a:pPr indent="0" marL="0">
              <a:lnSpc>
                <a:spcPct val="95000"/>
              </a:lnSpc>
              <a:buNone/>
            </a:pPr>
            <a:r>
              <a:rPr lang="en-US" sz="6000" dirty="0">
                <a:solidFill>
                  <a:srgbClr val="0CCCCC"/>
                </a:solidFill>
                <a:latin typeface="Poppins ExtraBold" pitchFamily="34" charset="0"/>
                <a:ea typeface="Poppins ExtraBold" pitchFamily="34" charset="-122"/>
                <a:cs typeface="Poppins ExtraBold" pitchFamily="34" charset="-120"/>
              </a:rPr>
              <a:t>what you build.</a:t>
            </a:r>
            <a:endParaRPr lang="en-US" sz="6000" dirty="0"/>
          </a:p>
        </p:txBody>
      </p:sp>
      <p:sp>
        <p:nvSpPr>
          <p:cNvPr id="9" name="A3-c0"/>
          <p:cNvSpPr/>
          <p:nvPr/>
        </p:nvSpPr>
        <p:spPr>
          <a:xfrm>
            <a:off x="685800" y="4160520"/>
            <a:ext cx="1993392" cy="960120"/>
          </a:xfrm>
          <a:prstGeom prst="roundRect">
            <a:avLst>
              <a:gd name="adj" fmla="val 13333"/>
            </a:avLst>
          </a:prstGeom>
          <a:solidFill>
            <a:srgbClr val="0D1617"/>
          </a:solidFill>
          <a:ln w="9525">
            <a:solidFill>
              <a:srgbClr val="1F3537"/>
            </a:solidFill>
            <a:prstDash val="solid"/>
          </a:ln>
        </p:spPr>
      </p:sp>
      <p:sp>
        <p:nvSpPr>
          <p:cNvPr id="10" name="A3-l0"/>
          <p:cNvSpPr txBox="1"/>
          <p:nvPr/>
        </p:nvSpPr>
        <p:spPr>
          <a:xfrm>
            <a:off x="886968" y="4297680"/>
            <a:ext cx="1719072" cy="237744"/>
          </a:xfrm>
          <a:prstGeom prst="rect">
            <a:avLst/>
          </a:prstGeom>
          <a:noFill/>
          <a:ln/>
        </p:spPr>
        <p:txBody>
          <a:bodyPr wrap="square" lIns="0" tIns="0" rIns="0" bIns="0" rtlCol="0" anchor="t"/>
          <a:lstStyle/>
          <a:p>
            <a:pPr indent="0" marL="0">
              <a:buNone/>
            </a:pPr>
            <a:r>
              <a:rPr lang="en-US" sz="1000" spc="200" kern="0" dirty="0">
                <a:solidFill>
                  <a:srgbClr val="FF4D4D"/>
                </a:solidFill>
                <a:latin typeface="Poppins SemiBold" pitchFamily="34" charset="0"/>
                <a:ea typeface="Poppins SemiBold" pitchFamily="34" charset="-122"/>
                <a:cs typeface="Poppins SemiBold" pitchFamily="34" charset="-120"/>
              </a:rPr>
              <a:t>TONIGHT</a:t>
            </a:r>
            <a:endParaRPr lang="en-US" sz="1000" dirty="0"/>
          </a:p>
        </p:txBody>
      </p:sp>
      <p:sp>
        <p:nvSpPr>
          <p:cNvPr id="11" name="A3-t0"/>
          <p:cNvSpPr txBox="1"/>
          <p:nvPr/>
        </p:nvSpPr>
        <p:spPr>
          <a:xfrm>
            <a:off x="886968" y="4553712"/>
            <a:ext cx="1673352" cy="457200"/>
          </a:xfrm>
          <a:prstGeom prst="rect">
            <a:avLst/>
          </a:prstGeom>
          <a:noFill/>
          <a:ln/>
        </p:spPr>
        <p:txBody>
          <a:bodyPr wrap="square" lIns="0" tIns="0" rIns="0" bIns="0" rtlCol="0" anchor="t"/>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Create your GitHub repo</a:t>
            </a:r>
            <a:endParaRPr lang="en-US" sz="1400" dirty="0"/>
          </a:p>
        </p:txBody>
      </p:sp>
      <p:sp>
        <p:nvSpPr>
          <p:cNvPr id="12" name="A3-c1"/>
          <p:cNvSpPr/>
          <p:nvPr/>
        </p:nvSpPr>
        <p:spPr>
          <a:xfrm>
            <a:off x="2843784" y="4160520"/>
            <a:ext cx="1993392" cy="960120"/>
          </a:xfrm>
          <a:prstGeom prst="roundRect">
            <a:avLst>
              <a:gd name="adj" fmla="val 13333"/>
            </a:avLst>
          </a:prstGeom>
          <a:solidFill>
            <a:srgbClr val="0D1617"/>
          </a:solidFill>
          <a:ln w="9525">
            <a:solidFill>
              <a:srgbClr val="1F3537"/>
            </a:solidFill>
            <a:prstDash val="solid"/>
          </a:ln>
        </p:spPr>
      </p:sp>
      <p:sp>
        <p:nvSpPr>
          <p:cNvPr id="13" name="A3-l1"/>
          <p:cNvSpPr txBox="1"/>
          <p:nvPr/>
        </p:nvSpPr>
        <p:spPr>
          <a:xfrm>
            <a:off x="3044952" y="4297680"/>
            <a:ext cx="1719072" cy="237744"/>
          </a:xfrm>
          <a:prstGeom prst="rect">
            <a:avLst/>
          </a:prstGeom>
          <a:noFill/>
          <a:ln/>
        </p:spPr>
        <p:txBody>
          <a:bodyPr wrap="square" lIns="0" tIns="0" rIns="0" bIns="0" rtlCol="0" anchor="t"/>
          <a:lstStyle/>
          <a:p>
            <a:pPr indent="0" marL="0">
              <a:buNone/>
            </a:pPr>
            <a:r>
              <a:rPr lang="en-US" sz="1000" spc="200" kern="0" dirty="0">
                <a:solidFill>
                  <a:srgbClr val="FF4D4D"/>
                </a:solidFill>
                <a:latin typeface="Poppins SemiBold" pitchFamily="34" charset="0"/>
                <a:ea typeface="Poppins SemiBold" pitchFamily="34" charset="-122"/>
                <a:cs typeface="Poppins SemiBold" pitchFamily="34" charset="-120"/>
              </a:rPr>
              <a:t>THIS WEEK</a:t>
            </a:r>
            <a:endParaRPr lang="en-US" sz="1000" dirty="0"/>
          </a:p>
        </p:txBody>
      </p:sp>
      <p:sp>
        <p:nvSpPr>
          <p:cNvPr id="14" name="A3-t1"/>
          <p:cNvSpPr txBox="1"/>
          <p:nvPr/>
        </p:nvSpPr>
        <p:spPr>
          <a:xfrm>
            <a:off x="3044952" y="4553712"/>
            <a:ext cx="1673352" cy="457200"/>
          </a:xfrm>
          <a:prstGeom prst="rect">
            <a:avLst/>
          </a:prstGeom>
          <a:noFill/>
          <a:ln/>
        </p:spPr>
        <p:txBody>
          <a:bodyPr wrap="square" lIns="0" tIns="0" rIns="0" bIns="0" rtlCol="0" anchor="t"/>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Pick your real problem</a:t>
            </a:r>
            <a:endParaRPr lang="en-US" sz="1400" dirty="0"/>
          </a:p>
        </p:txBody>
      </p:sp>
      <p:sp>
        <p:nvSpPr>
          <p:cNvPr id="15" name="A3-c2"/>
          <p:cNvSpPr/>
          <p:nvPr/>
        </p:nvSpPr>
        <p:spPr>
          <a:xfrm>
            <a:off x="5001768" y="4160520"/>
            <a:ext cx="1993392" cy="960120"/>
          </a:xfrm>
          <a:prstGeom prst="roundRect">
            <a:avLst>
              <a:gd name="adj" fmla="val 13333"/>
            </a:avLst>
          </a:prstGeom>
          <a:solidFill>
            <a:srgbClr val="0B2E30"/>
          </a:solidFill>
          <a:ln w="9525">
            <a:solidFill>
              <a:srgbClr val="0CCCCC"/>
            </a:solidFill>
            <a:prstDash val="solid"/>
          </a:ln>
        </p:spPr>
      </p:sp>
      <p:sp>
        <p:nvSpPr>
          <p:cNvPr id="16" name="A3-l2"/>
          <p:cNvSpPr txBox="1"/>
          <p:nvPr/>
        </p:nvSpPr>
        <p:spPr>
          <a:xfrm>
            <a:off x="5202936" y="4297680"/>
            <a:ext cx="1719072" cy="237744"/>
          </a:xfrm>
          <a:prstGeom prst="rect">
            <a:avLst/>
          </a:prstGeom>
          <a:noFill/>
          <a:ln/>
        </p:spPr>
        <p:txBody>
          <a:bodyPr wrap="square" lIns="0" tIns="0" rIns="0" bIns="0" rtlCol="0" anchor="t"/>
          <a:lstStyle/>
          <a:p>
            <a:pPr indent="0" marL="0">
              <a:buNone/>
            </a:pPr>
            <a:r>
              <a:rPr lang="en-US" sz="1000" spc="200" kern="0" dirty="0">
                <a:solidFill>
                  <a:srgbClr val="0CCCCC"/>
                </a:solidFill>
                <a:latin typeface="Poppins SemiBold" pitchFamily="34" charset="0"/>
                <a:ea typeface="Poppins SemiBold" pitchFamily="34" charset="-122"/>
                <a:cs typeface="Poppins SemiBold" pitchFamily="34" charset="-120"/>
              </a:rPr>
              <a:t>IN 30 DAYS</a:t>
            </a:r>
            <a:endParaRPr lang="en-US" sz="1000" dirty="0"/>
          </a:p>
        </p:txBody>
      </p:sp>
      <p:sp>
        <p:nvSpPr>
          <p:cNvPr id="17" name="A3-t2"/>
          <p:cNvSpPr txBox="1"/>
          <p:nvPr/>
        </p:nvSpPr>
        <p:spPr>
          <a:xfrm>
            <a:off x="5202936" y="4553712"/>
            <a:ext cx="1673352" cy="457200"/>
          </a:xfrm>
          <a:prstGeom prst="rect">
            <a:avLst/>
          </a:prstGeom>
          <a:noFill/>
          <a:ln/>
        </p:spPr>
        <p:txBody>
          <a:bodyPr wrap="square" lIns="0" tIns="0" rIns="0" bIns="0" rtlCol="0" anchor="t"/>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Ship it. Share it.</a:t>
            </a:r>
            <a:endParaRPr lang="en-US" sz="1400" dirty="0"/>
          </a:p>
        </p:txBody>
      </p:sp>
      <p:pic>
        <p:nvPicPr>
          <p:cNvPr id="18" name="A5-logo" descr="/private/tmp/claude-501/-Users-swibit-skillture/f1e62dc3-dfc1-4d04-897a-70d066cdcef5/scratchpad/deck/img/logo_white.png">    </p:cNvPr>
          <p:cNvPicPr>
            <a:picLocks noChangeAspect="1"/>
          </p:cNvPicPr>
          <p:nvPr/>
        </p:nvPicPr>
        <p:blipFill>
          <a:blip r:embed="rId5"/>
          <a:stretch>
            <a:fillRect/>
          </a:stretch>
        </p:blipFill>
        <p:spPr>
          <a:xfrm>
            <a:off x="685800" y="5760720"/>
            <a:ext cx="501310" cy="475488"/>
          </a:xfrm>
          <a:prstGeom prst="rect">
            <a:avLst/>
          </a:prstGeom>
        </p:spPr>
      </p:pic>
      <p:pic>
        <p:nvPicPr>
          <p:cNvPr id="19" name="A5-word" descr="/private/tmp/claude-501/-Users-swibit-skillture/f1e62dc3-dfc1-4d04-897a-70d066cdcef5/scratchpad/deck/img/wordmark_white.png">    </p:cNvPr>
          <p:cNvPicPr>
            <a:picLocks noChangeAspect="1"/>
          </p:cNvPicPr>
          <p:nvPr/>
        </p:nvPicPr>
        <p:blipFill>
          <a:blip r:embed="rId6"/>
          <a:stretch>
            <a:fillRect/>
          </a:stretch>
        </p:blipFill>
        <p:spPr>
          <a:xfrm>
            <a:off x="1271016" y="5788152"/>
            <a:ext cx="1632504" cy="420624"/>
          </a:xfrm>
          <a:prstGeom prst="rect">
            <a:avLst/>
          </a:prstGeom>
        </p:spPr>
      </p:pic>
      <p:sp>
        <p:nvSpPr>
          <p:cNvPr id="20" name="A5-qa"/>
          <p:cNvSpPr txBox="1"/>
          <p:nvPr/>
        </p:nvSpPr>
        <p:spPr>
          <a:xfrm>
            <a:off x="7665415" y="5870448"/>
            <a:ext cx="3840480" cy="320040"/>
          </a:xfrm>
          <a:prstGeom prst="rect">
            <a:avLst/>
          </a:prstGeom>
          <a:noFill/>
          <a:ln/>
        </p:spPr>
        <p:txBody>
          <a:bodyPr wrap="square" lIns="0" tIns="0" rIns="0" bIns="0" rtlCol="0" anchor="t"/>
          <a:lstStyle/>
          <a:p>
            <a:pPr algn="r" indent="0" marL="0">
              <a:buNone/>
            </a:pPr>
            <a:r>
              <a:rPr lang="en-US" sz="1400" dirty="0">
                <a:solidFill>
                  <a:srgbClr val="FFFFFF"/>
                </a:solidFill>
                <a:latin typeface="Poppins SemiBold" pitchFamily="34" charset="0"/>
                <a:ea typeface="Poppins SemiBold" pitchFamily="34" charset="-122"/>
                <a:cs typeface="Poppins SemiBold" pitchFamily="34" charset="-120"/>
              </a:rPr>
              <a:t>Questions? </a:t>
            </a:r>
            <a:pPr algn="r" indent="0" marL="0">
              <a:buNone/>
            </a:pPr>
            <a:r>
              <a:rPr lang="en-US" sz="1400" dirty="0">
                <a:solidFill>
                  <a:srgbClr val="9FB0B0"/>
                </a:solidFill>
                <a:latin typeface="Poppins" pitchFamily="34" charset="0"/>
                <a:ea typeface="Poppins" pitchFamily="34" charset="-122"/>
                <a:cs typeface="Poppins" pitchFamily="34" charset="-120"/>
              </a:rPr>
              <a:t>Let's talk.   @skillture.iq</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80"/>
                                        <p:tgtEl>
                                          <p:spTgt spid="7"/>
                                        </p:tgtEl>
                                      </p:cBhvr>
                                    </p:animEffect>
                                  </p:childTnLst>
                                </p:cTn>
                              </p:par>
                              <p:par>
                                <p:cTn id="8" presetID="10" presetClass="entr" presetSubtype="0" fill="hold" grpId="0" nodeType="withEffect">
                                  <p:stCondLst>
                                    <p:cond delay="32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80"/>
                                        <p:tgtEl>
                                          <p:spTgt spid="8"/>
                                        </p:tgtEl>
                                      </p:cBhvr>
                                    </p:animEffect>
                                  </p:childTnLst>
                                </p:cTn>
                              </p:par>
                              <p:par>
                                <p:cTn id="11" presetID="10" presetClass="entr" presetSubtype="0" fill="hold" grpId="0" nodeType="withEffect">
                                  <p:stCondLst>
                                    <p:cond delay="64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80"/>
                                        <p:tgtEl>
                                          <p:spTgt spid="9"/>
                                        </p:tgtEl>
                                      </p:cBhvr>
                                    </p:animEffect>
                                  </p:childTnLst>
                                </p:cTn>
                              </p:par>
                              <p:par>
                                <p:cTn id="14" presetID="10" presetClass="entr" presetSubtype="0" fill="hold" grpId="0" nodeType="withEffect">
                                  <p:stCondLst>
                                    <p:cond delay="64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80"/>
                                        <p:tgtEl>
                                          <p:spTgt spid="10"/>
                                        </p:tgtEl>
                                      </p:cBhvr>
                                    </p:animEffect>
                                  </p:childTnLst>
                                </p:cTn>
                              </p:par>
                              <p:par>
                                <p:cTn id="17" presetID="10" presetClass="entr" presetSubtype="0" fill="hold" grpId="0" nodeType="withEffect">
                                  <p:stCondLst>
                                    <p:cond delay="64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80"/>
                                        <p:tgtEl>
                                          <p:spTgt spid="11"/>
                                        </p:tgtEl>
                                      </p:cBhvr>
                                    </p:animEffect>
                                  </p:childTnLst>
                                </p:cTn>
                              </p:par>
                              <p:par>
                                <p:cTn id="20" presetID="10" presetClass="entr" presetSubtype="0" fill="hold" grpId="0" nodeType="withEffect">
                                  <p:stCondLst>
                                    <p:cond delay="64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80"/>
                                        <p:tgtEl>
                                          <p:spTgt spid="12"/>
                                        </p:tgtEl>
                                      </p:cBhvr>
                                    </p:animEffect>
                                  </p:childTnLst>
                                </p:cTn>
                              </p:par>
                              <p:par>
                                <p:cTn id="23" presetID="10" presetClass="entr" presetSubtype="0" fill="hold" grpId="0" nodeType="withEffect">
                                  <p:stCondLst>
                                    <p:cond delay="64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80"/>
                                        <p:tgtEl>
                                          <p:spTgt spid="13"/>
                                        </p:tgtEl>
                                      </p:cBhvr>
                                    </p:animEffect>
                                  </p:childTnLst>
                                </p:cTn>
                              </p:par>
                              <p:par>
                                <p:cTn id="26" presetID="10" presetClass="entr" presetSubtype="0" fill="hold" grpId="0" nodeType="withEffect">
                                  <p:stCondLst>
                                    <p:cond delay="64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80"/>
                                        <p:tgtEl>
                                          <p:spTgt spid="14"/>
                                        </p:tgtEl>
                                      </p:cBhvr>
                                    </p:animEffect>
                                  </p:childTnLst>
                                </p:cTn>
                              </p:par>
                              <p:par>
                                <p:cTn id="29" presetID="10" presetClass="entr" presetSubtype="0" fill="hold" grpId="0" nodeType="withEffect">
                                  <p:stCondLst>
                                    <p:cond delay="64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80"/>
                                        <p:tgtEl>
                                          <p:spTgt spid="15"/>
                                        </p:tgtEl>
                                      </p:cBhvr>
                                    </p:animEffect>
                                  </p:childTnLst>
                                </p:cTn>
                              </p:par>
                              <p:par>
                                <p:cTn id="32" presetID="10" presetClass="entr" presetSubtype="0" fill="hold" grpId="0" nodeType="withEffect">
                                  <p:stCondLst>
                                    <p:cond delay="64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80"/>
                                        <p:tgtEl>
                                          <p:spTgt spid="16"/>
                                        </p:tgtEl>
                                      </p:cBhvr>
                                    </p:animEffect>
                                  </p:childTnLst>
                                </p:cTn>
                              </p:par>
                              <p:par>
                                <p:cTn id="35" presetID="10" presetClass="entr" presetSubtype="0" fill="hold" grpId="0" nodeType="withEffect">
                                  <p:stCondLst>
                                    <p:cond delay="64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80"/>
                                        <p:tgtEl>
                                          <p:spTgt spid="17"/>
                                        </p:tgtEl>
                                      </p:cBhvr>
                                    </p:animEffect>
                                  </p:childTnLst>
                                </p:cTn>
                              </p:par>
                              <p:par>
                                <p:cTn id="38" presetID="10" presetClass="entr" presetSubtype="0" fill="hold" grpId="0" nodeType="withEffect">
                                  <p:stCondLst>
                                    <p:cond delay="96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480"/>
                                        <p:tgtEl>
                                          <p:spTgt spid="5"/>
                                        </p:tgtEl>
                                      </p:cBhvr>
                                    </p:animEffect>
                                  </p:childTnLst>
                                </p:cTn>
                              </p:par>
                              <p:par>
                                <p:cTn id="41" presetID="10" presetClass="entr" presetSubtype="0" fill="hold" grpId="0" nodeType="withEffect">
                                  <p:stCondLst>
                                    <p:cond delay="96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480"/>
                                        <p:tgtEl>
                                          <p:spTgt spid="6"/>
                                        </p:tgtEl>
                                      </p:cBhvr>
                                    </p:animEffect>
                                  </p:childTnLst>
                                </p:cTn>
                              </p:par>
                              <p:par>
                                <p:cTn id="44" presetID="10" presetClass="entr" presetSubtype="0" fill="hold" grpId="0" nodeType="withEffect">
                                  <p:stCondLst>
                                    <p:cond delay="128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80"/>
                                        <p:tgtEl>
                                          <p:spTgt spid="18"/>
                                        </p:tgtEl>
                                      </p:cBhvr>
                                    </p:animEffect>
                                  </p:childTnLst>
                                </p:cTn>
                              </p:par>
                              <p:par>
                                <p:cTn id="47" presetID="10" presetClass="entr" presetSubtype="0" fill="hold" grpId="0" nodeType="withEffect">
                                  <p:stCondLst>
                                    <p:cond delay="128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80"/>
                                        <p:tgtEl>
                                          <p:spTgt spid="19"/>
                                        </p:tgtEl>
                                      </p:cBhvr>
                                    </p:animEffect>
                                  </p:childTnLst>
                                </p:cTn>
                              </p:par>
                              <p:par>
                                <p:cTn id="50" presetID="10" presetClass="entr" presetSubtype="0" fill="hold" grpId="0" nodeType="withEffect">
                                  <p:stCondLst>
                                    <p:cond delay="128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8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0" grpId="0" animBg="1"/>
    </p:bldLst>
  </p:timing>
</p:sld>
</file>

<file path=ppt/theme/theme1.xml><?xml version="1.0" encoding="utf-8"?>
<a:theme xmlns:a="http://schemas.openxmlformats.org/drawingml/2006/main" name="Skillture">
  <a:themeElements>
    <a:clrScheme name="Skillture">
      <a:dk1>
        <a:srgbClr val="000000"/>
      </a:dk1>
      <a:lt1>
        <a:srgbClr val="FFFFFF"/>
      </a:lt1>
      <a:dk2>
        <a:srgbClr val="0B1414"/>
      </a:dk2>
      <a:lt2>
        <a:srgbClr val="F2F7F7"/>
      </a:lt2>
      <a:accent1>
        <a:srgbClr val="0CCCCC"/>
      </a:accent1>
      <a:accent2>
        <a:srgbClr val="01A3A3"/>
      </a:accent2>
      <a:accent3>
        <a:srgbClr val="FF4D4D"/>
      </a:accent3>
      <a:accent4>
        <a:srgbClr val="017A7A"/>
      </a:accent4>
      <a:accent5>
        <a:srgbClr val="6E8282"/>
      </a:accent5>
      <a:accent6>
        <a:srgbClr val="122021"/>
      </a:accent6>
      <a:hlink>
        <a:srgbClr val="0CCCCC"/>
      </a:hlink>
      <a:folHlink>
        <a:srgbClr val="01A3A3"/>
      </a:folHlink>
    </a:clrScheme>
    <a:fontScheme name="Skillture">
      <a:majorFont>
        <a:latin typeface="Poppins Extra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Skillture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Degree Is Not Enough</dc:title>
  <dc:subject>PptxGenJS Presentation</dc:subject>
  <dc:creator>Skillture</dc:creator>
  <cp:lastModifiedBy>Skillture</cp:lastModifiedBy>
  <cp:revision>1</cp:revision>
  <dcterms:created xsi:type="dcterms:W3CDTF">2026-10-09T19:05:37Z</dcterms:created>
  <dcterms:modified xsi:type="dcterms:W3CDTF">2026-10-09T19:05:37Z</dcterms:modified>
</cp:coreProperties>
</file>